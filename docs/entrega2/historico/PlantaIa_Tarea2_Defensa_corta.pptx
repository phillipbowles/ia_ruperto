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4f18e7bc-81b5-b6ad-c6be-667270c85fe9}">
          <p14:sldIdLst>
            <p14:sldId id="256"/>
            <p14:sldId id="257"/>
          </p14:sldIdLst>
        </p14:section>
        <p14:section name="Datos y modelos" id="{c099ed1c-606a-d307-ce18-07cf3b758bb3}">
          <p14:sldIdLst>
            <p14:sldId id="258"/>
            <p14:sldId id="259"/>
            <p14:sldId id="260"/>
            <p14:sldId id="261"/>
          </p14:sldIdLst>
        </p14:section>
        <p14:section name="ESP32 y pruebas" id="{49becc65-4346-9106-1e96-8e37a9f25b29}">
          <p14:sldIdLst>
            <p14:sldId id="262"/>
            <p14:sldId id="263"/>
          </p14:sldIdLst>
        </p14:section>
        <p14:section name="Discusión" id="{055e7543-cb40-51ac-12ae-a51c1dd7398b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PlantaIa: un clasificador que corre en la ESP32 y muestra el estado de un lirio de paz con un semáforo de LEDs. Recorremos lo que pide la letra: datos, modelos, implementación en la placa y discusión.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ESP32 mide cada 5 minutos un lirio de paz con una sonda de humedad del suelo, un DHT11 (temperatura y humedad del aire) y un LDR (luz). Guarda la última hora en un buffer, calcula 7 features, predice con un árbol de decisión y prende un LED: verde saludable, amarillo estresada, rojo marchita. Es clasificación multiclase. La predicción se hace en la placa, así que no depende del WiFi.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Usamos sólo datos reales de la placa, el dataset de la Tarea 1. Son 1.357 filas, pero el número que importa son los episodios: cada vez que observamos la planta registramos la clase con un botón y las muestras siguientes heredan esa etiqueta. Hay 11 episodios, 4 de ellos dudosos. Limpiamos remuestreando a 5 minutos, sacando la primera hora tras cada arranque (la sonda tarda en estabilizarse) y las lecturas saturadas. Calculamos 7 features con una ventana de una hora; el mismo cálculo está en Python y en C++. Si preguntan por fugas de información: sacamos origen, episodio, calidad y hora antes de entrenar.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decisión más importante del trabajo. Como las muestras consecutivas son casi iguales, un split aleatorio mete filas del mismo episodio en entrenamiento y en prueba. Con split aleatorio el Random Forest da 0,943 de exactitud balanceada; separando por episodio cae a 0,135, peor que el azar. O sea, aprendía a reconocer el episodio, no el estado de la planta. Por eso todo se evalúa con folds agrupados por episodio. Si preguntan por qué F1 macro: las clases están desbalanceadas y nos importa rendir en las tres, sobre todo en marchita, que es el error más caro.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Comparamos tres baselines (clase mayoritaria y uno o dos umbrales sobre la sonda) contra siete modelos: regresión logística, árbol, Random Forest, Naive Bayes, k-NN, SVM y MLP. Todos entran en la memoria de la ESP32, así que lo que decide es el rendimiento. Con tan pocos episodios las barras de error son grandes y las diferencias quedan dentro del ruido; ningún modelo le gana con claridad al baseline de dos umbrales. Si preguntan por qué el árbol figura con 0,316 y después con 0,282: 0,316 es la búsqueda anidada de hiperparámetros; 0,282 es la configuración final fija que va a la placa.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Elegimos con un criterio fijado de antemano: primero que entre en la ESP32 (menos de 32 KB, menos de 1 ms, sin memoria dinámica), después que su F1 esté dentro de un desvío del mejor, y como desempate la interpretabilidad. El árbol usa sólo dos variables: si hace 10,25 °C o menos, marchita; si no, mira el suelo: por debajo de 1821,5 mV (suelo húmedo) saludable, por encima (suelo seco) estresada. Si preguntan por qué no los dos umbrales, que tienen mejor F1: la diferencia está dentro del ruido (el árbol gana en el 46 % de los bootstrap) y pedimos que el modelo combine el suelo con al menos una variable del aire. Si preguntan por qué sin luz: los modelos con luz aprendían 'oscuro → marchita' porque todas las marchitas se observaron de noche; con la planta sana del 22/10 marcaban marchita en el 76–83 % de las filas nocturnas. Esas dos decisiones las tomamos después de ver resultados y así lo decimos en el informe.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llevar el modelo a la placa, un script de Python reentrena el árbol y genera un header de C++, modelo_plantaia.h, con el árbol como tablas en flash. Predecir es recorrer el árbol desde la raíz: como mucho dos comparaciones. El ciclo cada 5 minutos es: leer sensores, actualizar el buffer de una hora, calcular las 7 features, predecir, prender el LED y enviar la predicción al backend. Si falta un dato, por ejemplo porque el DHT11 no responde, no predice y apaga los LEDs para no dar una indicación falsa. La predicción va antes del envío, así que funciona sin WiFi.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Probamos la inferencia de tres formas. Uno: 21 tests en la computadora verifican que el modelo en C da exactamente lo mismo que scikit-learn en 324 vectores. Dos: reprodujimos 150 muestras reales alrededor de un riego con el mismo código de la placa: antes del riego predice estresada y después pasa a saludable; cada inferencia tarda 0–1 µs. Tres: con 184 muestras nuevas del 22/10, con la planta sana, predijo saludable en todas, de día y de noche. Si preguntan: el tiempo está medido en host, no en la placa; medirlo en la ESP32 es una de las mejoras.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Sobre memoria y CPU: el árbol ocupa 81 bytes de un presupuesto de 32 KB, toda la inferencia suma 4,3 KB de flash y 192 bytes de RAM, y el firmware completo usa 73,4 % de flash y 14,6 % de RAM. Incluso el Random Forest entraba. Las limitaciones vienen de los datos: sólo 11 episodios, una sonda resistiva que deriva por corrosión (la misma clase marchita pasó de 2830 a 1760 mV entre septiembre y octubre) y una regla de frío apoyada en un solo episodio. Las mejoras apuntan ahí: más episodios y mejor etiquetados, una sonda estable, guardar las predicciones para evaluar en línea y medir la latencia en la propia placa.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Cerramos con tres ideas: el sistema funciona de punta a punta en la placa; evaluar por episodio es lo único honesto con estos datos; y el modelo es chico e interpretable, así que el próximo salto viene de juntar más episodios, no de cambiar de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74520"/>
            <a:ext cx="722376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017520"/>
            <a:ext cx="72237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931920"/>
            <a:ext cx="72237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31520" y="5257800"/>
            <a:ext cx="72237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86868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02412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10991088" y="429768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11228832" y="429768"/>
            <a:ext cx="164592" cy="164592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11466576" y="429768"/>
            <a:ext cx="164592" cy="164592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PlantaIa  ·  Tarea 2  ·  Inteligencia Artificial  ·  Universidad de Montevideo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F7A6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48640"/>
            <a:ext cx="100584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F7A6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 logo UM"/>
          <p:cNvSpPr/>
          <p:nvPr/>
        </p:nvSpPr>
        <p:spPr>
          <a:xfrm>
            <a:off x="731520" y="640080"/>
            <a:ext cx="233172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/>
        </p:spPr>
      </p:sp>
      <p:pic>
        <p:nvPicPr>
          <p:cNvPr id="3" name="Logo UM" descr="/home/claude/ppt/img/u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22376"/>
            <a:ext cx="2002536" cy="795528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1874520"/>
            <a:ext cx="7223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PlantaIa</a:t>
            </a:r>
            <a:endParaRPr lang="en-US" sz="6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301752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Clasificador del estado de la planta en la ESP32</a:t>
            </a:r>
            <a:endParaRPr lang="en-US" sz="24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731520" y="39319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Tarea 2 · Curso de Inteligencia Artificial · Facultad de Ingeniería · Defensa 22/10/2026</a:t>
            </a:r>
            <a:endParaRPr lang="en-US" sz="1600" dirty="0"/>
          </a:p>
        </p:txBody>
      </p:sp>
      <p:sp>
        <p:nvSpPr>
          <p:cNvPr id="7" name="Text 0"/>
          <p:cNvSpPr/>
          <p:nvPr>
            <p:ph idx="103" type="body" hasCustomPrompt="1"/>
          </p:nvPr>
        </p:nvSpPr>
        <p:spPr>
          <a:xfrm>
            <a:off x="731520" y="525780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Manuel Pérez  ·  Guillermo Storace  ·  Phillip Bowles</a:t>
            </a:r>
            <a:endParaRPr lang="en-US" sz="1600" dirty="0"/>
          </a:p>
        </p:txBody>
      </p:sp>
      <p:sp>
        <p:nvSpPr>
          <p:cNvPr id="8" name="Semáforo"/>
          <p:cNvSpPr/>
          <p:nvPr/>
        </p:nvSpPr>
        <p:spPr>
          <a:xfrm>
            <a:off x="8732520" y="822960"/>
            <a:ext cx="2514600" cy="5212080"/>
          </a:xfrm>
          <a:prstGeom prst="roundRect">
            <a:avLst>
              <a:gd name="adj" fmla="val 2909"/>
            </a:avLst>
          </a:prstGeom>
          <a:solidFill>
            <a:schemeClr val="tx1"/>
          </a:solidFill>
          <a:ln/>
        </p:spPr>
      </p:sp>
      <p:sp>
        <p:nvSpPr>
          <p:cNvPr id="9" name="LED saludable halo"/>
          <p:cNvSpPr/>
          <p:nvPr/>
        </p:nvSpPr>
        <p:spPr>
          <a:xfrm>
            <a:off x="9316822" y="1041502"/>
            <a:ext cx="1345997" cy="1345997"/>
          </a:xfrm>
          <a:prstGeom prst="ellipse">
            <a:avLst/>
          </a:prstGeom>
          <a:solidFill>
            <a:schemeClr val="accent1">
              <a:alpha val="28000"/>
            </a:schemeClr>
          </a:solidFill>
          <a:ln/>
        </p:spPr>
      </p:sp>
      <p:sp>
        <p:nvSpPr>
          <p:cNvPr id="10" name="LED saludable"/>
          <p:cNvSpPr txBox="1"/>
          <p:nvPr/>
        </p:nvSpPr>
        <p:spPr>
          <a:xfrm>
            <a:off x="9464040" y="1188720"/>
            <a:ext cx="1051560" cy="10515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1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8732520" y="23500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saludable</a:t>
            </a:r>
            <a:endParaRPr lang="en-US" sz="1500" dirty="0"/>
          </a:p>
        </p:txBody>
      </p:sp>
      <p:sp>
        <p:nvSpPr>
          <p:cNvPr id="12" name="LED estresada halo"/>
          <p:cNvSpPr/>
          <p:nvPr/>
        </p:nvSpPr>
        <p:spPr>
          <a:xfrm>
            <a:off x="9316822" y="2669134"/>
            <a:ext cx="1345997" cy="1345997"/>
          </a:xfrm>
          <a:prstGeom prst="ellipse">
            <a:avLst/>
          </a:prstGeom>
          <a:solidFill>
            <a:schemeClr val="accent2">
              <a:alpha val="28000"/>
            </a:schemeClr>
          </a:solidFill>
          <a:ln/>
        </p:spPr>
      </p:sp>
      <p:sp>
        <p:nvSpPr>
          <p:cNvPr id="13" name="LED estresada"/>
          <p:cNvSpPr txBox="1"/>
          <p:nvPr/>
        </p:nvSpPr>
        <p:spPr>
          <a:xfrm>
            <a:off x="9464040" y="2816352"/>
            <a:ext cx="1051560" cy="10515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2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8732520" y="397764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estresada</a:t>
            </a:r>
            <a:endParaRPr lang="en-US" sz="1500" dirty="0"/>
          </a:p>
        </p:txBody>
      </p:sp>
      <p:sp>
        <p:nvSpPr>
          <p:cNvPr id="15" name="LED marchita halo"/>
          <p:cNvSpPr/>
          <p:nvPr/>
        </p:nvSpPr>
        <p:spPr>
          <a:xfrm>
            <a:off x="9316822" y="4296766"/>
            <a:ext cx="1345997" cy="1345997"/>
          </a:xfrm>
          <a:prstGeom prst="ellipse">
            <a:avLst/>
          </a:prstGeom>
          <a:solidFill>
            <a:schemeClr val="accent3">
              <a:alpha val="28000"/>
            </a:schemeClr>
          </a:solidFill>
          <a:ln/>
        </p:spPr>
      </p:sp>
      <p:sp>
        <p:nvSpPr>
          <p:cNvPr id="16" name="LED marchita"/>
          <p:cNvSpPr txBox="1"/>
          <p:nvPr/>
        </p:nvSpPr>
        <p:spPr>
          <a:xfrm>
            <a:off x="9464040" y="4443984"/>
            <a:ext cx="1051560" cy="10515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3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8732520" y="560527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marchita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4"/>
                </a:solidFill>
              </a:rPr>
              <a:t>OBJETIVO Y SISTEMA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De los sensores al LED, cada 5 minutos</a:t>
            </a:r>
            <a:endParaRPr lang="en-US" sz="3600" dirty="0"/>
          </a:p>
        </p:txBody>
      </p:sp>
      <p:sp>
        <p:nvSpPr>
          <p:cNvPr id="4" name="Paso Sensores"/>
          <p:cNvSpPr/>
          <p:nvPr/>
        </p:nvSpPr>
        <p:spPr>
          <a:xfrm>
            <a:off x="548640" y="1645920"/>
            <a:ext cx="196596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5" name="Sensores círculo"/>
          <p:cNvSpPr/>
          <p:nvPr/>
        </p:nvSpPr>
        <p:spPr>
          <a:xfrm>
            <a:off x="1248156" y="1828800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Sensores 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4219" y="1964863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48716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Sensores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86207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Sonda de suelo, DHT11 y LDR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569464" y="2514600"/>
            <a:ext cx="201168" cy="237744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0" name="Paso Buffer de 1 h"/>
          <p:cNvSpPr/>
          <p:nvPr/>
        </p:nvSpPr>
        <p:spPr>
          <a:xfrm>
            <a:off x="2830068" y="1645920"/>
            <a:ext cx="196596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11" name="Buffer de 1 h círculo"/>
          <p:cNvSpPr/>
          <p:nvPr/>
        </p:nvSpPr>
        <p:spPr>
          <a:xfrm>
            <a:off x="3529584" y="1828800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Buffer de 1 h 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647" y="1964863"/>
            <a:ext cx="294803" cy="29480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21508" y="248716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Buffer de 1 h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2967228" y="286207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13 muestras en un buffer circular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850892" y="2514600"/>
            <a:ext cx="201168" cy="237744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6" name="Paso 7 features"/>
          <p:cNvSpPr/>
          <p:nvPr/>
        </p:nvSpPr>
        <p:spPr>
          <a:xfrm>
            <a:off x="5111496" y="1645920"/>
            <a:ext cx="196596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17" name="7 features círculo"/>
          <p:cNvSpPr/>
          <p:nvPr/>
        </p:nvSpPr>
        <p:spPr>
          <a:xfrm>
            <a:off x="5811012" y="1828800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8" name="7 features 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7075" y="1964863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02936" y="248716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7 features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5248656" y="286207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Medianas, delta de 1 h y VPD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7132320" y="2514600"/>
            <a:ext cx="201168" cy="237744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22" name="Paso Árbol de decisión"/>
          <p:cNvSpPr/>
          <p:nvPr/>
        </p:nvSpPr>
        <p:spPr>
          <a:xfrm>
            <a:off x="7392924" y="1645920"/>
            <a:ext cx="196596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23" name="Árbol de decisión círculo"/>
          <p:cNvSpPr/>
          <p:nvPr/>
        </p:nvSpPr>
        <p:spPr>
          <a:xfrm>
            <a:off x="8092440" y="1828800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4" name="Árbol de decisión i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8503" y="1964863"/>
            <a:ext cx="294803" cy="294803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484364" y="248716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Árbol de decisión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7530084" y="286207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81 B en flash, ≤ 2 comparaciones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9413748" y="2514600"/>
            <a:ext cx="201168" cy="237744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28" name="Paso LED + backend"/>
          <p:cNvSpPr/>
          <p:nvPr/>
        </p:nvSpPr>
        <p:spPr>
          <a:xfrm>
            <a:off x="9674352" y="1645920"/>
            <a:ext cx="196596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29" name="LED + backend círculo"/>
          <p:cNvSpPr/>
          <p:nvPr/>
        </p:nvSpPr>
        <p:spPr>
          <a:xfrm>
            <a:off x="10373868" y="1828800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0" name="LED + backend i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9931" y="1964863"/>
            <a:ext cx="294803" cy="294803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765792" y="248716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LED + backend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9811512" y="286207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Semáforo en GPIO y envío por WiFi</a:t>
            </a:r>
            <a:endParaRPr lang="en-US" sz="1400" dirty="0"/>
          </a:p>
        </p:txBody>
      </p:sp>
      <p:sp>
        <p:nvSpPr>
          <p:cNvPr id="33" name="Clase saludable"/>
          <p:cNvSpPr/>
          <p:nvPr/>
        </p:nvSpPr>
        <p:spPr>
          <a:xfrm>
            <a:off x="548640" y="3931920"/>
            <a:ext cx="3566160" cy="1325880"/>
          </a:xfrm>
          <a:prstGeom prst="roundRect">
            <a:avLst>
              <a:gd name="adj" fmla="val 5517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34" name="LED saludable halo"/>
          <p:cNvSpPr/>
          <p:nvPr/>
        </p:nvSpPr>
        <p:spPr>
          <a:xfrm>
            <a:off x="720547" y="4131259"/>
            <a:ext cx="936346" cy="936346"/>
          </a:xfrm>
          <a:prstGeom prst="ellipse">
            <a:avLst/>
          </a:prstGeom>
          <a:solidFill>
            <a:schemeClr val="accent1">
              <a:alpha val="28000"/>
            </a:schemeClr>
          </a:solidFill>
          <a:ln/>
        </p:spPr>
      </p:sp>
      <p:sp>
        <p:nvSpPr>
          <p:cNvPr id="35" name="LED saludable"/>
          <p:cNvSpPr txBox="1"/>
          <p:nvPr/>
        </p:nvSpPr>
        <p:spPr>
          <a:xfrm>
            <a:off x="822960" y="4233672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36" name="Text 29"/>
          <p:cNvSpPr txBox="1"/>
          <p:nvPr/>
        </p:nvSpPr>
        <p:spPr>
          <a:xfrm>
            <a:off x="1783080" y="41879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saludable</a:t>
            </a:r>
            <a:endParaRPr lang="en-US" sz="1800" dirty="0"/>
          </a:p>
        </p:txBody>
      </p:sp>
      <p:sp>
        <p:nvSpPr>
          <p:cNvPr id="37" name="Text 30"/>
          <p:cNvSpPr txBox="1"/>
          <p:nvPr/>
        </p:nvSpPr>
        <p:spPr>
          <a:xfrm>
            <a:off x="1783080" y="4572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Planta turgente → LED verde</a:t>
            </a:r>
            <a:endParaRPr lang="en-US" sz="1400" dirty="0"/>
          </a:p>
        </p:txBody>
      </p:sp>
      <p:sp>
        <p:nvSpPr>
          <p:cNvPr id="38" name="Clase estresada"/>
          <p:cNvSpPr/>
          <p:nvPr/>
        </p:nvSpPr>
        <p:spPr>
          <a:xfrm>
            <a:off x="4311396" y="3931920"/>
            <a:ext cx="3566160" cy="1325880"/>
          </a:xfrm>
          <a:prstGeom prst="roundRect">
            <a:avLst>
              <a:gd name="adj" fmla="val 5517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39" name="LED estresada halo"/>
          <p:cNvSpPr/>
          <p:nvPr/>
        </p:nvSpPr>
        <p:spPr>
          <a:xfrm>
            <a:off x="4483303" y="4131259"/>
            <a:ext cx="936346" cy="936346"/>
          </a:xfrm>
          <a:prstGeom prst="ellipse">
            <a:avLst/>
          </a:prstGeom>
          <a:solidFill>
            <a:schemeClr val="accent2">
              <a:alpha val="28000"/>
            </a:schemeClr>
          </a:solidFill>
          <a:ln/>
        </p:spPr>
      </p:sp>
      <p:sp>
        <p:nvSpPr>
          <p:cNvPr id="40" name="LED estresada"/>
          <p:cNvSpPr txBox="1"/>
          <p:nvPr/>
        </p:nvSpPr>
        <p:spPr>
          <a:xfrm>
            <a:off x="4585716" y="4233672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41" name="Text 34"/>
          <p:cNvSpPr txBox="1"/>
          <p:nvPr/>
        </p:nvSpPr>
        <p:spPr>
          <a:xfrm>
            <a:off x="5545836" y="41879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estresada</a:t>
            </a:r>
            <a:endParaRPr lang="en-US" sz="1800" dirty="0"/>
          </a:p>
        </p:txBody>
      </p:sp>
      <p:sp>
        <p:nvSpPr>
          <p:cNvPr id="42" name="Text 35"/>
          <p:cNvSpPr txBox="1"/>
          <p:nvPr/>
        </p:nvSpPr>
        <p:spPr>
          <a:xfrm>
            <a:off x="5545836" y="4572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Marchitez transitoria → LED amarillo</a:t>
            </a:r>
            <a:endParaRPr lang="en-US" sz="1400" dirty="0"/>
          </a:p>
        </p:txBody>
      </p:sp>
      <p:sp>
        <p:nvSpPr>
          <p:cNvPr id="43" name="Clase marchita"/>
          <p:cNvSpPr/>
          <p:nvPr/>
        </p:nvSpPr>
        <p:spPr>
          <a:xfrm>
            <a:off x="8074152" y="3931920"/>
            <a:ext cx="3566160" cy="1325880"/>
          </a:xfrm>
          <a:prstGeom prst="roundRect">
            <a:avLst>
              <a:gd name="adj" fmla="val 5517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44" name="LED marchita halo"/>
          <p:cNvSpPr/>
          <p:nvPr/>
        </p:nvSpPr>
        <p:spPr>
          <a:xfrm>
            <a:off x="8246059" y="4131259"/>
            <a:ext cx="936346" cy="936346"/>
          </a:xfrm>
          <a:prstGeom prst="ellipse">
            <a:avLst/>
          </a:prstGeom>
          <a:solidFill>
            <a:schemeClr val="accent3">
              <a:alpha val="28000"/>
            </a:schemeClr>
          </a:solidFill>
          <a:ln/>
        </p:spPr>
      </p:sp>
      <p:sp>
        <p:nvSpPr>
          <p:cNvPr id="45" name="LED marchita"/>
          <p:cNvSpPr txBox="1"/>
          <p:nvPr/>
        </p:nvSpPr>
        <p:spPr>
          <a:xfrm>
            <a:off x="8348472" y="4233672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46" name="Text 39"/>
          <p:cNvSpPr txBox="1"/>
          <p:nvPr/>
        </p:nvSpPr>
        <p:spPr>
          <a:xfrm>
            <a:off x="9308592" y="41879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marchita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9308592" y="4572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Marchitez franca → LED rojo</a:t>
            </a:r>
            <a:endParaRPr lang="en-US" sz="1400" dirty="0"/>
          </a:p>
        </p:txBody>
      </p:sp>
      <p:sp>
        <p:nvSpPr>
          <p:cNvPr id="48" name="Sin WiFi círculo"/>
          <p:cNvSpPr/>
          <p:nvPr/>
        </p:nvSpPr>
        <p:spPr>
          <a:xfrm>
            <a:off x="548640" y="5559552"/>
            <a:ext cx="438912" cy="438912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49" name="Sin WiFi icon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979" y="5664891"/>
            <a:ext cx="228234" cy="228234"/>
          </a:xfrm>
          <a:prstGeom prst="rect">
            <a:avLst/>
          </a:prstGeom>
        </p:spPr>
      </p:pic>
      <p:sp>
        <p:nvSpPr>
          <p:cNvPr id="50" name="Text 42"/>
          <p:cNvSpPr txBox="1"/>
          <p:nvPr/>
        </p:nvSpPr>
        <p:spPr>
          <a:xfrm>
            <a:off x="1143000" y="5559552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La inferencia corre en la placa: si se cae el WiFi, el LED se sigue actualizando.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F7A6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4"/>
                </a:solidFill>
              </a:rPr>
              <a:t>PREPARACIÓN DE LOS DATOS · DATASET DE LA TAREA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1.357 filas, pero sólo 11 episodios</a:t>
            </a:r>
            <a:endParaRPr lang="en-US" sz="3600" dirty="0"/>
          </a:p>
        </p:txBody>
      </p:sp>
      <p:sp>
        <p:nvSpPr>
          <p:cNvPr id="4" name="Dato 1.357"/>
          <p:cNvSpPr/>
          <p:nvPr/>
        </p:nvSpPr>
        <p:spPr>
          <a:xfrm>
            <a:off x="548640" y="1645920"/>
            <a:ext cx="35661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64592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1.357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2148840" y="164592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filas de 5 min medidas por la placa (Railway, al 21/10)</a:t>
            </a:r>
            <a:endParaRPr lang="en-US" sz="1400" dirty="0"/>
          </a:p>
        </p:txBody>
      </p:sp>
      <p:sp>
        <p:nvSpPr>
          <p:cNvPr id="7" name="Dato 11"/>
          <p:cNvSpPr/>
          <p:nvPr/>
        </p:nvSpPr>
        <p:spPr>
          <a:xfrm>
            <a:off x="4311396" y="1645920"/>
            <a:ext cx="35661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12564" y="164592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5911596" y="164592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episodios: 3 saludables, 5 estresados y 3 marchitos</a:t>
            </a:r>
            <a:endParaRPr lang="en-US" sz="1400" dirty="0"/>
          </a:p>
        </p:txBody>
      </p:sp>
      <p:sp>
        <p:nvSpPr>
          <p:cNvPr id="10" name="Dato 7"/>
          <p:cNvSpPr/>
          <p:nvPr/>
        </p:nvSpPr>
        <p:spPr>
          <a:xfrm>
            <a:off x="8074152" y="1645920"/>
            <a:ext cx="35661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75320" y="164592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9674352" y="164592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episodios al sacar los 4 dudosos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971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Cómo se prepararon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4747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Etiquetado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783080" y="347472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 botón registra la clase en cada observación; las muestras siguientes la heredan y forman un episodio.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3251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Limpieza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4325112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Remuestreo a 5 min con la mediana; se descarta la 1.ª hora tras cada arranque y las lecturas saturadas.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1755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Target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783080" y="5175504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Multiclase con códigos 1, 2 y 3; las filas sin etiqueta no se entrenan.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7972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Sin fugas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783080" y="579729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 excluyen columnas que delatan la etiqueta: origen, episodio, calidad y hora.</a:t>
            </a:r>
            <a:endParaRPr lang="en-US" sz="1400" dirty="0"/>
          </a:p>
        </p:txBody>
      </p:sp>
      <p:graphicFrame>
        <p:nvGraphicFramePr>
          <p:cNvPr id="4" name="Tabla featur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53912" y="3017520"/>
          <a:ext cx="548640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3154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Feature (ventana de 1 h)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Qué mide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suelo_mv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Humedad del suelo (mediana de 9)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suelo_delta_1h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Cambio del suelo en 1 h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temp_c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Temperatura del aire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hum_aire_pct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Humedad del aire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vpd_kpa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Déficit de presión de vapor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luz_mv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Luz (LDR, mediana de 9)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luz_media_1h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Luz media en 1 h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6153912" y="5989320"/>
            <a:ext cx="201168" cy="201168"/>
          </a:xfrm>
          <a:prstGeom prst="rect">
            <a:avLst/>
          </a:prstGeom>
          <a:solidFill>
            <a:schemeClr val="accent1">
              <a:alpha val="15000"/>
            </a:schemeClr>
          </a:solidFill>
          <a:ln w="9525">
            <a:solidFill>
              <a:srgbClr val="C9D6C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46520" y="5961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Las que usa el modelo final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F7A6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4"/>
                </a:solidFill>
              </a:rPr>
              <a:t>EVALUACIÓN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Partición por episodio, no aleatoria</a:t>
            </a:r>
            <a:endParaRPr lang="en-US" sz="3600" dirty="0"/>
          </a:p>
        </p:txBody>
      </p:sp>
      <p:sp>
        <p:nvSpPr>
          <p:cNvPr id="4" name="Split aleatorio"/>
          <p:cNvSpPr/>
          <p:nvPr/>
        </p:nvSpPr>
        <p:spPr>
          <a:xfrm>
            <a:off x="548640" y="1691640"/>
            <a:ext cx="269748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Split aleatorio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0,943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3375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exactitud balanceada, Random Forest</a:t>
            </a:r>
            <a:endParaRPr lang="en-US" sz="1400" dirty="0"/>
          </a:p>
        </p:txBody>
      </p:sp>
      <p:sp>
        <p:nvSpPr>
          <p:cNvPr id="8" name="Split por episodio"/>
          <p:cNvSpPr/>
          <p:nvPr/>
        </p:nvSpPr>
        <p:spPr>
          <a:xfrm>
            <a:off x="3429000" y="1691640"/>
            <a:ext cx="2697480" cy="2514600"/>
          </a:xfrm>
          <a:prstGeom prst="roundRect">
            <a:avLst>
              <a:gd name="adj" fmla="val 2909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57600" y="1874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Split por episodio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3317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0,135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33375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exactitud balanceada, Random Forest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43400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Azar = 0,33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754880"/>
            <a:ext cx="5532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tx2"/>
                </a:solidFill>
              </a:rPr>
              <a:t>Las muestras seguidas son casi iguales: con split aleatorio el modelo reconoce el episodio, no el estado de la planta.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1691640"/>
            <a:ext cx="5148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Cómo evaluamos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3317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2240280"/>
            <a:ext cx="4507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5 folds agrupados por episodio (StratifiedGroupKFold)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2461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3154680"/>
            <a:ext cx="4507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Hiperparámetros con búsqueda anidada, maximizando F1 macro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1605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0" y="4069080"/>
            <a:ext cx="4507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Incertidumbre con bootstrap por episodio (500 remuestras)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50749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4983480"/>
            <a:ext cx="4507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Métricas: F1 macro, exactitud balanceada y recall de marchita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F7A6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4"/>
                </a:solidFill>
              </a:rPr>
              <a:t>COMPARACIÓN DE MODELOS · 7 EPISODIOS, FUERA DE FOLD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Comparamos 3 baselines y 7 modelos</a:t>
            </a:r>
            <a:endParaRPr lang="en-US" sz="3600" dirty="0"/>
          </a:p>
        </p:txBody>
      </p:sp>
      <p:graphicFrame>
        <p:nvGraphicFramePr>
          <p:cNvPr id="6" name="Tabla comparació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Modelo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F1 macro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Exact. bal.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Flash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i="1" dirty="0">
                          <a:solidFill>
                            <a:schemeClr val="tx1"/>
                          </a:solidFill>
                        </a:rPr>
                        <a:t>Dos umbrales suelo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0,393 ± 0,191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0,416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 B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i="1" dirty="0">
                          <a:solidFill>
                            <a:schemeClr val="tx1"/>
                          </a:solidFill>
                        </a:rPr>
                        <a:t>Umbral único suelo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0,388 ± 0,188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0,412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51 B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Árbol de decisión *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0,316 ± 0,045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0,326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81 B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MLP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0,306 ± 0,135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0,395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260 B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Naive Bayes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0,297 ± 0,057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0,304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84 B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Random Forest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0,213 ± 0,026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0,227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11,6 KB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Regresión logística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0,142 ± 0,072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0,128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52 B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k-NN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0,110 ± 0,053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0,141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17,7 KB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SVM RBF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0,069 ± 0,035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0,119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17,5 KB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i="1" dirty="0">
                          <a:solidFill>
                            <a:schemeClr val="tx1"/>
                          </a:solidFill>
                        </a:rPr>
                        <a:t>Clase mayoritaria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0,110 ± 0,054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0,232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 B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77900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En cursiva: baselines. Flash estimada para la ESP32. * Búsqueda anidada; el árbol final fijo obtiene 0,282 ± 0,136.</a:t>
            </a:r>
            <a:endParaRPr lang="en-US" sz="1100" dirty="0"/>
          </a:p>
        </p:txBody>
      </p:sp>
      <p:sp>
        <p:nvSpPr>
          <p:cNvPr id="6" name="Todos entran en la ESP32"/>
          <p:cNvSpPr/>
          <p:nvPr/>
        </p:nvSpPr>
        <p:spPr>
          <a:xfrm>
            <a:off x="7818120" y="1645920"/>
            <a:ext cx="3822192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7" name="Todos entran en la ESP32 círculo"/>
          <p:cNvSpPr/>
          <p:nvPr/>
        </p:nvSpPr>
        <p:spPr>
          <a:xfrm>
            <a:off x="8046720" y="187452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Todos entran en la ESP32 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8394" y="2006194"/>
            <a:ext cx="285293" cy="28529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732520" y="1874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Todos entran en la ESP32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046720" y="256032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El más grande (k-NN, 17,7 KB) queda bajo el límite de 32 KB.</a:t>
            </a:r>
            <a:endParaRPr lang="en-US" sz="1500" dirty="0"/>
          </a:p>
        </p:txBody>
      </p:sp>
      <p:sp>
        <p:nvSpPr>
          <p:cNvPr id="11" name="Diferencias dentro del ruido"/>
          <p:cNvSpPr/>
          <p:nvPr/>
        </p:nvSpPr>
        <p:spPr>
          <a:xfrm>
            <a:off x="7818120" y="3767328"/>
            <a:ext cx="3822192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2" name="Diferencias dentro del ruido círculo"/>
          <p:cNvSpPr/>
          <p:nvPr/>
        </p:nvSpPr>
        <p:spPr>
          <a:xfrm>
            <a:off x="8046720" y="3995928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3" name="Diferencias dentro del ruido 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8394" y="4127602"/>
            <a:ext cx="285293" cy="28529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732520" y="39959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Diferencias dentro del ruido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8046720" y="4681728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Ningún modelo supera al baseline de dos umbrales (0,393); los desvíos van de 0,05 a 0,19.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F7A6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4"/>
                </a:solidFill>
              </a:rPr>
              <a:t>MODELO ELEGIDO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Elegimos un árbol de profundidad 2</a:t>
            </a:r>
            <a:endParaRPr lang="en-US" sz="3600" dirty="0"/>
          </a:p>
        </p:txBody>
      </p:sp>
      <p:sp>
        <p:nvSpPr>
          <p:cNvPr id="4" name="Panel árbol"/>
          <p:cNvSpPr/>
          <p:nvPr/>
        </p:nvSpPr>
        <p:spPr>
          <a:xfrm>
            <a:off x="548640" y="1645920"/>
            <a:ext cx="6949440" cy="4526280"/>
          </a:xfrm>
          <a:prstGeom prst="roundRect">
            <a:avLst>
              <a:gd name="adj" fmla="val 1616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 flipH="1">
            <a:off x="1828800" y="2578608"/>
            <a:ext cx="2194560" cy="804672"/>
          </a:xfrm>
          <a:prstGeom prst="line">
            <a:avLst/>
          </a:prstGeom>
          <a:noFill/>
          <a:ln w="25400">
            <a:solidFill>
              <a:srgbClr val="5F7A6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0" y="2578608"/>
            <a:ext cx="1508760" cy="621792"/>
          </a:xfrm>
          <a:prstGeom prst="line">
            <a:avLst/>
          </a:prstGeom>
          <a:noFill/>
          <a:ln w="25400">
            <a:solidFill>
              <a:srgbClr val="5F7A6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4343400" y="3950208"/>
            <a:ext cx="1188720" cy="758952"/>
          </a:xfrm>
          <a:prstGeom prst="line">
            <a:avLst/>
          </a:prstGeom>
          <a:noFill/>
          <a:ln w="25400">
            <a:solidFill>
              <a:srgbClr val="5F7A6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32120" y="3950208"/>
            <a:ext cx="1188720" cy="758952"/>
          </a:xfrm>
          <a:prstGeom prst="line">
            <a:avLst/>
          </a:prstGeom>
          <a:noFill/>
          <a:ln w="25400">
            <a:solidFill>
              <a:srgbClr val="5F7A6D"/>
            </a:solidFill>
            <a:prstDash val="solid"/>
          </a:ln>
        </p:spPr>
      </p:sp>
      <p:sp>
        <p:nvSpPr>
          <p:cNvPr id="9" name="Nodo raíz"/>
          <p:cNvSpPr txBox="1"/>
          <p:nvPr/>
        </p:nvSpPr>
        <p:spPr>
          <a:xfrm>
            <a:off x="2606040" y="1874520"/>
            <a:ext cx="2834640" cy="704088"/>
          </a:xfrm>
          <a:prstGeom prst="roundRect">
            <a:avLst>
              <a:gd name="adj" fmla="val 1039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temp_c ≤ 10,25 °C ?</a:t>
            </a:r>
            <a:endParaRPr lang="en-US" sz="1600" dirty="0"/>
          </a:p>
        </p:txBody>
      </p:sp>
      <p:sp>
        <p:nvSpPr>
          <p:cNvPr id="10" name="Nodo suelo"/>
          <p:cNvSpPr txBox="1"/>
          <p:nvPr/>
        </p:nvSpPr>
        <p:spPr>
          <a:xfrm>
            <a:off x="3977640" y="3246120"/>
            <a:ext cx="3108960" cy="704088"/>
          </a:xfrm>
          <a:prstGeom prst="roundRect">
            <a:avLst>
              <a:gd name="adj" fmla="val 1039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suelo_mv ≤ 1821,5 mV ?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2743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sí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670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no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4133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sí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4133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no</a:t>
            </a:r>
            <a:endParaRPr lang="en-US" sz="1300" dirty="0"/>
          </a:p>
        </p:txBody>
      </p:sp>
      <p:sp>
        <p:nvSpPr>
          <p:cNvPr id="15" name="Hoja marchita halo"/>
          <p:cNvSpPr/>
          <p:nvPr/>
        </p:nvSpPr>
        <p:spPr>
          <a:xfrm>
            <a:off x="1360627" y="3280867"/>
            <a:ext cx="936346" cy="936346"/>
          </a:xfrm>
          <a:prstGeom prst="ellipse">
            <a:avLst/>
          </a:prstGeom>
          <a:solidFill>
            <a:schemeClr val="accent3">
              <a:alpha val="28000"/>
            </a:schemeClr>
          </a:solidFill>
          <a:ln/>
        </p:spPr>
      </p:sp>
      <p:sp>
        <p:nvSpPr>
          <p:cNvPr id="16" name="Hoja marchita"/>
          <p:cNvSpPr txBox="1"/>
          <p:nvPr/>
        </p:nvSpPr>
        <p:spPr>
          <a:xfrm>
            <a:off x="1463040" y="338328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416966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marchita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frío</a:t>
            </a:r>
            <a:endParaRPr lang="en-US" sz="1500" dirty="0"/>
          </a:p>
        </p:txBody>
      </p:sp>
      <p:sp>
        <p:nvSpPr>
          <p:cNvPr id="18" name="Hoja saludable halo"/>
          <p:cNvSpPr/>
          <p:nvPr/>
        </p:nvSpPr>
        <p:spPr>
          <a:xfrm>
            <a:off x="3875227" y="4606747"/>
            <a:ext cx="936346" cy="936346"/>
          </a:xfrm>
          <a:prstGeom prst="ellipse">
            <a:avLst/>
          </a:prstGeom>
          <a:solidFill>
            <a:schemeClr val="accent1">
              <a:alpha val="28000"/>
            </a:schemeClr>
          </a:solidFill>
          <a:ln/>
        </p:spPr>
      </p:sp>
      <p:sp>
        <p:nvSpPr>
          <p:cNvPr id="19" name="Hoja saludable"/>
          <p:cNvSpPr txBox="1"/>
          <p:nvPr/>
        </p:nvSpPr>
        <p:spPr>
          <a:xfrm>
            <a:off x="3977640" y="47091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549554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saludable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suelo húmedo</a:t>
            </a:r>
            <a:endParaRPr lang="en-US" sz="1500" dirty="0"/>
          </a:p>
        </p:txBody>
      </p:sp>
      <p:sp>
        <p:nvSpPr>
          <p:cNvPr id="21" name="Hoja estresada halo"/>
          <p:cNvSpPr/>
          <p:nvPr/>
        </p:nvSpPr>
        <p:spPr>
          <a:xfrm>
            <a:off x="6252667" y="4606747"/>
            <a:ext cx="936346" cy="936346"/>
          </a:xfrm>
          <a:prstGeom prst="ellipse">
            <a:avLst/>
          </a:prstGeom>
          <a:solidFill>
            <a:schemeClr val="accent2">
              <a:alpha val="28000"/>
            </a:schemeClr>
          </a:solidFill>
          <a:ln/>
        </p:spPr>
      </p:sp>
      <p:sp>
        <p:nvSpPr>
          <p:cNvPr id="22" name="Hoja estresada"/>
          <p:cNvSpPr txBox="1"/>
          <p:nvPr/>
        </p:nvSpPr>
        <p:spPr>
          <a:xfrm>
            <a:off x="6355080" y="470916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852160" y="549554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estresada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suelo seco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818120" y="1645920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Por qué este modelo</a:t>
            </a:r>
            <a:endParaRPr lang="en-US" sz="1800" dirty="0"/>
          </a:p>
        </p:txBody>
      </p:sp>
      <p:sp>
        <p:nvSpPr>
          <p:cNvPr id="25" name="Check 1 círculo"/>
          <p:cNvSpPr/>
          <p:nvPr/>
        </p:nvSpPr>
        <p:spPr>
          <a:xfrm>
            <a:off x="7818120" y="224942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Check 1 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5902" y="2337206"/>
            <a:ext cx="190195" cy="190195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8321040" y="2194560"/>
            <a:ext cx="3319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Entra en la ESP32: 81 B y ≤ 2 comparaciones</a:t>
            </a:r>
            <a:endParaRPr lang="en-US" sz="1400" dirty="0"/>
          </a:p>
        </p:txBody>
      </p:sp>
      <p:sp>
        <p:nvSpPr>
          <p:cNvPr id="28" name="Check 2 círculo"/>
          <p:cNvSpPr/>
          <p:nvPr/>
        </p:nvSpPr>
        <p:spPr>
          <a:xfrm>
            <a:off x="7818120" y="287121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Check 2 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902" y="2958998"/>
            <a:ext cx="190195" cy="190195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8321040" y="2816352"/>
            <a:ext cx="3319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F1 dentro de un desvío del mejor modelo</a:t>
            </a:r>
            <a:endParaRPr lang="en-US" sz="1400" dirty="0"/>
          </a:p>
        </p:txBody>
      </p:sp>
      <p:sp>
        <p:nvSpPr>
          <p:cNvPr id="31" name="Check 3 círculo"/>
          <p:cNvSpPr/>
          <p:nvPr/>
        </p:nvSpPr>
        <p:spPr>
          <a:xfrm>
            <a:off x="7818120" y="349300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2" name="Check 3 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902" y="3580790"/>
            <a:ext cx="190195" cy="190195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8321040" y="3438144"/>
            <a:ext cx="3319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Interpretable: tres reglas que se explican solas</a:t>
            </a:r>
            <a:endParaRPr lang="en-US" sz="1400" dirty="0"/>
          </a:p>
        </p:txBody>
      </p:sp>
      <p:sp>
        <p:nvSpPr>
          <p:cNvPr id="34" name="Check 4 círculo"/>
          <p:cNvSpPr/>
          <p:nvPr/>
        </p:nvSpPr>
        <p:spPr>
          <a:xfrm>
            <a:off x="7818120" y="41148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5" name="Check 4 i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902" y="4202582"/>
            <a:ext cx="190195" cy="190195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8321040" y="4059936"/>
            <a:ext cx="3319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Usa suelo y temperatura; no usa la luz</a:t>
            </a:r>
            <a:endParaRPr lang="en-US" sz="1400" dirty="0"/>
          </a:p>
        </p:txBody>
      </p:sp>
      <p:sp>
        <p:nvSpPr>
          <p:cNvPr id="37" name="Métrica final"/>
          <p:cNvSpPr/>
          <p:nvPr/>
        </p:nvSpPr>
        <p:spPr>
          <a:xfrm>
            <a:off x="7818120" y="4754880"/>
            <a:ext cx="3822192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8001000" y="48463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0,282 ± 0,136</a:t>
            </a:r>
            <a:endParaRPr lang="en-US" sz="2800" dirty="0"/>
          </a:p>
        </p:txBody>
      </p:sp>
      <p:sp>
        <p:nvSpPr>
          <p:cNvPr id="39" name="Text 33"/>
          <p:cNvSpPr txBox="1"/>
          <p:nvPr/>
        </p:nvSpPr>
        <p:spPr>
          <a:xfrm>
            <a:off x="8001000" y="53949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F1 macro fuera de fold (sin dudosos). Le gana a dos umbrales en el 46 % de los bootstrap.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F7A6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4"/>
                </a:solidFill>
              </a:rPr>
              <a:t>IMPLEMENTACIÓN EN LA ESP32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Inferencia en tiempo real en la placa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394460" y="1938528"/>
            <a:ext cx="9400032" cy="0"/>
          </a:xfrm>
          <a:prstGeom prst="line">
            <a:avLst/>
          </a:prstGeom>
          <a:noFill/>
          <a:ln w="31750">
            <a:solidFill>
              <a:srgbClr val="C9D6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1852" y="1645920"/>
            <a:ext cx="585216" cy="585216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Leer sensores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981858" y="1645920"/>
            <a:ext cx="585216" cy="585216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428646" y="23317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Actualizar buffer (13)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61865" y="1645920"/>
            <a:ext cx="585216" cy="585216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308653" y="23317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Calcular 7 features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741871" y="1645920"/>
            <a:ext cx="585216" cy="585216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188659" y="23317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Predecir con el árbol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621878" y="1645920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068666" y="23317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Encender el LED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01884" y="1645920"/>
            <a:ext cx="585216" cy="585216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948672" y="23317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Enviar al backend</a:t>
            </a:r>
            <a:endParaRPr lang="en-US" sz="1400" dirty="0"/>
          </a:p>
        </p:txBody>
      </p:sp>
      <p:sp>
        <p:nvSpPr>
          <p:cNvPr id="17" name="Código árbol"/>
          <p:cNvSpPr/>
          <p:nvPr/>
        </p:nvSpPr>
        <p:spPr>
          <a:xfrm>
            <a:off x="548640" y="3154680"/>
            <a:ext cx="6766560" cy="3017520"/>
          </a:xfrm>
          <a:prstGeom prst="roundRect">
            <a:avLst>
              <a:gd name="adj" fmla="val 2424"/>
            </a:avLst>
          </a:prstGeom>
          <a:solidFill>
            <a:schemeClr val="tx1"/>
          </a:solidFill>
          <a:ln/>
        </p:spPr>
      </p:sp>
      <p:sp>
        <p:nvSpPr>
          <p:cNvPr id="18" name="Código árbol texto"/>
          <p:cNvSpPr txBox="1"/>
          <p:nvPr/>
        </p:nvSpPr>
        <p:spPr>
          <a:xfrm>
            <a:off x="777240" y="3319272"/>
            <a:ext cx="630936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modelo_plantaia.h: lo genera exportar_c.py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const int8_t FEAT[5]   = {2, -1, 0, -1, -1};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const float  UMBRAL[5] = {10.25f, 0, 1821.5f, 0, 0};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plantaia_predecir(const float x[7], float *proba)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int16_t i = 0;                          // raíz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(FEAT[i] &gt;= 0)                    // ≤ 2 vueltas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= (x[FEAT[i]] &lt;= UMBRAL[i]) ? IZQ[i] : DER[i];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argmax(HOJA[IZQ[i]]) + 1;  // 1 sal · 2 est · 3 mar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9" name="Actuador: semáforo LED"/>
          <p:cNvSpPr/>
          <p:nvPr/>
        </p:nvSpPr>
        <p:spPr>
          <a:xfrm>
            <a:off x="7589520" y="3154680"/>
            <a:ext cx="4050792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0" name="Actuador: semáforo LED círculo"/>
          <p:cNvSpPr/>
          <p:nvPr/>
        </p:nvSpPr>
        <p:spPr>
          <a:xfrm>
            <a:off x="7726680" y="3355848"/>
            <a:ext cx="512064" cy="512064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1" name="Actuador: semáforo LED 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9575" y="3478743"/>
            <a:ext cx="266273" cy="266273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8366760" y="3218688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Actuador: semáforo LED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8366760" y="3529584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GPIO 27 verde · 26 amarillo · 25 rojo, uno por clase.</a:t>
            </a:r>
            <a:endParaRPr lang="en-US" sz="1300" dirty="0"/>
          </a:p>
        </p:txBody>
      </p:sp>
      <p:sp>
        <p:nvSpPr>
          <p:cNvPr id="24" name="Falla segura"/>
          <p:cNvSpPr/>
          <p:nvPr/>
        </p:nvSpPr>
        <p:spPr>
          <a:xfrm>
            <a:off x="7589520" y="4187952"/>
            <a:ext cx="4050792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5" name="Falla segura círculo"/>
          <p:cNvSpPr/>
          <p:nvPr/>
        </p:nvSpPr>
        <p:spPr>
          <a:xfrm>
            <a:off x="7726680" y="4389120"/>
            <a:ext cx="512064" cy="512064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6" name="Falla segura 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575" y="4512015"/>
            <a:ext cx="266273" cy="266273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8366760" y="425196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Falla segura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8366760" y="4562856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 falta una feature no predice y apaga los tres LEDs: nunca indica por error que hay que regar.</a:t>
            </a:r>
            <a:endParaRPr lang="en-US" sz="1300" dirty="0"/>
          </a:p>
        </p:txBody>
      </p:sp>
      <p:sp>
        <p:nvSpPr>
          <p:cNvPr id="29" name="En flash, sin malloc"/>
          <p:cNvSpPr/>
          <p:nvPr/>
        </p:nvSpPr>
        <p:spPr>
          <a:xfrm>
            <a:off x="7589520" y="5221224"/>
            <a:ext cx="4050792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30" name="En flash, sin malloc círculo"/>
          <p:cNvSpPr/>
          <p:nvPr/>
        </p:nvSpPr>
        <p:spPr>
          <a:xfrm>
            <a:off x="7726680" y="5422392"/>
            <a:ext cx="512064" cy="512064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1" name="En flash, sin malloc 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9575" y="5545287"/>
            <a:ext cx="266273" cy="266273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8366760" y="528523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En flash, sin malloc</a:t>
            </a:r>
            <a:endParaRPr lang="en-US" sz="1500" dirty="0"/>
          </a:p>
        </p:txBody>
      </p:sp>
      <p:sp>
        <p:nvSpPr>
          <p:cNvPr id="33" name="Text 28"/>
          <p:cNvSpPr txBox="1"/>
          <p:nvPr/>
        </p:nvSpPr>
        <p:spPr>
          <a:xfrm>
            <a:off x="8366760" y="559612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Tablas static const en C++ puro: 81 B, sin recursión ni dependencias de Arduino.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F7A6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4"/>
                </a:solidFill>
              </a:rPr>
              <a:t>PRUEBAS DE INFERENCIA · LOGS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Antes y después de regar</a:t>
            </a:r>
            <a:endParaRPr lang="en-US" sz="3600" dirty="0"/>
          </a:p>
        </p:txBody>
      </p:sp>
      <p:sp>
        <p:nvSpPr>
          <p:cNvPr id="4" name="Log replay"/>
          <p:cNvSpPr/>
          <p:nvPr/>
        </p:nvSpPr>
        <p:spPr>
          <a:xfrm>
            <a:off x="548640" y="1600200"/>
            <a:ext cx="11091672" cy="1188720"/>
          </a:xfrm>
          <a:prstGeom prst="roundRect">
            <a:avLst>
              <a:gd name="adj" fmla="val 6154"/>
            </a:avLst>
          </a:prstGeom>
          <a:solidFill>
            <a:schemeClr val="tx1"/>
          </a:solidFill>
          <a:ln/>
        </p:spPr>
      </p:sp>
      <p:sp>
        <p:nvSpPr>
          <p:cNvPr id="5" name="Log replay texto"/>
          <p:cNvSpPr txBox="1"/>
          <p:nvPr/>
        </p:nvSpPr>
        <p:spPr>
          <a:xfrm>
            <a:off x="777240" y="1764792"/>
            <a:ext cx="106344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replay de 150 muestras reales alrededor de un riego, con el mismo código de la placa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[INF] n=100 warmup=0 x=[1936,0,20.2,45,1.30,1787,1071] -&gt; estresada p=[0.03,0.97,0.00] t_us=0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riego 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[INF] n=105 warmup=0 x=[1516,-420,20.6,53,1.14,1792,1522] -&gt; saludable p=[0.45,0.28,0.27] t_us=1</a:t>
            </a:r>
            <a:endParaRPr lang="en-US" sz="1200" dirty="0"/>
          </a:p>
        </p:txBody>
      </p:sp>
      <p:sp>
        <p:nvSpPr>
          <p:cNvPr id="6" name="Prueba 100 %"/>
          <p:cNvSpPr/>
          <p:nvPr/>
        </p:nvSpPr>
        <p:spPr>
          <a:xfrm>
            <a:off x="548640" y="3063240"/>
            <a:ext cx="39319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30632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100 %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2194560" y="3063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coincidencia del C con scikit-learn en 324 vectores (21 tests)</a:t>
            </a:r>
            <a:endParaRPr lang="en-US" sz="1300" dirty="0"/>
          </a:p>
        </p:txBody>
      </p:sp>
      <p:sp>
        <p:nvSpPr>
          <p:cNvPr id="9" name="Prueba 0–1 µs"/>
          <p:cNvSpPr/>
          <p:nvPr/>
        </p:nvSpPr>
        <p:spPr>
          <a:xfrm>
            <a:off x="548640" y="4087368"/>
            <a:ext cx="39319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3232" y="408736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0–1 µs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408736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por inferencia, medido en host durante el replay</a:t>
            </a:r>
            <a:endParaRPr lang="en-US" sz="1300" dirty="0"/>
          </a:p>
        </p:txBody>
      </p:sp>
      <p:sp>
        <p:nvSpPr>
          <p:cNvPr id="12" name="Prueba 184 / 184"/>
          <p:cNvSpPr/>
          <p:nvPr/>
        </p:nvSpPr>
        <p:spPr>
          <a:xfrm>
            <a:off x="548640" y="5111496"/>
            <a:ext cx="39319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3232" y="5111496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184 / 184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2194560" y="5111496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muestras nuevas del 22/10 (planta sana) → saludable, de día y de noche</a:t>
            </a:r>
            <a:endParaRPr lang="en-US" sz="1300" dirty="0"/>
          </a:p>
        </p:txBody>
      </p:sp>
      <p:pic>
        <p:nvPicPr>
          <p:cNvPr id="15" name="Figura datos nuevos" descr="/home/claude/ppt/img/prueba_railway_nuev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3108960"/>
            <a:ext cx="6885432" cy="164592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4754880" y="4828032"/>
            <a:ext cx="6885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Predicciones sobre las mediciones nuevas del 22/10: todas saludable (puntos verdes de abajo).</a:t>
            </a:r>
            <a:endParaRPr lang="en-US" sz="1100" dirty="0"/>
          </a:p>
        </p:txBody>
      </p:sp>
      <p:sp>
        <p:nvSpPr>
          <p:cNvPr id="17" name="Mensaje pruebas"/>
          <p:cNvSpPr/>
          <p:nvPr/>
        </p:nvSpPr>
        <p:spPr>
          <a:xfrm>
            <a:off x="4754880" y="5349240"/>
            <a:ext cx="6885432" cy="685800"/>
          </a:xfrm>
          <a:prstGeom prst="roundRect">
            <a:avLst>
              <a:gd name="adj" fmla="val 10667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937760" y="534924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Tras el riego, el suelo baja de ≈ 1936 a 1516 mV y el LED pasa de amarillo a verde.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F7A6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4"/>
                </a:solidFill>
              </a:rPr>
              <a:t>DISCUSIÓN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El límite son los datos, no el hardware</a:t>
            </a:r>
            <a:endParaRPr lang="en-US" sz="3600" dirty="0"/>
          </a:p>
        </p:txBody>
      </p:sp>
      <p:sp>
        <p:nvSpPr>
          <p:cNvPr id="4" name="Memoria y CPU"/>
          <p:cNvSpPr/>
          <p:nvPr/>
        </p:nvSpPr>
        <p:spPr>
          <a:xfrm>
            <a:off x="548640" y="1645920"/>
            <a:ext cx="3511296" cy="3657600"/>
          </a:xfrm>
          <a:prstGeom prst="roundRect">
            <a:avLst>
              <a:gd name="adj" fmla="val 2083"/>
            </a:avLst>
          </a:prstGeom>
          <a:solidFill>
            <a:schemeClr val="bg2"/>
          </a:solidFill>
          <a:ln/>
        </p:spPr>
      </p:sp>
      <p:sp>
        <p:nvSpPr>
          <p:cNvPr id="5" name="Memoria y CPU círculo"/>
          <p:cNvSpPr/>
          <p:nvPr/>
        </p:nvSpPr>
        <p:spPr>
          <a:xfrm>
            <a:off x="777240" y="1847088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Memoria y CPU 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978762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470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Memoria y CPU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06040"/>
            <a:ext cx="31089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Árbol: 81 B de un presupuesto de 32 KB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 inferencia suma 4,3 KB de flash y 192 B de RAM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Firmware: 73,4 % de flash y 14,6 % de RAM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Hasta el Random Forest (11,6 KB) cabía</a:t>
            </a:r>
            <a:endParaRPr lang="en-US" sz="1500" dirty="0"/>
          </a:p>
        </p:txBody>
      </p:sp>
      <p:sp>
        <p:nvSpPr>
          <p:cNvPr id="9" name="Limitaciones"/>
          <p:cNvSpPr/>
          <p:nvPr/>
        </p:nvSpPr>
        <p:spPr>
          <a:xfrm>
            <a:off x="4338828" y="1645920"/>
            <a:ext cx="3511296" cy="3657600"/>
          </a:xfrm>
          <a:prstGeom prst="roundRect">
            <a:avLst>
              <a:gd name="adj" fmla="val 2083"/>
            </a:avLst>
          </a:prstGeom>
          <a:solidFill>
            <a:schemeClr val="bg2"/>
          </a:solidFill>
          <a:ln/>
        </p:spPr>
      </p:sp>
      <p:sp>
        <p:nvSpPr>
          <p:cNvPr id="10" name="Limitaciones círculo"/>
          <p:cNvSpPr/>
          <p:nvPr/>
        </p:nvSpPr>
        <p:spPr>
          <a:xfrm>
            <a:off x="4567428" y="1847088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Limitaciones 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102" y="1978762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53228" y="18470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567428" y="2606040"/>
            <a:ext cx="31089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Sólo 11 episodios: rendimiento bajo e incierto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 sonda deriva por corrosión: el umbral de 1821 mV puede cambiar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“Frío → marchita” se apoya en un solo episodio</a:t>
            </a:r>
            <a:endParaRPr lang="en-US" sz="1500" dirty="0"/>
          </a:p>
        </p:txBody>
      </p:sp>
      <p:sp>
        <p:nvSpPr>
          <p:cNvPr id="14" name="Mejoras"/>
          <p:cNvSpPr/>
          <p:nvPr/>
        </p:nvSpPr>
        <p:spPr>
          <a:xfrm>
            <a:off x="8129016" y="1645920"/>
            <a:ext cx="3511296" cy="3657600"/>
          </a:xfrm>
          <a:prstGeom prst="roundRect">
            <a:avLst>
              <a:gd name="adj" fmla="val 2083"/>
            </a:avLst>
          </a:prstGeom>
          <a:solidFill>
            <a:schemeClr val="bg2"/>
          </a:solidFill>
          <a:ln/>
        </p:spPr>
      </p:sp>
      <p:sp>
        <p:nvSpPr>
          <p:cNvPr id="15" name="Mejoras círculo"/>
          <p:cNvSpPr/>
          <p:nvPr/>
        </p:nvSpPr>
        <p:spPr>
          <a:xfrm>
            <a:off x="8357616" y="1847088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Mejoras 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9290" y="1978762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43416" y="18470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Mejoras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357616" y="2606040"/>
            <a:ext cx="31089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Más episodios, de día y en distintos estados (fotos de la ESP32-CAM)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Sonda capacitiva o calibración semanal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Guardar predicciones y medir latencia en la placa</a:t>
            </a:r>
            <a:endParaRPr lang="en-US" sz="1500" dirty="0"/>
          </a:p>
        </p:txBody>
      </p:sp>
      <p:sp>
        <p:nvSpPr>
          <p:cNvPr id="19" name="Síntesis"/>
          <p:cNvSpPr/>
          <p:nvPr/>
        </p:nvSpPr>
        <p:spPr>
          <a:xfrm>
            <a:off x="548640" y="5532120"/>
            <a:ext cx="1109167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22960" y="5532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Próximo paso: más episodios independientes y una sonda estable; a la ESP32 le sobra memoria.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F7A6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486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Conclusiones</a:t>
            </a:r>
            <a:endParaRPr lang="en-US" sz="4000" dirty="0"/>
          </a:p>
        </p:txBody>
      </p:sp>
      <p:sp>
        <p:nvSpPr>
          <p:cNvPr id="3" name="Conclusión 1 halo"/>
          <p:cNvSpPr/>
          <p:nvPr/>
        </p:nvSpPr>
        <p:spPr>
          <a:xfrm>
            <a:off x="743590" y="1813438"/>
            <a:ext cx="725668" cy="725668"/>
          </a:xfrm>
          <a:prstGeom prst="ellipse">
            <a:avLst/>
          </a:prstGeom>
          <a:solidFill>
            <a:schemeClr val="accent1">
              <a:alpha val="28000"/>
            </a:schemeClr>
          </a:solidFill>
          <a:ln/>
        </p:spPr>
      </p:sp>
      <p:sp>
        <p:nvSpPr>
          <p:cNvPr id="4" name="Conclusión 1"/>
          <p:cNvSpPr txBox="1"/>
          <p:nvPr/>
        </p:nvSpPr>
        <p:spPr>
          <a:xfrm>
            <a:off x="822960" y="189280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783080"/>
            <a:ext cx="9509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Sistema completo de sensores a LED: la ESP32 predice cada 5 minutos, sin depender del WiFi.</a:t>
            </a:r>
            <a:endParaRPr lang="en-US" sz="2200" dirty="0"/>
          </a:p>
        </p:txBody>
      </p:sp>
      <p:sp>
        <p:nvSpPr>
          <p:cNvPr id="6" name="Conclusión 2 halo"/>
          <p:cNvSpPr/>
          <p:nvPr/>
        </p:nvSpPr>
        <p:spPr>
          <a:xfrm>
            <a:off x="743590" y="3002158"/>
            <a:ext cx="725668" cy="725668"/>
          </a:xfrm>
          <a:prstGeom prst="ellipse">
            <a:avLst/>
          </a:prstGeom>
          <a:solidFill>
            <a:schemeClr val="accent2">
              <a:alpha val="28000"/>
            </a:schemeClr>
          </a:solidFill>
          <a:ln/>
        </p:spPr>
      </p:sp>
      <p:sp>
        <p:nvSpPr>
          <p:cNvPr id="7" name="Conclusión 2"/>
          <p:cNvSpPr txBox="1"/>
          <p:nvPr/>
        </p:nvSpPr>
        <p:spPr>
          <a:xfrm>
            <a:off x="822960" y="3081528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2971800"/>
            <a:ext cx="9509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1.357 filas no son 1.357 ejemplos: separar por episodio bajó el Random Forest de 0,943 a 0,135.</a:t>
            </a:r>
            <a:endParaRPr lang="en-US" sz="2200" dirty="0"/>
          </a:p>
        </p:txBody>
      </p:sp>
      <p:sp>
        <p:nvSpPr>
          <p:cNvPr id="9" name="Conclusión 3 halo"/>
          <p:cNvSpPr/>
          <p:nvPr/>
        </p:nvSpPr>
        <p:spPr>
          <a:xfrm>
            <a:off x="743590" y="4190878"/>
            <a:ext cx="725668" cy="725668"/>
          </a:xfrm>
          <a:prstGeom prst="ellipse">
            <a:avLst/>
          </a:prstGeom>
          <a:solidFill>
            <a:schemeClr val="accent3">
              <a:alpha val="28000"/>
            </a:schemeClr>
          </a:solidFill>
          <a:ln/>
        </p:spPr>
      </p:sp>
      <p:sp>
        <p:nvSpPr>
          <p:cNvPr id="10" name="Conclusión 3"/>
          <p:cNvSpPr txBox="1"/>
          <p:nvPr/>
        </p:nvSpPr>
        <p:spPr>
          <a:xfrm>
            <a:off x="822960" y="4270248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4160520"/>
            <a:ext cx="9509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Árbol de 81 B, interpretable y sin luz: hoy el límite son los datos, no el hardware.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4864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 ¿Preguntas?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ntaIa">
  <a:themeElements>
    <a:clrScheme name="PlantaIa">
      <a:dk1>
        <a:srgbClr val="1A2620"/>
      </a:dk1>
      <a:lt1>
        <a:srgbClr val="FFFFFF"/>
      </a:lt1>
      <a:dk2>
        <a:srgbClr val="17402E"/>
      </a:dk2>
      <a:lt2>
        <a:srgbClr val="EEF4F0"/>
      </a:lt2>
      <a:accent1>
        <a:srgbClr val="2E8B57"/>
      </a:accent1>
      <a:accent2>
        <a:srgbClr val="D99A12"/>
      </a:accent2>
      <a:accent3>
        <a:srgbClr val="C0392B"/>
      </a:accent3>
      <a:accent4>
        <a:srgbClr val="0E6B5C"/>
      </a:accent4>
      <a:accent5>
        <a:srgbClr val="5F7A6D"/>
      </a:accent5>
      <a:accent6>
        <a:srgbClr val="C9D6CF"/>
      </a:accent6>
      <a:hlink>
        <a:srgbClr val="0E6B5C"/>
      </a:hlink>
      <a:folHlink>
        <a:srgbClr val="5F7A6D"/>
      </a:folHlink>
    </a:clrScheme>
    <a:fontScheme name="PlantaI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Universidad de Montevideo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PlantaIa — Tarea 2: clasificador del estado de la planta en la ESP32</dc:title>
  <dc:subject>Curso de Inteligencia Artificial — Defensa Tarea 2</dc:subject>
  <dc:creator>Manuel Pérez, Guillermo Storace, Phillip Bowles</dc:creator>
  <cp:lastModifiedBy>Manuel Pérez, Guillermo Storace, Phillip Bowles</cp:lastModifiedBy>
  <cp:revision>1</cp:revision>
  <dcterms:created xsi:type="dcterms:W3CDTF">2026-10-22T20:29:32Z</dcterms:created>
  <dcterms:modified xsi:type="dcterms:W3CDTF">2026-10-22T20:29:32Z</dcterms:modified>
</cp:coreProperties>
</file>