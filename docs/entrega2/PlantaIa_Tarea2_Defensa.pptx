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b3cfad3-1bac-d9b3-ffba-ce5f60cd7a13}">
          <p14:sldIdLst>
            <p14:sldId id="256"/>
            <p14:sldId id="257"/>
            <p14:sldId id="258"/>
          </p14:sldIdLst>
        </p14:section>
        <p14:section name="Preparación de los datos" id="{a882200e-19cb-f3a1-be70-9e6e0aaabe42}">
          <p14:sldIdLst>
            <p14:sldId id="259"/>
            <p14:sldId id="260"/>
            <p14:sldId id="261"/>
          </p14:sldIdLst>
        </p14:section>
        <p14:section name="Entrenamiento y evaluación" id="{5006f5b5-12d8-314b-ae5a-38bae2993d7f}">
          <p14:sldIdLst>
            <p14:sldId id="262"/>
            <p14:sldId id="263"/>
            <p14:sldId id="264"/>
            <p14:sldId id="265"/>
            <p14:sldId id="266"/>
            <p14:sldId id="267"/>
          </p14:sldIdLst>
        </p14:section>
        <p14:section name="Implementación en la ESP32" id="{8dae9ab5-843e-e0ee-62c2-7aa497fa50ba}">
          <p14:sldIdLst>
            <p14:sldId id="268"/>
            <p14:sldId id="269"/>
            <p14:sldId id="270"/>
          </p14:sldIdLst>
        </p14:section>
        <p14:section name="Discusión" id="{8086fdc4-42f0-67d9-97a4-90d817eaae97}">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PlantaIa: un clasificador que corre en la ESP32 y muestra el estado de un lirio de paz con un semáforo de LEDs (verde saludable, amarillo estresada, rojo marchita). Integrantes: Manuel Pérez, Guillermo Storace y Phillip Bowles.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sigue las cuatro actividades específicas de la letra: preparación de datos, entrenamiento y evaluación, implementación en la ESP32 y discusión. Cada columna indica en qué diapositivas está cubierto cada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ESP32 mide cada 5 minutos un lirio de paz con una sonda resistiva de humedad del sustrato, un DHT11 (temperatura y humedad del aire) y un LDR (luz). El clasificador es multiclase con tres códigos: 1 saludable, 2 estresada y 3 marchita, cada uno asociado a un LED. Cada 5 minutos la placa lee, calcula features, predice y prende el LED; la inferencia no depende del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sólo mediciones reales de la placa (dataset de la Tarea 1), con un snapshot de la base de Railway al 21/10, remuestreadas a 5 minutos con la mediana. Cada observación manual se registra con un botón y las muestras siguientes heredan la etiqueta: eso forma un episodio. Hay 1.357 filas pero sólo 11 episodios (3 saludables, 5 estresados, 3 marchitos); 4 son dudosos, así que reportamos métricas con y sin ellos (7 episodios). Descartamos la primera hora tras cada arranque, las lecturas saturadas y las filas sin episodio; los días sin datos quedaron como huecos, sin interpolar.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Auditamos la base antes de modelar y encontramos tres problemas. Primero, la sonda resistiva deriva por corrosión: la misma clase marchita pasó de unos 2830 mV en septiembre a 1760 mV en octubre. Segundo, todas las observaciones de marchitez fueron de noche (V de Cramér 0,47 entre franja horaria y clase), así que un modelo puede aprender la hora en vez del estado. Tercero, el 19/10 tuvimos dos etiquetas distintas con lecturas casi iguales. Todo esto limita la generalización.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Calculamos siete features con la lectura actual y un buffer de 13 muestras (una hora): suelo, su cambio en la última hora, temperatura, humedad del aire, VPD, luz y luz media. Las medianas de suelo y luz usan 9 lecturas para filtrar ruido. El mismo cálculo está en Python y en C++ y verificamos que coincidan. El target se codifica 1, 2, 3; las filas sin etiqueta no se entrenan y sacamos las columnas que filtran la etiqueta (origen, episodio, calidad y hora). En verde, las dos features que termina usando el modelo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decisión metodológica más importante. Las muestras consecutivas son casi iguales, así que un split aleatorio pone filas del mismo episodio en train y test. Con split aleatorio el Random Forest da 0,943 de exactitud balanceada; separando por episodio cae a 0,135, por debajo del azar (0,33): reconocía el episodio, no el estado. Por eso usamos StratifiedGroupKFold con 5 folds por episodio, búsqueda anidada de hiperparámetros, agregamos las predicciones fuera de fold y estimamos la incertidumbre con bootstrap por episodio. La métrica clave es F1 macro, más exactitud balanceada y recall de marchita.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tres baselines (clase mayoritaria y uno o dos umbrales sobre la sonda) y siete candidatos: regresión logística, árbol, Random Forest, Naive Bayes, k-NN, SVM RBF y MLP. La tabla es sin los cuatro episodios dudosos. El mejor resultado es el baseline de dos umbrales con F1 macro 0,393, pero los desvíos bootstrap van de 0,05 a 0,19: las diferencias están dentro del ruido. Con los 11 episodios todos quedan por debajo del azar. Las columnas de flash y tiempo son estimaciones para la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cruza rendimiento con costo en la placa. El eje x es la flash estimada en escala logarítmica y la línea punteada es el presupuesto de 32 KB. Todos los modelos entran, incluso k-NN y SVM; lo que los separa es el rendimiento, y las barras de error se superponen. En gris los baselines y en rojo el árbol elegido; la franja marca lo que está dentro de un desvío del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se fijó antes de ver resultados: primero factibilidad en la ESP32 (menos de 32 KB, menos de 1 ms, sin memoria dinámica), después F1 macro dentro de un desvío del mejor y como desempate la interpretabilidad. Después de ver resultados agregamos dos restricciones, y lo decimos explícitamente: el modelo tenía que combinar suelo con al menos una variable del aire, y excluimos la luz, porque los modelos con luz aprendían 'oscuro igual a marchita' y con la planta sana marcaban marchita en el 76 a 83 % de las filas nocturnas. Ninguna configuración sin luz cumplió la condición de seguridad y no la forzamos.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un árbol de profundidad 2 que usa sólo suelo_mv y temp_c. Las reglas completas: si la temperatura es menor o igual a 10,25 °C, marchita (rojo); si no, y el suelo está por debajo de 1821,5 mV, saludable (verde); si está por encima, estresada (amarillo). Fuera de fold y sin dudosos obtiene F1 macro 0,282 ± 0,136. Es menor que los dos umbrales (0,393), pero la diferencia está dentro de la incertidumbre: el árbol gana en el 46 % de las remuestras bootstrap. Cuidado: la regla de frío se apoya en un solo episodio.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la distribución de la sonda por clase con el corte del árbol: separa razonablemente saludable de estresada. El problema son las marchitas: aparecen en tres zonas distintas por la deriva de la sonda, mezcladas con las otras clases, así que ningún umbral sobre el suelo las separa. En la matriz de confusión fuera de fold se ve el costo de la regla de frío: 204 filas estresadas se predicen marchita, del episodio 6 del 16/09. El modelo tampoco identifica la marchitez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script de Python reentrena el modelo elegido y genera modelo_plantaia.h: el árbol queda como cuatro tablas static const que van a la flash. Es C++ sin dependencias de Arduino ni memoria dinámica, así que también lo podemos compilar y testear en la computadora. La predicción recorre el árbol desde la raíz en forma iterativa, sin recursión: como mucho dos comparaciones. Devuelve la clase como argmax de las probabilidades de la hoja (1 saludable, 2 estresada, 3 marchita). Todo el modelo ocupa 81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queda la lógica en el microcontrolador. Cada 5 minutos la placa lee los sensores, actualiza un buffer circular de 13 muestras, calcula las siete features, predice con el árbol, prende el LED correspondiente y envía clase, probabilidad y versión del modelo al backend. Si falta alguna feature, por ejemplo porque el DHT11 no responde, no predice y apaga los tres LEDs, para no indicar por error que hay que regar. Como la predicción va antes del POST, el LED se actualiza aunque no haya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la inferencia en tres niveles. Primero, 21 tests de host con pio test -e native: las features de Python y C++ coinciden, y el modelo en C coincide al 100 % con scikit-learn en 324 vectores, incluidos los umbrales. Segundo, un replay de 150 muestras reales alrededor de un riego con el mismo código de la placa: antes del riego predice estresada con el suelo en 1880–1940 mV y después pasa a saludable; la inferencia tarda 0–1 µs en host. Tercero, con 184 muestras nuevas del 22/10, con la planta sana, predijo saludable en el 100 %, de día y de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las restricciones del entorno: el árbol ocupa 81 bytes de un presupuesto de 32 KB y toma como mucho dos comparaciones. Toda la inferencia, con el cálculo de features y el buffer, agrega 4,3 KB de flash y 192 bytes de RAM. El firmware 2.0.0 completo usa 73,4 % de la flash y 14,6 % de la RAM. Incluso el Random Forest, con 11,6 KB y unos 16 µs, entraba. Conclusión: con la ESP32 sobra hardware; lo que limita hoy son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el modelo es interpretable, ocupa 81 bytes, no usa la luz como sustituto de la hora del observador, incorpora la temperatura y funciona sin WiFi; además se regenera con un script cuando reentrenamos. Limitaciones, siendo honestos: el rendimiento es bajo e incierto por tener 11 episodios, no identifica la marchitez de octubre, la regla de frío se apoya en un solo episodio, el umbral de 1821 mV depende de una sonda que sigue derivando, y algunas decisiones se tomaron después de ver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una próxima versión: lo más importante son más episodios independientes, con observaciones de día y de distintos estados, idealmente con fotos de la ESP32-CAM para etiquetar mejor. También calibrar la sonda semanalmente o pasar a una sonda capacitiva para frenar la deriva, guardar las predicciones en el backend para evaluar el modelo en línea y medir la latencia directamente en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integramos el sistema de punta a punta, de los sensores al LED, con inferencia local cada 5 minutos. La lección principal es metodológica: 1.357 filas no son 1.357 ejemplos independientes, y evaluar por episodio es lo único honesto. El modelo final es un árbol de 81 bytes, interpretable, que no usa la luz; el cuello de botella hoy son los datos, no el hardware. Gracias, quedamos abiertos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722376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017520"/>
            <a:ext cx="7223760" cy="82296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
        <p:nvSpPr>
          <p:cNvPr id="4" name="Text 0"/>
          <p:cNvSpPr/>
          <p:nvPr>
            <p:ph idx="102" type="body" hasCustomPrompt="1"/>
          </p:nvPr>
        </p:nvSpPr>
        <p:spPr>
          <a:xfrm>
            <a:off x="731520" y="3931920"/>
            <a:ext cx="7223760" cy="68580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5" name="Text 0"/>
          <p:cNvSpPr/>
          <p:nvPr>
            <p:ph idx="103" type="body" hasCustomPrompt="1"/>
          </p:nvPr>
        </p:nvSpPr>
        <p:spPr>
          <a:xfrm>
            <a:off x="731520" y="5257800"/>
            <a:ext cx="7223760" cy="6858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rtlCol="0"/>
          <a:lstStyle>
            <a:lvl1pPr indent="0" marL="0">
              <a:buNone/>
              <a:defRPr lang="en-US" sz="1200" b="1"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10991088" y="429768"/>
            <a:ext cx="164592" cy="164592"/>
          </a:xfrm>
          <a:prstGeom prst="ellipse">
            <a:avLst/>
          </a:prstGeom>
          <a:solidFill>
            <a:schemeClr val="accent1"/>
          </a:solidFill>
          <a:ln/>
        </p:spPr>
        <p:txBody>
          <a:bodyPr wrap="square" rtlCol="0" anchor="ctr"/>
          <a:lstStyle/>
          <a:p>
            <a:pPr indent="0" marL="0">
              <a:buNone/>
            </a:pPr>
            <a:endParaRPr lang="en-US" dirty="0"/>
          </a:p>
        </p:txBody>
      </p:sp>
      <p:sp>
        <p:nvSpPr>
          <p:cNvPr id="5" name="Text 1"/>
          <p:cNvSpPr/>
          <p:nvPr/>
        </p:nvSpPr>
        <p:spPr>
          <a:xfrm>
            <a:off x="11228832" y="429768"/>
            <a:ext cx="164592" cy="164592"/>
          </a:xfrm>
          <a:prstGeom prst="ellipse">
            <a:avLst/>
          </a:prstGeom>
          <a:solidFill>
            <a:schemeClr val="accent2"/>
          </a:solidFill>
          <a:ln/>
        </p:spPr>
        <p:txBody>
          <a:bodyPr wrap="square" rtlCol="0" anchor="ctr"/>
          <a:lstStyle/>
          <a:p>
            <a:pPr indent="0" marL="0">
              <a:buNone/>
            </a:pPr>
            <a:endParaRPr lang="en-US" dirty="0"/>
          </a:p>
        </p:txBody>
      </p:sp>
      <p:sp>
        <p:nvSpPr>
          <p:cNvPr id="6" name="Text 2"/>
          <p:cNvSpPr/>
          <p:nvPr/>
        </p:nvSpPr>
        <p:spPr>
          <a:xfrm>
            <a:off x="11466576" y="429768"/>
            <a:ext cx="164592" cy="164592"/>
          </a:xfrm>
          <a:prstGeom prst="ellipse">
            <a:avLst/>
          </a:prstGeom>
          <a:solidFill>
            <a:schemeClr val="accent3"/>
          </a:solidFill>
          <a:ln/>
        </p:spPr>
        <p:txBody>
          <a:bodyPr wrap="square" rtlCol="0" anchor="ctr"/>
          <a:lstStyle/>
          <a:p>
            <a:pPr indent="0" marL="0">
              <a:buNone/>
            </a:pPr>
            <a:endParaRPr lang="en-US" dirty="0"/>
          </a:p>
        </p:txBody>
      </p:sp>
      <p:sp>
        <p:nvSpPr>
          <p:cNvPr id="7" name="Text 3"/>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PlantaIa  ·  Tarea 2  ·  Inteligencia Artificial  ·  Universidad de Montevideo</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058400" cy="868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 logo UM"/>
          <p:cNvSpPr/>
          <p:nvPr/>
        </p:nvSpPr>
        <p:spPr>
          <a:xfrm>
            <a:off x="731520" y="640080"/>
            <a:ext cx="2331720" cy="960120"/>
          </a:xfrm>
          <a:prstGeom prst="roundRect">
            <a:avLst>
              <a:gd name="adj" fmla="val 7619"/>
            </a:avLst>
          </a:prstGeom>
          <a:solidFill>
            <a:schemeClr val="bg1"/>
          </a:solidFill>
          <a:ln/>
        </p:spPr>
      </p:sp>
      <p:pic>
        <p:nvPicPr>
          <p:cNvPr id="3" name="Logo UM" descr="/home/claude/ppt/img/um_logo.png">    </p:cNvPr>
          <p:cNvPicPr>
            <a:picLocks noChangeAspect="1"/>
          </p:cNvPicPr>
          <p:nvPr/>
        </p:nvPicPr>
        <p:blipFill>
          <a:blip r:embed="rId1"/>
          <a:stretch>
            <a:fillRect/>
          </a:stretch>
        </p:blipFill>
        <p:spPr>
          <a:xfrm>
            <a:off x="896112" y="722376"/>
            <a:ext cx="2002536" cy="795528"/>
          </a:xfrm>
          <a:prstGeom prst="rect">
            <a:avLst/>
          </a:prstGeom>
        </p:spPr>
      </p:pic>
      <p:sp>
        <p:nvSpPr>
          <p:cNvPr id="4" name="Text 0"/>
          <p:cNvSpPr/>
          <p:nvPr>
            <p:ph idx="100" type="title" hasCustomPrompt="1"/>
          </p:nvPr>
        </p:nvSpPr>
        <p:spPr>
          <a:xfrm>
            <a:off x="731520" y="1874520"/>
            <a:ext cx="7223760" cy="1051560"/>
          </a:xfrm>
          <a:prstGeom prst="rect">
            <a:avLst/>
          </a:prstGeom>
          <a:noFill/>
          <a:ln/>
        </p:spPr>
        <p:txBody>
          <a:bodyPr wrap="square" lIns="0" tIns="0" rIns="0" bIns="0" rtlCol="0" anchor="b"/>
          <a:lstStyle/>
          <a:p>
            <a:pPr algn="l" indent="0" marL="0">
              <a:buNone/>
            </a:pPr>
            <a:r>
              <a:rPr lang="en-US" sz="6000" b="1" dirty="0">
                <a:solidFill>
                  <a:schemeClr val="bg1"/>
                </a:solidFill>
              </a:rPr>
              <a:t>PlantaIa</a:t>
            </a:r>
            <a:endParaRPr lang="en-US" sz="6000" dirty="0"/>
          </a:p>
        </p:txBody>
      </p:sp>
      <p:sp>
        <p:nvSpPr>
          <p:cNvPr id="5" name="Text 0"/>
          <p:cNvSpPr/>
          <p:nvPr>
            <p:ph idx="101" type="body" hasCustomPrompt="1"/>
          </p:nvPr>
        </p:nvSpPr>
        <p:spPr>
          <a:xfrm>
            <a:off x="731520" y="3017520"/>
            <a:ext cx="7223760" cy="822960"/>
          </a:xfrm>
          <a:prstGeom prst="rect">
            <a:avLst/>
          </a:prstGeom>
          <a:noFill/>
          <a:ln/>
        </p:spPr>
        <p:txBody>
          <a:bodyPr wrap="square" lIns="0" tIns="0" rIns="0" bIns="0" rtlCol="0" anchor="t"/>
          <a:lstStyle/>
          <a:p>
            <a:pPr indent="0" marL="0">
              <a:buNone/>
            </a:pPr>
            <a:r>
              <a:rPr lang="en-US" sz="2400" dirty="0">
                <a:solidFill>
                  <a:schemeClr val="bg2"/>
                </a:solidFill>
              </a:rPr>
              <a:t>Clasificador del estado de la planta en la ESP32</a:t>
            </a:r>
            <a:endParaRPr lang="en-US" sz="2400" dirty="0"/>
          </a:p>
        </p:txBody>
      </p:sp>
      <p:sp>
        <p:nvSpPr>
          <p:cNvPr id="6" name="Text 0"/>
          <p:cNvSpPr/>
          <p:nvPr>
            <p:ph idx="102" type="body" hasCustomPrompt="1"/>
          </p:nvPr>
        </p:nvSpPr>
        <p:spPr>
          <a:xfrm>
            <a:off x="731520" y="3931920"/>
            <a:ext cx="7223760" cy="685800"/>
          </a:xfrm>
          <a:prstGeom prst="rect">
            <a:avLst/>
          </a:prstGeom>
          <a:noFill/>
          <a:ln/>
        </p:spPr>
        <p:txBody>
          <a:bodyPr wrap="square" lIns="0" tIns="0" rIns="0" bIns="0" rtlCol="0" anchor="t"/>
          <a:lstStyle/>
          <a:p>
            <a:pPr indent="0" marL="0">
              <a:buNone/>
            </a:pPr>
            <a:r>
              <a:rPr lang="en-US" sz="1600" dirty="0">
                <a:solidFill>
                  <a:schemeClr val="accent6"/>
                </a:solidFill>
              </a:rPr>
              <a:t>Tarea 2 · Curso de Inteligencia Artificial · Facultad de Ingeniería · Defensa 22/10/2026</a:t>
            </a:r>
            <a:endParaRPr lang="en-US" sz="1600" dirty="0"/>
          </a:p>
        </p:txBody>
      </p:sp>
      <p:sp>
        <p:nvSpPr>
          <p:cNvPr id="7" name="Text 0"/>
          <p:cNvSpPr/>
          <p:nvPr>
            <p:ph idx="103" type="body" hasCustomPrompt="1"/>
          </p:nvPr>
        </p:nvSpPr>
        <p:spPr>
          <a:xfrm>
            <a:off x="731520" y="5257800"/>
            <a:ext cx="7223760" cy="685800"/>
          </a:xfrm>
          <a:prstGeom prst="rect">
            <a:avLst/>
          </a:prstGeom>
          <a:noFill/>
          <a:ln/>
        </p:spPr>
        <p:txBody>
          <a:bodyPr wrap="square" lIns="0" tIns="0" rIns="0" bIns="0" rtlCol="0" anchor="t"/>
          <a:lstStyle/>
          <a:p>
            <a:pPr indent="0" marL="0">
              <a:buNone/>
            </a:pPr>
            <a:r>
              <a:rPr lang="en-US" sz="1600" b="1" dirty="0">
                <a:solidFill>
                  <a:schemeClr val="bg1"/>
                </a:solidFill>
              </a:rPr>
              <a:t>Manuel Pérez  ·  Guillermo Storace  ·  Phillip Bowles</a:t>
            </a:r>
            <a:endParaRPr lang="en-US" sz="1600" dirty="0"/>
          </a:p>
        </p:txBody>
      </p:sp>
      <p:sp>
        <p:nvSpPr>
          <p:cNvPr id="8" name="Semáforo"/>
          <p:cNvSpPr/>
          <p:nvPr/>
        </p:nvSpPr>
        <p:spPr>
          <a:xfrm>
            <a:off x="8732520" y="822960"/>
            <a:ext cx="2514600" cy="5212080"/>
          </a:xfrm>
          <a:prstGeom prst="roundRect">
            <a:avLst>
              <a:gd name="adj" fmla="val 2909"/>
            </a:avLst>
          </a:prstGeom>
          <a:solidFill>
            <a:schemeClr val="tx1"/>
          </a:solidFill>
          <a:ln/>
        </p:spPr>
      </p:sp>
      <p:sp>
        <p:nvSpPr>
          <p:cNvPr id="9" name="LED saludable halo"/>
          <p:cNvSpPr/>
          <p:nvPr/>
        </p:nvSpPr>
        <p:spPr>
          <a:xfrm>
            <a:off x="9316822" y="1041502"/>
            <a:ext cx="1345997" cy="1345997"/>
          </a:xfrm>
          <a:prstGeom prst="ellipse">
            <a:avLst/>
          </a:prstGeom>
          <a:solidFill>
            <a:schemeClr val="accent1">
              <a:alpha val="28000"/>
            </a:schemeClr>
          </a:solidFill>
          <a:ln/>
        </p:spPr>
      </p:sp>
      <p:sp>
        <p:nvSpPr>
          <p:cNvPr id="10" name="LED saludable"/>
          <p:cNvSpPr txBox="1"/>
          <p:nvPr/>
        </p:nvSpPr>
        <p:spPr>
          <a:xfrm>
            <a:off x="9464040" y="1188720"/>
            <a:ext cx="1051560" cy="105156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11" name="Text 8"/>
          <p:cNvSpPr txBox="1"/>
          <p:nvPr/>
        </p:nvSpPr>
        <p:spPr>
          <a:xfrm>
            <a:off x="8732520" y="2350008"/>
            <a:ext cx="2514600" cy="292608"/>
          </a:xfrm>
          <a:prstGeom prst="rect">
            <a:avLst/>
          </a:prstGeom>
          <a:noFill/>
          <a:ln/>
        </p:spPr>
        <p:txBody>
          <a:bodyPr wrap="square" lIns="0" tIns="0" rIns="0" bIns="0" rtlCol="0" anchor="ctr"/>
          <a:lstStyle/>
          <a:p>
            <a:pPr algn="ctr" indent="0" marL="0">
              <a:buNone/>
            </a:pPr>
            <a:r>
              <a:rPr lang="en-US" sz="1500" dirty="0">
                <a:solidFill>
                  <a:schemeClr val="bg1"/>
                </a:solidFill>
              </a:rPr>
              <a:t>saludable</a:t>
            </a:r>
            <a:endParaRPr lang="en-US" sz="1500" dirty="0"/>
          </a:p>
        </p:txBody>
      </p:sp>
      <p:sp>
        <p:nvSpPr>
          <p:cNvPr id="12" name="LED estresada halo"/>
          <p:cNvSpPr/>
          <p:nvPr/>
        </p:nvSpPr>
        <p:spPr>
          <a:xfrm>
            <a:off x="9316822" y="2669134"/>
            <a:ext cx="1345997" cy="1345997"/>
          </a:xfrm>
          <a:prstGeom prst="ellipse">
            <a:avLst/>
          </a:prstGeom>
          <a:solidFill>
            <a:schemeClr val="accent2">
              <a:alpha val="28000"/>
            </a:schemeClr>
          </a:solidFill>
          <a:ln/>
        </p:spPr>
      </p:sp>
      <p:sp>
        <p:nvSpPr>
          <p:cNvPr id="13" name="LED estresada"/>
          <p:cNvSpPr txBox="1"/>
          <p:nvPr/>
        </p:nvSpPr>
        <p:spPr>
          <a:xfrm>
            <a:off x="9464040" y="2816352"/>
            <a:ext cx="1051560" cy="1051560"/>
          </a:xfrm>
          <a:prstGeom prst="ellipse">
            <a:avLst/>
          </a:prstGeom>
          <a:solidFill>
            <a:schemeClr val="accent2"/>
          </a:solid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4" name="Text 11"/>
          <p:cNvSpPr txBox="1"/>
          <p:nvPr/>
        </p:nvSpPr>
        <p:spPr>
          <a:xfrm>
            <a:off x="8732520" y="3977640"/>
            <a:ext cx="2514600" cy="292608"/>
          </a:xfrm>
          <a:prstGeom prst="rect">
            <a:avLst/>
          </a:prstGeom>
          <a:noFill/>
          <a:ln/>
        </p:spPr>
        <p:txBody>
          <a:bodyPr wrap="square" lIns="0" tIns="0" rIns="0" bIns="0" rtlCol="0" anchor="ctr"/>
          <a:lstStyle/>
          <a:p>
            <a:pPr algn="ctr" indent="0" marL="0">
              <a:buNone/>
            </a:pPr>
            <a:r>
              <a:rPr lang="en-US" sz="1500" dirty="0">
                <a:solidFill>
                  <a:schemeClr val="bg1"/>
                </a:solidFill>
              </a:rPr>
              <a:t>estresada</a:t>
            </a:r>
            <a:endParaRPr lang="en-US" sz="1500" dirty="0"/>
          </a:p>
        </p:txBody>
      </p:sp>
      <p:sp>
        <p:nvSpPr>
          <p:cNvPr id="15" name="LED marchita halo"/>
          <p:cNvSpPr/>
          <p:nvPr/>
        </p:nvSpPr>
        <p:spPr>
          <a:xfrm>
            <a:off x="9316822" y="4296766"/>
            <a:ext cx="1345997" cy="1345997"/>
          </a:xfrm>
          <a:prstGeom prst="ellipse">
            <a:avLst/>
          </a:prstGeom>
          <a:solidFill>
            <a:schemeClr val="accent3">
              <a:alpha val="28000"/>
            </a:schemeClr>
          </a:solidFill>
          <a:ln/>
        </p:spPr>
      </p:sp>
      <p:sp>
        <p:nvSpPr>
          <p:cNvPr id="16" name="LED marchita"/>
          <p:cNvSpPr txBox="1"/>
          <p:nvPr/>
        </p:nvSpPr>
        <p:spPr>
          <a:xfrm>
            <a:off x="9464040" y="4443984"/>
            <a:ext cx="1051560" cy="1051560"/>
          </a:xfrm>
          <a:prstGeom prst="ellipse">
            <a:avLst/>
          </a:prstGeom>
          <a:solidFill>
            <a:schemeClr val="accent3"/>
          </a:solid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7" name="Text 14"/>
          <p:cNvSpPr txBox="1"/>
          <p:nvPr/>
        </p:nvSpPr>
        <p:spPr>
          <a:xfrm>
            <a:off x="8732520" y="5605272"/>
            <a:ext cx="2514600" cy="292608"/>
          </a:xfrm>
          <a:prstGeom prst="rect">
            <a:avLst/>
          </a:prstGeom>
          <a:noFill/>
          <a:ln/>
        </p:spPr>
        <p:txBody>
          <a:bodyPr wrap="square" lIns="0" tIns="0" rIns="0" bIns="0" rtlCol="0" anchor="ctr"/>
          <a:lstStyle/>
          <a:p>
            <a:pPr algn="ctr" indent="0" marL="0">
              <a:buNone/>
            </a:pPr>
            <a:r>
              <a:rPr lang="en-US" sz="1500" dirty="0">
                <a:solidFill>
                  <a:schemeClr val="bg1"/>
                </a:solidFill>
              </a:rPr>
              <a:t>marchita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LETRA DE LA TAREA 2</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Qué pide la letra y dónde está</a:t>
            </a:r>
            <a:endParaRPr lang="en-US" sz="3600" dirty="0"/>
          </a:p>
        </p:txBody>
      </p:sp>
      <p:sp>
        <p:nvSpPr>
          <p:cNvPr id="4" name="Columna Preparación de los datos"/>
          <p:cNvSpPr/>
          <p:nvPr/>
        </p:nvSpPr>
        <p:spPr>
          <a:xfrm>
            <a:off x="548640" y="1645920"/>
            <a:ext cx="2560320" cy="4526280"/>
          </a:xfrm>
          <a:prstGeom prst="roundRect">
            <a:avLst>
              <a:gd name="adj" fmla="val 2857"/>
            </a:avLst>
          </a:prstGeom>
          <a:solidFill>
            <a:schemeClr val="bg2"/>
          </a:solidFill>
          <a:ln/>
        </p:spPr>
      </p:sp>
      <p:sp>
        <p:nvSpPr>
          <p:cNvPr id="5" name="Preparación de los datos círculo"/>
          <p:cNvSpPr/>
          <p:nvPr/>
        </p:nvSpPr>
        <p:spPr>
          <a:xfrm>
            <a:off x="749808" y="1847088"/>
            <a:ext cx="603504" cy="603504"/>
          </a:xfrm>
          <a:prstGeom prst="ellipse">
            <a:avLst/>
          </a:prstGeom>
          <a:solidFill>
            <a:schemeClr val="tx2"/>
          </a:solidFill>
          <a:ln/>
        </p:spPr>
      </p:sp>
      <p:pic>
        <p:nvPicPr>
          <p:cNvPr id="6" name="Preparación de los datos icono" descr="preencoded.png">    </p:cNvPr>
          <p:cNvPicPr>
            <a:picLocks noChangeAspect="1"/>
          </p:cNvPicPr>
          <p:nvPr/>
        </p:nvPicPr>
        <p:blipFill>
          <a:blip r:embed="rId1"/>
          <a:stretch>
            <a:fillRect/>
          </a:stretch>
        </p:blipFill>
        <p:spPr>
          <a:xfrm>
            <a:off x="894649" y="1991929"/>
            <a:ext cx="313822" cy="313822"/>
          </a:xfrm>
          <a:prstGeom prst="rect">
            <a:avLst/>
          </a:prstGeom>
        </p:spPr>
      </p:pic>
      <p:sp>
        <p:nvSpPr>
          <p:cNvPr id="7" name="Text 4"/>
          <p:cNvSpPr txBox="1"/>
          <p:nvPr/>
        </p:nvSpPr>
        <p:spPr>
          <a:xfrm>
            <a:off x="749808" y="2578608"/>
            <a:ext cx="2157984" cy="65836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Preparación de los datos</a:t>
            </a:r>
            <a:endParaRPr lang="en-US" sz="1800" dirty="0"/>
          </a:p>
        </p:txBody>
      </p:sp>
      <p:sp>
        <p:nvSpPr>
          <p:cNvPr id="8" name="Text 5"/>
          <p:cNvSpPr txBox="1"/>
          <p:nvPr/>
        </p:nvSpPr>
        <p:spPr>
          <a:xfrm>
            <a:off x="749808" y="3337560"/>
            <a:ext cx="2194560" cy="22402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Usar el dataset de la Tarea 1</a:t>
            </a:r>
            <a:endParaRPr lang="en-US" sz="1400" dirty="0"/>
          </a:p>
          <a:p>
            <a:pPr marL="203200" indent="-203200">
              <a:spcAft>
                <a:spcPts val="500"/>
              </a:spcAft>
              <a:buSzPct val="100000"/>
              <a:buChar char="•"/>
            </a:pPr>
            <a:r>
              <a:rPr lang="en-US" sz="1400" dirty="0">
                <a:solidFill>
                  <a:schemeClr val="tx1"/>
                </a:solidFill>
              </a:rPr>
              <a:t>Limpiar y transformar (feature engineering)</a:t>
            </a:r>
            <a:endParaRPr lang="en-US" sz="1400" dirty="0"/>
          </a:p>
          <a:p>
            <a:pPr marL="203200" indent="-203200">
              <a:spcAft>
                <a:spcPts val="500"/>
              </a:spcAft>
              <a:buSzPct val="100000"/>
              <a:buChar char="•"/>
            </a:pPr>
            <a:r>
              <a:rPr lang="en-US" sz="1400" dirty="0">
                <a:solidFill>
                  <a:schemeClr val="tx1"/>
                </a:solidFill>
              </a:rPr>
              <a:t>Codificar el target multiclase</a:t>
            </a:r>
            <a:endParaRPr lang="en-US" sz="1400" dirty="0"/>
          </a:p>
        </p:txBody>
      </p:sp>
      <p:sp>
        <p:nvSpPr>
          <p:cNvPr id="9" name="Text 6"/>
          <p:cNvSpPr txBox="1"/>
          <p:nvPr/>
        </p:nvSpPr>
        <p:spPr>
          <a:xfrm>
            <a:off x="749808" y="5696712"/>
            <a:ext cx="2157984" cy="292608"/>
          </a:xfrm>
          <a:prstGeom prst="rect">
            <a:avLst/>
          </a:prstGeom>
          <a:noFill/>
          <a:ln/>
        </p:spPr>
        <p:txBody>
          <a:bodyPr wrap="square" lIns="0" tIns="0" rIns="0" bIns="0" rtlCol="0" anchor="ctr"/>
          <a:lstStyle/>
          <a:p>
            <a:pPr indent="0" marL="0">
              <a:buNone/>
            </a:pPr>
            <a:r>
              <a:rPr lang="en-US" sz="1300" b="1" dirty="0">
                <a:solidFill>
                  <a:schemeClr val="accent4"/>
                </a:solidFill>
              </a:rPr>
              <a:t>Diapositivas 3–6</a:t>
            </a:r>
            <a:endParaRPr lang="en-US" sz="1300" dirty="0"/>
          </a:p>
        </p:txBody>
      </p:sp>
      <p:sp>
        <p:nvSpPr>
          <p:cNvPr id="10" name="Columna Entrenamiento y evaluación"/>
          <p:cNvSpPr/>
          <p:nvPr/>
        </p:nvSpPr>
        <p:spPr>
          <a:xfrm>
            <a:off x="3392424" y="1645920"/>
            <a:ext cx="2560320" cy="4526280"/>
          </a:xfrm>
          <a:prstGeom prst="roundRect">
            <a:avLst>
              <a:gd name="adj" fmla="val 2857"/>
            </a:avLst>
          </a:prstGeom>
          <a:solidFill>
            <a:schemeClr val="bg2"/>
          </a:solidFill>
          <a:ln/>
        </p:spPr>
      </p:sp>
      <p:sp>
        <p:nvSpPr>
          <p:cNvPr id="11" name="Entrenamiento y evaluación círculo"/>
          <p:cNvSpPr/>
          <p:nvPr/>
        </p:nvSpPr>
        <p:spPr>
          <a:xfrm>
            <a:off x="3593592" y="1847088"/>
            <a:ext cx="603504" cy="603504"/>
          </a:xfrm>
          <a:prstGeom prst="ellipse">
            <a:avLst/>
          </a:prstGeom>
          <a:solidFill>
            <a:schemeClr val="tx2"/>
          </a:solidFill>
          <a:ln/>
        </p:spPr>
      </p:sp>
      <p:pic>
        <p:nvPicPr>
          <p:cNvPr id="12" name="Entrenamiento y evaluación icono" descr="preencoded.png">    </p:cNvPr>
          <p:cNvPicPr>
            <a:picLocks noChangeAspect="1"/>
          </p:cNvPicPr>
          <p:nvPr/>
        </p:nvPicPr>
        <p:blipFill>
          <a:blip r:embed="rId2"/>
          <a:stretch>
            <a:fillRect/>
          </a:stretch>
        </p:blipFill>
        <p:spPr>
          <a:xfrm>
            <a:off x="3738433" y="1991929"/>
            <a:ext cx="313822" cy="313822"/>
          </a:xfrm>
          <a:prstGeom prst="rect">
            <a:avLst/>
          </a:prstGeom>
        </p:spPr>
      </p:pic>
      <p:sp>
        <p:nvSpPr>
          <p:cNvPr id="13" name="Text 9"/>
          <p:cNvSpPr txBox="1"/>
          <p:nvPr/>
        </p:nvSpPr>
        <p:spPr>
          <a:xfrm>
            <a:off x="3593592" y="2578608"/>
            <a:ext cx="2157984" cy="65836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Entrenamiento y evaluación</a:t>
            </a:r>
            <a:endParaRPr lang="en-US" sz="1800" dirty="0"/>
          </a:p>
        </p:txBody>
      </p:sp>
      <p:sp>
        <p:nvSpPr>
          <p:cNvPr id="14" name="Text 10"/>
          <p:cNvSpPr txBox="1"/>
          <p:nvPr/>
        </p:nvSpPr>
        <p:spPr>
          <a:xfrm>
            <a:off x="3593592" y="3337560"/>
            <a:ext cx="2194560" cy="22402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Implementar clasificadores</a:t>
            </a:r>
            <a:endParaRPr lang="en-US" sz="1400" dirty="0"/>
          </a:p>
          <a:p>
            <a:pPr marL="203200" indent="-203200">
              <a:spcAft>
                <a:spcPts val="500"/>
              </a:spcAft>
              <a:buSzPct val="100000"/>
              <a:buChar char="•"/>
            </a:pPr>
            <a:r>
              <a:rPr lang="en-US" sz="1400" dirty="0">
                <a:solidFill>
                  <a:schemeClr val="tx1"/>
                </a:solidFill>
              </a:rPr>
              <a:t>Comparar con métricas del curso</a:t>
            </a:r>
            <a:endParaRPr lang="en-US" sz="1400" dirty="0"/>
          </a:p>
          <a:p>
            <a:pPr marL="203200" indent="-203200">
              <a:spcAft>
                <a:spcPts val="500"/>
              </a:spcAft>
              <a:buSzPct val="100000"/>
              <a:buChar char="•"/>
            </a:pPr>
            <a:r>
              <a:rPr lang="en-US" sz="1400" dirty="0">
                <a:solidFill>
                  <a:schemeClr val="tx1"/>
                </a:solidFill>
              </a:rPr>
              <a:t>Visualizar resultados</a:t>
            </a:r>
            <a:endParaRPr lang="en-US" sz="1400" dirty="0"/>
          </a:p>
          <a:p>
            <a:pPr marL="203200" indent="-203200">
              <a:spcAft>
                <a:spcPts val="500"/>
              </a:spcAft>
              <a:buSzPct val="100000"/>
              <a:buChar char="•"/>
            </a:pPr>
            <a:r>
              <a:rPr lang="en-US" sz="1400" dirty="0">
                <a:solidFill>
                  <a:schemeClr val="tx1"/>
                </a:solidFill>
              </a:rPr>
              <a:t>Justificar por rendimiento y factibilidad en la ESP32</a:t>
            </a:r>
            <a:endParaRPr lang="en-US" sz="1400" dirty="0"/>
          </a:p>
        </p:txBody>
      </p:sp>
      <p:sp>
        <p:nvSpPr>
          <p:cNvPr id="15" name="Text 11"/>
          <p:cNvSpPr txBox="1"/>
          <p:nvPr/>
        </p:nvSpPr>
        <p:spPr>
          <a:xfrm>
            <a:off x="3593592" y="5696712"/>
            <a:ext cx="2157984" cy="292608"/>
          </a:xfrm>
          <a:prstGeom prst="rect">
            <a:avLst/>
          </a:prstGeom>
          <a:noFill/>
          <a:ln/>
        </p:spPr>
        <p:txBody>
          <a:bodyPr wrap="square" lIns="0" tIns="0" rIns="0" bIns="0" rtlCol="0" anchor="ctr"/>
          <a:lstStyle/>
          <a:p>
            <a:pPr indent="0" marL="0">
              <a:buNone/>
            </a:pPr>
            <a:r>
              <a:rPr lang="en-US" sz="1300" b="1" dirty="0">
                <a:solidFill>
                  <a:schemeClr val="accent4"/>
                </a:solidFill>
              </a:rPr>
              <a:t>Diapositivas 7–12</a:t>
            </a:r>
            <a:endParaRPr lang="en-US" sz="1300" dirty="0"/>
          </a:p>
        </p:txBody>
      </p:sp>
      <p:sp>
        <p:nvSpPr>
          <p:cNvPr id="16" name="Columna Implementación en la ESP32"/>
          <p:cNvSpPr/>
          <p:nvPr/>
        </p:nvSpPr>
        <p:spPr>
          <a:xfrm>
            <a:off x="6236208" y="1645920"/>
            <a:ext cx="2560320" cy="4526280"/>
          </a:xfrm>
          <a:prstGeom prst="roundRect">
            <a:avLst>
              <a:gd name="adj" fmla="val 2857"/>
            </a:avLst>
          </a:prstGeom>
          <a:solidFill>
            <a:schemeClr val="bg2"/>
          </a:solidFill>
          <a:ln/>
        </p:spPr>
      </p:sp>
      <p:sp>
        <p:nvSpPr>
          <p:cNvPr id="17" name="Implementación en la ESP32 círculo"/>
          <p:cNvSpPr/>
          <p:nvPr/>
        </p:nvSpPr>
        <p:spPr>
          <a:xfrm>
            <a:off x="6437376" y="1847088"/>
            <a:ext cx="603504" cy="603504"/>
          </a:xfrm>
          <a:prstGeom prst="ellipse">
            <a:avLst/>
          </a:prstGeom>
          <a:solidFill>
            <a:schemeClr val="tx2"/>
          </a:solidFill>
          <a:ln/>
        </p:spPr>
      </p:sp>
      <p:pic>
        <p:nvPicPr>
          <p:cNvPr id="18" name="Implementación en la ESP32 icono" descr="preencoded.png">    </p:cNvPr>
          <p:cNvPicPr>
            <a:picLocks noChangeAspect="1"/>
          </p:cNvPicPr>
          <p:nvPr/>
        </p:nvPicPr>
        <p:blipFill>
          <a:blip r:embed="rId3"/>
          <a:stretch>
            <a:fillRect/>
          </a:stretch>
        </p:blipFill>
        <p:spPr>
          <a:xfrm>
            <a:off x="6582217" y="1991929"/>
            <a:ext cx="313822" cy="313822"/>
          </a:xfrm>
          <a:prstGeom prst="rect">
            <a:avLst/>
          </a:prstGeom>
        </p:spPr>
      </p:pic>
      <p:sp>
        <p:nvSpPr>
          <p:cNvPr id="19" name="Text 14"/>
          <p:cNvSpPr txBox="1"/>
          <p:nvPr/>
        </p:nvSpPr>
        <p:spPr>
          <a:xfrm>
            <a:off x="6437376" y="2578608"/>
            <a:ext cx="2157984" cy="65836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Implementación en la ESP32</a:t>
            </a:r>
            <a:endParaRPr lang="en-US" sz="1800" dirty="0"/>
          </a:p>
        </p:txBody>
      </p:sp>
      <p:sp>
        <p:nvSpPr>
          <p:cNvPr id="20" name="Text 15"/>
          <p:cNvSpPr txBox="1"/>
          <p:nvPr/>
        </p:nvSpPr>
        <p:spPr>
          <a:xfrm>
            <a:off x="6437376" y="3337560"/>
            <a:ext cx="2194560" cy="22402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Exportar el modelo</a:t>
            </a:r>
            <a:endParaRPr lang="en-US" sz="1400" dirty="0"/>
          </a:p>
          <a:p>
            <a:pPr marL="203200" indent="-203200">
              <a:spcAft>
                <a:spcPts val="500"/>
              </a:spcAft>
              <a:buSzPct val="100000"/>
              <a:buChar char="•"/>
            </a:pPr>
            <a:r>
              <a:rPr lang="en-US" sz="1400" dirty="0">
                <a:solidFill>
                  <a:schemeClr val="tx1"/>
                </a:solidFill>
              </a:rPr>
              <a:t>Inferencia local en tiempo real</a:t>
            </a:r>
            <a:endParaRPr lang="en-US" sz="1400" dirty="0"/>
          </a:p>
          <a:p>
            <a:pPr marL="203200" indent="-203200">
              <a:spcAft>
                <a:spcPts val="500"/>
              </a:spcAft>
              <a:buSzPct val="100000"/>
              <a:buChar char="•"/>
            </a:pPr>
            <a:r>
              <a:rPr lang="en-US" sz="1400" dirty="0">
                <a:solidFill>
                  <a:schemeClr val="tx1"/>
                </a:solidFill>
              </a:rPr>
              <a:t>Lógica documentada (pseudocódigo)</a:t>
            </a:r>
            <a:endParaRPr lang="en-US" sz="1400" dirty="0"/>
          </a:p>
          <a:p>
            <a:pPr marL="203200" indent="-203200">
              <a:spcAft>
                <a:spcPts val="500"/>
              </a:spcAft>
              <a:buSzPct val="100000"/>
              <a:buChar char="•"/>
            </a:pPr>
            <a:r>
              <a:rPr lang="en-US" sz="1400" dirty="0">
                <a:solidFill>
                  <a:schemeClr val="tx1"/>
                </a:solidFill>
              </a:rPr>
              <a:t>Actuador físico: LED</a:t>
            </a:r>
            <a:endParaRPr lang="en-US" sz="1400" dirty="0"/>
          </a:p>
          <a:p>
            <a:pPr marL="203200" indent="-203200">
              <a:spcAft>
                <a:spcPts val="500"/>
              </a:spcAft>
              <a:buSzPct val="100000"/>
              <a:buChar char="•"/>
            </a:pPr>
            <a:r>
              <a:rPr lang="en-US" sz="1400" dirty="0">
                <a:solidFill>
                  <a:schemeClr val="tx1"/>
                </a:solidFill>
              </a:rPr>
              <a:t>Logs de pruebas</a:t>
            </a:r>
            <a:endParaRPr lang="en-US" sz="1400" dirty="0"/>
          </a:p>
        </p:txBody>
      </p:sp>
      <p:sp>
        <p:nvSpPr>
          <p:cNvPr id="21" name="Text 16"/>
          <p:cNvSpPr txBox="1"/>
          <p:nvPr/>
        </p:nvSpPr>
        <p:spPr>
          <a:xfrm>
            <a:off x="6437376" y="5696712"/>
            <a:ext cx="2157984" cy="292608"/>
          </a:xfrm>
          <a:prstGeom prst="rect">
            <a:avLst/>
          </a:prstGeom>
          <a:noFill/>
          <a:ln/>
        </p:spPr>
        <p:txBody>
          <a:bodyPr wrap="square" lIns="0" tIns="0" rIns="0" bIns="0" rtlCol="0" anchor="ctr"/>
          <a:lstStyle/>
          <a:p>
            <a:pPr indent="0" marL="0">
              <a:buNone/>
            </a:pPr>
            <a:r>
              <a:rPr lang="en-US" sz="1300" b="1" dirty="0">
                <a:solidFill>
                  <a:schemeClr val="accent4"/>
                </a:solidFill>
              </a:rPr>
              <a:t>Diapositivas 13–15</a:t>
            </a:r>
            <a:endParaRPr lang="en-US" sz="1300" dirty="0"/>
          </a:p>
        </p:txBody>
      </p:sp>
      <p:sp>
        <p:nvSpPr>
          <p:cNvPr id="22" name="Columna Discusión"/>
          <p:cNvSpPr/>
          <p:nvPr/>
        </p:nvSpPr>
        <p:spPr>
          <a:xfrm>
            <a:off x="9079992" y="1645920"/>
            <a:ext cx="2560320" cy="4526280"/>
          </a:xfrm>
          <a:prstGeom prst="roundRect">
            <a:avLst>
              <a:gd name="adj" fmla="val 2857"/>
            </a:avLst>
          </a:prstGeom>
          <a:solidFill>
            <a:schemeClr val="bg2"/>
          </a:solidFill>
          <a:ln/>
        </p:spPr>
      </p:sp>
      <p:sp>
        <p:nvSpPr>
          <p:cNvPr id="23" name="Discusión círculo"/>
          <p:cNvSpPr/>
          <p:nvPr/>
        </p:nvSpPr>
        <p:spPr>
          <a:xfrm>
            <a:off x="9281160" y="1847088"/>
            <a:ext cx="603504" cy="603504"/>
          </a:xfrm>
          <a:prstGeom prst="ellipse">
            <a:avLst/>
          </a:prstGeom>
          <a:solidFill>
            <a:schemeClr val="tx2"/>
          </a:solidFill>
          <a:ln/>
        </p:spPr>
      </p:sp>
      <p:pic>
        <p:nvPicPr>
          <p:cNvPr id="24" name="Discusión icono" descr="preencoded.png">    </p:cNvPr>
          <p:cNvPicPr>
            <a:picLocks noChangeAspect="1"/>
          </p:cNvPicPr>
          <p:nvPr/>
        </p:nvPicPr>
        <p:blipFill>
          <a:blip r:embed="rId4"/>
          <a:stretch>
            <a:fillRect/>
          </a:stretch>
        </p:blipFill>
        <p:spPr>
          <a:xfrm>
            <a:off x="9426001" y="1991929"/>
            <a:ext cx="313822" cy="313822"/>
          </a:xfrm>
          <a:prstGeom prst="rect">
            <a:avLst/>
          </a:prstGeom>
        </p:spPr>
      </p:pic>
      <p:sp>
        <p:nvSpPr>
          <p:cNvPr id="25" name="Text 19"/>
          <p:cNvSpPr txBox="1"/>
          <p:nvPr/>
        </p:nvSpPr>
        <p:spPr>
          <a:xfrm>
            <a:off x="9281160" y="2578608"/>
            <a:ext cx="2157984" cy="65836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Discusión</a:t>
            </a:r>
            <a:endParaRPr lang="en-US" sz="1800" dirty="0"/>
          </a:p>
        </p:txBody>
      </p:sp>
      <p:sp>
        <p:nvSpPr>
          <p:cNvPr id="26" name="Text 20"/>
          <p:cNvSpPr txBox="1"/>
          <p:nvPr/>
        </p:nvSpPr>
        <p:spPr>
          <a:xfrm>
            <a:off x="9281160" y="3337560"/>
            <a:ext cx="2194560" cy="22402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Ventajas y limitaciones</a:t>
            </a:r>
            <a:endParaRPr lang="en-US" sz="1400" dirty="0"/>
          </a:p>
          <a:p>
            <a:pPr marL="203200" indent="-203200">
              <a:spcAft>
                <a:spcPts val="500"/>
              </a:spcAft>
              <a:buSzPct val="100000"/>
              <a:buChar char="•"/>
            </a:pPr>
            <a:r>
              <a:rPr lang="en-US" sz="1400" dirty="0">
                <a:solidFill>
                  <a:schemeClr val="tx1"/>
                </a:solidFill>
              </a:rPr>
              <a:t>Restricciones de memoria y CPU</a:t>
            </a:r>
            <a:endParaRPr lang="en-US" sz="1400" dirty="0"/>
          </a:p>
          <a:p>
            <a:pPr marL="203200" indent="-203200">
              <a:spcAft>
                <a:spcPts val="500"/>
              </a:spcAft>
              <a:buSzPct val="100000"/>
              <a:buChar char="•"/>
            </a:pPr>
            <a:r>
              <a:rPr lang="en-US" sz="1400" dirty="0">
                <a:solidFill>
                  <a:schemeClr val="tx1"/>
                </a:solidFill>
              </a:rPr>
              <a:t>Mejoras para una futura versión</a:t>
            </a:r>
            <a:endParaRPr lang="en-US" sz="1400" dirty="0"/>
          </a:p>
        </p:txBody>
      </p:sp>
      <p:sp>
        <p:nvSpPr>
          <p:cNvPr id="27" name="Text 21"/>
          <p:cNvSpPr txBox="1"/>
          <p:nvPr/>
        </p:nvSpPr>
        <p:spPr>
          <a:xfrm>
            <a:off x="9281160" y="5696712"/>
            <a:ext cx="2157984" cy="292608"/>
          </a:xfrm>
          <a:prstGeom prst="rect">
            <a:avLst/>
          </a:prstGeom>
          <a:noFill/>
          <a:ln/>
        </p:spPr>
        <p:txBody>
          <a:bodyPr wrap="square" lIns="0" tIns="0" rIns="0" bIns="0" rtlCol="0" anchor="ctr"/>
          <a:lstStyle/>
          <a:p>
            <a:pPr indent="0" marL="0">
              <a:buNone/>
            </a:pPr>
            <a:r>
              <a:rPr lang="en-US" sz="1300" b="1" dirty="0">
                <a:solidFill>
                  <a:schemeClr val="accent4"/>
                </a:solidFill>
              </a:rPr>
              <a:t>Diapositivas 16–18</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OBJETIVO Y SISTEMA</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De los sensores al LED, cada 5 minutos</a:t>
            </a:r>
            <a:endParaRPr lang="en-US" sz="3600" dirty="0"/>
          </a:p>
        </p:txBody>
      </p:sp>
      <p:sp>
        <p:nvSpPr>
          <p:cNvPr id="4" name="Paso Sensores"/>
          <p:cNvSpPr/>
          <p:nvPr/>
        </p:nvSpPr>
        <p:spPr>
          <a:xfrm>
            <a:off x="548640" y="1645920"/>
            <a:ext cx="1965960" cy="1965960"/>
          </a:xfrm>
          <a:prstGeom prst="roundRect">
            <a:avLst>
              <a:gd name="adj" fmla="val 3721"/>
            </a:avLst>
          </a:prstGeom>
          <a:solidFill>
            <a:schemeClr val="bg2"/>
          </a:solidFill>
          <a:ln/>
        </p:spPr>
      </p:sp>
      <p:sp>
        <p:nvSpPr>
          <p:cNvPr id="5" name="Sensores círculo"/>
          <p:cNvSpPr/>
          <p:nvPr/>
        </p:nvSpPr>
        <p:spPr>
          <a:xfrm>
            <a:off x="1248156" y="1828800"/>
            <a:ext cx="566928" cy="566928"/>
          </a:xfrm>
          <a:prstGeom prst="ellipse">
            <a:avLst/>
          </a:prstGeom>
          <a:solidFill>
            <a:schemeClr val="tx2"/>
          </a:solidFill>
          <a:ln/>
        </p:spPr>
      </p:sp>
      <p:pic>
        <p:nvPicPr>
          <p:cNvPr id="6" name="Sensores icono" descr="preencoded.png">    </p:cNvPr>
          <p:cNvPicPr>
            <a:picLocks noChangeAspect="1"/>
          </p:cNvPicPr>
          <p:nvPr/>
        </p:nvPicPr>
        <p:blipFill>
          <a:blip r:embed="rId1"/>
          <a:stretch>
            <a:fillRect/>
          </a:stretch>
        </p:blipFill>
        <p:spPr>
          <a:xfrm>
            <a:off x="1384219" y="1964863"/>
            <a:ext cx="294803" cy="294803"/>
          </a:xfrm>
          <a:prstGeom prst="rect">
            <a:avLst/>
          </a:prstGeom>
        </p:spPr>
      </p:pic>
      <p:sp>
        <p:nvSpPr>
          <p:cNvPr id="7" name="Text 4"/>
          <p:cNvSpPr txBox="1"/>
          <p:nvPr/>
        </p:nvSpPr>
        <p:spPr>
          <a:xfrm>
            <a:off x="640080" y="2487168"/>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Sensores</a:t>
            </a:r>
            <a:endParaRPr lang="en-US" sz="1600" dirty="0"/>
          </a:p>
        </p:txBody>
      </p:sp>
      <p:sp>
        <p:nvSpPr>
          <p:cNvPr id="8" name="Text 5"/>
          <p:cNvSpPr txBox="1"/>
          <p:nvPr/>
        </p:nvSpPr>
        <p:spPr>
          <a:xfrm>
            <a:off x="685800" y="2862072"/>
            <a:ext cx="1691640" cy="603504"/>
          </a:xfrm>
          <a:prstGeom prst="rect">
            <a:avLst/>
          </a:prstGeom>
          <a:noFill/>
          <a:ln/>
        </p:spPr>
        <p:txBody>
          <a:bodyPr wrap="square" lIns="0" tIns="0" rIns="0" bIns="0" rtlCol="0" anchor="t"/>
          <a:lstStyle/>
          <a:p>
            <a:pPr algn="ctr" indent="0" marL="0">
              <a:buNone/>
            </a:pPr>
            <a:r>
              <a:rPr lang="en-US" sz="1400" dirty="0">
                <a:solidFill>
                  <a:schemeClr val="tx1"/>
                </a:solidFill>
              </a:rPr>
              <a:t>Sonda de suelo, DHT11 y LDR</a:t>
            </a:r>
            <a:endParaRPr lang="en-US" sz="1400" dirty="0"/>
          </a:p>
        </p:txBody>
      </p:sp>
      <p:sp>
        <p:nvSpPr>
          <p:cNvPr id="9" name="Shape 6"/>
          <p:cNvSpPr/>
          <p:nvPr/>
        </p:nvSpPr>
        <p:spPr>
          <a:xfrm>
            <a:off x="2569464" y="2514600"/>
            <a:ext cx="201168" cy="237744"/>
          </a:xfrm>
          <a:prstGeom prst="rightArrow">
            <a:avLst/>
          </a:prstGeom>
          <a:solidFill>
            <a:schemeClr val="accent5"/>
          </a:solidFill>
          <a:ln/>
        </p:spPr>
      </p:sp>
      <p:sp>
        <p:nvSpPr>
          <p:cNvPr id="10" name="Paso Buffer de 1 h"/>
          <p:cNvSpPr/>
          <p:nvPr/>
        </p:nvSpPr>
        <p:spPr>
          <a:xfrm>
            <a:off x="2830068" y="1645920"/>
            <a:ext cx="1965960" cy="1965960"/>
          </a:xfrm>
          <a:prstGeom prst="roundRect">
            <a:avLst>
              <a:gd name="adj" fmla="val 3721"/>
            </a:avLst>
          </a:prstGeom>
          <a:solidFill>
            <a:schemeClr val="bg2"/>
          </a:solidFill>
          <a:ln/>
        </p:spPr>
      </p:sp>
      <p:sp>
        <p:nvSpPr>
          <p:cNvPr id="11" name="Buffer de 1 h círculo"/>
          <p:cNvSpPr/>
          <p:nvPr/>
        </p:nvSpPr>
        <p:spPr>
          <a:xfrm>
            <a:off x="3529584" y="1828800"/>
            <a:ext cx="566928" cy="566928"/>
          </a:xfrm>
          <a:prstGeom prst="ellipse">
            <a:avLst/>
          </a:prstGeom>
          <a:solidFill>
            <a:schemeClr val="tx2"/>
          </a:solidFill>
          <a:ln/>
        </p:spPr>
      </p:sp>
      <p:pic>
        <p:nvPicPr>
          <p:cNvPr id="12" name="Buffer de 1 h icono" descr="preencoded.png">    </p:cNvPr>
          <p:cNvPicPr>
            <a:picLocks noChangeAspect="1"/>
          </p:cNvPicPr>
          <p:nvPr/>
        </p:nvPicPr>
        <p:blipFill>
          <a:blip r:embed="rId2"/>
          <a:stretch>
            <a:fillRect/>
          </a:stretch>
        </p:blipFill>
        <p:spPr>
          <a:xfrm>
            <a:off x="3665647" y="1964863"/>
            <a:ext cx="294803" cy="294803"/>
          </a:xfrm>
          <a:prstGeom prst="rect">
            <a:avLst/>
          </a:prstGeom>
        </p:spPr>
      </p:pic>
      <p:sp>
        <p:nvSpPr>
          <p:cNvPr id="13" name="Text 9"/>
          <p:cNvSpPr txBox="1"/>
          <p:nvPr/>
        </p:nvSpPr>
        <p:spPr>
          <a:xfrm>
            <a:off x="2921508" y="2487168"/>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Buffer de 1 h</a:t>
            </a:r>
            <a:endParaRPr lang="en-US" sz="1600" dirty="0"/>
          </a:p>
        </p:txBody>
      </p:sp>
      <p:sp>
        <p:nvSpPr>
          <p:cNvPr id="14" name="Text 10"/>
          <p:cNvSpPr txBox="1"/>
          <p:nvPr/>
        </p:nvSpPr>
        <p:spPr>
          <a:xfrm>
            <a:off x="2967228" y="2862072"/>
            <a:ext cx="1691640" cy="603504"/>
          </a:xfrm>
          <a:prstGeom prst="rect">
            <a:avLst/>
          </a:prstGeom>
          <a:noFill/>
          <a:ln/>
        </p:spPr>
        <p:txBody>
          <a:bodyPr wrap="square" lIns="0" tIns="0" rIns="0" bIns="0" rtlCol="0" anchor="t"/>
          <a:lstStyle/>
          <a:p>
            <a:pPr algn="ctr" indent="0" marL="0">
              <a:buNone/>
            </a:pPr>
            <a:r>
              <a:rPr lang="en-US" sz="1400" dirty="0">
                <a:solidFill>
                  <a:schemeClr val="tx1"/>
                </a:solidFill>
              </a:rPr>
              <a:t>13 muestras en un buffer circular</a:t>
            </a:r>
            <a:endParaRPr lang="en-US" sz="1400" dirty="0"/>
          </a:p>
        </p:txBody>
      </p:sp>
      <p:sp>
        <p:nvSpPr>
          <p:cNvPr id="15" name="Shape 11"/>
          <p:cNvSpPr/>
          <p:nvPr/>
        </p:nvSpPr>
        <p:spPr>
          <a:xfrm>
            <a:off x="4850892" y="2514600"/>
            <a:ext cx="201168" cy="237744"/>
          </a:xfrm>
          <a:prstGeom prst="rightArrow">
            <a:avLst/>
          </a:prstGeom>
          <a:solidFill>
            <a:schemeClr val="accent5"/>
          </a:solidFill>
          <a:ln/>
        </p:spPr>
      </p:sp>
      <p:sp>
        <p:nvSpPr>
          <p:cNvPr id="16" name="Paso 7 features"/>
          <p:cNvSpPr/>
          <p:nvPr/>
        </p:nvSpPr>
        <p:spPr>
          <a:xfrm>
            <a:off x="5111496" y="1645920"/>
            <a:ext cx="1965960" cy="1965960"/>
          </a:xfrm>
          <a:prstGeom prst="roundRect">
            <a:avLst>
              <a:gd name="adj" fmla="val 3721"/>
            </a:avLst>
          </a:prstGeom>
          <a:solidFill>
            <a:schemeClr val="bg2"/>
          </a:solidFill>
          <a:ln/>
        </p:spPr>
      </p:sp>
      <p:sp>
        <p:nvSpPr>
          <p:cNvPr id="17" name="7 features círculo"/>
          <p:cNvSpPr/>
          <p:nvPr/>
        </p:nvSpPr>
        <p:spPr>
          <a:xfrm>
            <a:off x="5811012" y="1828800"/>
            <a:ext cx="566928" cy="566928"/>
          </a:xfrm>
          <a:prstGeom prst="ellipse">
            <a:avLst/>
          </a:prstGeom>
          <a:solidFill>
            <a:schemeClr val="tx2"/>
          </a:solidFill>
          <a:ln/>
        </p:spPr>
      </p:sp>
      <p:pic>
        <p:nvPicPr>
          <p:cNvPr id="18" name="7 features icono" descr="preencoded.png">    </p:cNvPr>
          <p:cNvPicPr>
            <a:picLocks noChangeAspect="1"/>
          </p:cNvPicPr>
          <p:nvPr/>
        </p:nvPicPr>
        <p:blipFill>
          <a:blip r:embed="rId3"/>
          <a:stretch>
            <a:fillRect/>
          </a:stretch>
        </p:blipFill>
        <p:spPr>
          <a:xfrm>
            <a:off x="5947075" y="1964863"/>
            <a:ext cx="294803" cy="294803"/>
          </a:xfrm>
          <a:prstGeom prst="rect">
            <a:avLst/>
          </a:prstGeom>
        </p:spPr>
      </p:pic>
      <p:sp>
        <p:nvSpPr>
          <p:cNvPr id="19" name="Text 14"/>
          <p:cNvSpPr txBox="1"/>
          <p:nvPr/>
        </p:nvSpPr>
        <p:spPr>
          <a:xfrm>
            <a:off x="5202936" y="2487168"/>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7 features</a:t>
            </a:r>
            <a:endParaRPr lang="en-US" sz="1600" dirty="0"/>
          </a:p>
        </p:txBody>
      </p:sp>
      <p:sp>
        <p:nvSpPr>
          <p:cNvPr id="20" name="Text 15"/>
          <p:cNvSpPr txBox="1"/>
          <p:nvPr/>
        </p:nvSpPr>
        <p:spPr>
          <a:xfrm>
            <a:off x="5248656" y="2862072"/>
            <a:ext cx="1691640" cy="603504"/>
          </a:xfrm>
          <a:prstGeom prst="rect">
            <a:avLst/>
          </a:prstGeom>
          <a:noFill/>
          <a:ln/>
        </p:spPr>
        <p:txBody>
          <a:bodyPr wrap="square" lIns="0" tIns="0" rIns="0" bIns="0" rtlCol="0" anchor="t"/>
          <a:lstStyle/>
          <a:p>
            <a:pPr algn="ctr" indent="0" marL="0">
              <a:buNone/>
            </a:pPr>
            <a:r>
              <a:rPr lang="en-US" sz="1400" dirty="0">
                <a:solidFill>
                  <a:schemeClr val="tx1"/>
                </a:solidFill>
              </a:rPr>
              <a:t>Medianas, delta de 1 h y VPD</a:t>
            </a:r>
            <a:endParaRPr lang="en-US" sz="1400" dirty="0"/>
          </a:p>
        </p:txBody>
      </p:sp>
      <p:sp>
        <p:nvSpPr>
          <p:cNvPr id="21" name="Shape 16"/>
          <p:cNvSpPr/>
          <p:nvPr/>
        </p:nvSpPr>
        <p:spPr>
          <a:xfrm>
            <a:off x="7132320" y="2514600"/>
            <a:ext cx="201168" cy="237744"/>
          </a:xfrm>
          <a:prstGeom prst="rightArrow">
            <a:avLst/>
          </a:prstGeom>
          <a:solidFill>
            <a:schemeClr val="accent5"/>
          </a:solidFill>
          <a:ln/>
        </p:spPr>
      </p:sp>
      <p:sp>
        <p:nvSpPr>
          <p:cNvPr id="22" name="Paso Árbol de decisión"/>
          <p:cNvSpPr/>
          <p:nvPr/>
        </p:nvSpPr>
        <p:spPr>
          <a:xfrm>
            <a:off x="7392924" y="1645920"/>
            <a:ext cx="1965960" cy="1965960"/>
          </a:xfrm>
          <a:prstGeom prst="roundRect">
            <a:avLst>
              <a:gd name="adj" fmla="val 3721"/>
            </a:avLst>
          </a:prstGeom>
          <a:solidFill>
            <a:schemeClr val="bg2"/>
          </a:solidFill>
          <a:ln/>
        </p:spPr>
      </p:sp>
      <p:sp>
        <p:nvSpPr>
          <p:cNvPr id="23" name="Árbol de decisión círculo"/>
          <p:cNvSpPr/>
          <p:nvPr/>
        </p:nvSpPr>
        <p:spPr>
          <a:xfrm>
            <a:off x="8092440" y="1828800"/>
            <a:ext cx="566928" cy="566928"/>
          </a:xfrm>
          <a:prstGeom prst="ellipse">
            <a:avLst/>
          </a:prstGeom>
          <a:solidFill>
            <a:schemeClr val="tx2"/>
          </a:solidFill>
          <a:ln/>
        </p:spPr>
      </p:sp>
      <p:pic>
        <p:nvPicPr>
          <p:cNvPr id="24" name="Árbol de decisión icono" descr="preencoded.png">    </p:cNvPr>
          <p:cNvPicPr>
            <a:picLocks noChangeAspect="1"/>
          </p:cNvPicPr>
          <p:nvPr/>
        </p:nvPicPr>
        <p:blipFill>
          <a:blip r:embed="rId4"/>
          <a:stretch>
            <a:fillRect/>
          </a:stretch>
        </p:blipFill>
        <p:spPr>
          <a:xfrm>
            <a:off x="8228503" y="1964863"/>
            <a:ext cx="294803" cy="294803"/>
          </a:xfrm>
          <a:prstGeom prst="rect">
            <a:avLst/>
          </a:prstGeom>
        </p:spPr>
      </p:pic>
      <p:sp>
        <p:nvSpPr>
          <p:cNvPr id="25" name="Text 19"/>
          <p:cNvSpPr txBox="1"/>
          <p:nvPr/>
        </p:nvSpPr>
        <p:spPr>
          <a:xfrm>
            <a:off x="7484364" y="2487168"/>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Árbol de decisión</a:t>
            </a:r>
            <a:endParaRPr lang="en-US" sz="1600" dirty="0"/>
          </a:p>
        </p:txBody>
      </p:sp>
      <p:sp>
        <p:nvSpPr>
          <p:cNvPr id="26" name="Text 20"/>
          <p:cNvSpPr txBox="1"/>
          <p:nvPr/>
        </p:nvSpPr>
        <p:spPr>
          <a:xfrm>
            <a:off x="7530084" y="2862072"/>
            <a:ext cx="1691640" cy="603504"/>
          </a:xfrm>
          <a:prstGeom prst="rect">
            <a:avLst/>
          </a:prstGeom>
          <a:noFill/>
          <a:ln/>
        </p:spPr>
        <p:txBody>
          <a:bodyPr wrap="square" lIns="0" tIns="0" rIns="0" bIns="0" rtlCol="0" anchor="t"/>
          <a:lstStyle/>
          <a:p>
            <a:pPr algn="ctr" indent="0" marL="0">
              <a:buNone/>
            </a:pPr>
            <a:r>
              <a:rPr lang="en-US" sz="1400" dirty="0">
                <a:solidFill>
                  <a:schemeClr val="tx1"/>
                </a:solidFill>
              </a:rPr>
              <a:t>81 B en flash, ≤ 2 comparaciones</a:t>
            </a:r>
            <a:endParaRPr lang="en-US" sz="1400" dirty="0"/>
          </a:p>
        </p:txBody>
      </p:sp>
      <p:sp>
        <p:nvSpPr>
          <p:cNvPr id="27" name="Shape 21"/>
          <p:cNvSpPr/>
          <p:nvPr/>
        </p:nvSpPr>
        <p:spPr>
          <a:xfrm>
            <a:off x="9413748" y="2514600"/>
            <a:ext cx="201168" cy="237744"/>
          </a:xfrm>
          <a:prstGeom prst="rightArrow">
            <a:avLst/>
          </a:prstGeom>
          <a:solidFill>
            <a:schemeClr val="accent5"/>
          </a:solidFill>
          <a:ln/>
        </p:spPr>
      </p:sp>
      <p:sp>
        <p:nvSpPr>
          <p:cNvPr id="28" name="Paso LED + backend"/>
          <p:cNvSpPr/>
          <p:nvPr/>
        </p:nvSpPr>
        <p:spPr>
          <a:xfrm>
            <a:off x="9674352" y="1645920"/>
            <a:ext cx="1965960" cy="1965960"/>
          </a:xfrm>
          <a:prstGeom prst="roundRect">
            <a:avLst>
              <a:gd name="adj" fmla="val 3721"/>
            </a:avLst>
          </a:prstGeom>
          <a:solidFill>
            <a:schemeClr val="bg2"/>
          </a:solidFill>
          <a:ln/>
        </p:spPr>
      </p:sp>
      <p:sp>
        <p:nvSpPr>
          <p:cNvPr id="29" name="LED + backend círculo"/>
          <p:cNvSpPr/>
          <p:nvPr/>
        </p:nvSpPr>
        <p:spPr>
          <a:xfrm>
            <a:off x="10373868" y="1828800"/>
            <a:ext cx="566928" cy="566928"/>
          </a:xfrm>
          <a:prstGeom prst="ellipse">
            <a:avLst/>
          </a:prstGeom>
          <a:solidFill>
            <a:schemeClr val="tx2"/>
          </a:solidFill>
          <a:ln/>
        </p:spPr>
      </p:sp>
      <p:pic>
        <p:nvPicPr>
          <p:cNvPr id="30" name="LED + backend icono" descr="preencoded.png">    </p:cNvPr>
          <p:cNvPicPr>
            <a:picLocks noChangeAspect="1"/>
          </p:cNvPicPr>
          <p:nvPr/>
        </p:nvPicPr>
        <p:blipFill>
          <a:blip r:embed="rId5"/>
          <a:stretch>
            <a:fillRect/>
          </a:stretch>
        </p:blipFill>
        <p:spPr>
          <a:xfrm>
            <a:off x="10509931" y="1964863"/>
            <a:ext cx="294803" cy="294803"/>
          </a:xfrm>
          <a:prstGeom prst="rect">
            <a:avLst/>
          </a:prstGeom>
        </p:spPr>
      </p:pic>
      <p:sp>
        <p:nvSpPr>
          <p:cNvPr id="31" name="Text 24"/>
          <p:cNvSpPr txBox="1"/>
          <p:nvPr/>
        </p:nvSpPr>
        <p:spPr>
          <a:xfrm>
            <a:off x="9765792" y="2487168"/>
            <a:ext cx="1783080" cy="365760"/>
          </a:xfrm>
          <a:prstGeom prst="rect">
            <a:avLst/>
          </a:prstGeom>
          <a:noFill/>
          <a:ln/>
        </p:spPr>
        <p:txBody>
          <a:bodyPr wrap="square" lIns="0" tIns="0" rIns="0" bIns="0" rtlCol="0" anchor="ctr"/>
          <a:lstStyle/>
          <a:p>
            <a:pPr algn="ctr" indent="0" marL="0">
              <a:buNone/>
            </a:pPr>
            <a:r>
              <a:rPr lang="en-US" sz="1600" b="1" dirty="0">
                <a:solidFill>
                  <a:schemeClr val="tx2"/>
                </a:solidFill>
              </a:rPr>
              <a:t>LED + backend</a:t>
            </a:r>
            <a:endParaRPr lang="en-US" sz="1600" dirty="0"/>
          </a:p>
        </p:txBody>
      </p:sp>
      <p:sp>
        <p:nvSpPr>
          <p:cNvPr id="32" name="Text 25"/>
          <p:cNvSpPr txBox="1"/>
          <p:nvPr/>
        </p:nvSpPr>
        <p:spPr>
          <a:xfrm>
            <a:off x="9811512" y="2862072"/>
            <a:ext cx="1691640" cy="603504"/>
          </a:xfrm>
          <a:prstGeom prst="rect">
            <a:avLst/>
          </a:prstGeom>
          <a:noFill/>
          <a:ln/>
        </p:spPr>
        <p:txBody>
          <a:bodyPr wrap="square" lIns="0" tIns="0" rIns="0" bIns="0" rtlCol="0" anchor="t"/>
          <a:lstStyle/>
          <a:p>
            <a:pPr algn="ctr" indent="0" marL="0">
              <a:buNone/>
            </a:pPr>
            <a:r>
              <a:rPr lang="en-US" sz="1400" dirty="0">
                <a:solidFill>
                  <a:schemeClr val="tx1"/>
                </a:solidFill>
              </a:rPr>
              <a:t>Semáforo en GPIO y envío por WiFi</a:t>
            </a:r>
            <a:endParaRPr lang="en-US" sz="1400" dirty="0"/>
          </a:p>
        </p:txBody>
      </p:sp>
      <p:sp>
        <p:nvSpPr>
          <p:cNvPr id="33" name="Clase saludable"/>
          <p:cNvSpPr/>
          <p:nvPr/>
        </p:nvSpPr>
        <p:spPr>
          <a:xfrm>
            <a:off x="548640" y="3931920"/>
            <a:ext cx="3566160" cy="1325880"/>
          </a:xfrm>
          <a:prstGeom prst="roundRect">
            <a:avLst>
              <a:gd name="adj" fmla="val 5517"/>
            </a:avLst>
          </a:prstGeom>
          <a:solidFill>
            <a:schemeClr val="accent1">
              <a:alpha val="12000"/>
            </a:schemeClr>
          </a:solidFill>
          <a:ln/>
        </p:spPr>
      </p:sp>
      <p:sp>
        <p:nvSpPr>
          <p:cNvPr id="34" name="LED saludable halo"/>
          <p:cNvSpPr/>
          <p:nvPr/>
        </p:nvSpPr>
        <p:spPr>
          <a:xfrm>
            <a:off x="720547" y="4131259"/>
            <a:ext cx="936346" cy="936346"/>
          </a:xfrm>
          <a:prstGeom prst="ellipse">
            <a:avLst/>
          </a:prstGeom>
          <a:solidFill>
            <a:schemeClr val="accent1">
              <a:alpha val="28000"/>
            </a:schemeClr>
          </a:solidFill>
          <a:ln/>
        </p:spPr>
      </p:sp>
      <p:sp>
        <p:nvSpPr>
          <p:cNvPr id="35" name="LED saludable"/>
          <p:cNvSpPr txBox="1"/>
          <p:nvPr/>
        </p:nvSpPr>
        <p:spPr>
          <a:xfrm>
            <a:off x="822960" y="4233672"/>
            <a:ext cx="731520" cy="73152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36" name="Text 29"/>
          <p:cNvSpPr txBox="1"/>
          <p:nvPr/>
        </p:nvSpPr>
        <p:spPr>
          <a:xfrm>
            <a:off x="1783080" y="4187952"/>
            <a:ext cx="2194560" cy="365760"/>
          </a:xfrm>
          <a:prstGeom prst="rect">
            <a:avLst/>
          </a:prstGeom>
          <a:noFill/>
          <a:ln/>
        </p:spPr>
        <p:txBody>
          <a:bodyPr wrap="square" lIns="0" tIns="0" rIns="0" bIns="0" rtlCol="0" anchor="ctr"/>
          <a:lstStyle/>
          <a:p>
            <a:pPr indent="0" marL="0">
              <a:buNone/>
            </a:pPr>
            <a:r>
              <a:rPr lang="en-US" sz="1800" b="1" dirty="0">
                <a:solidFill>
                  <a:schemeClr val="accent1"/>
                </a:solidFill>
              </a:rPr>
              <a:t>saludable</a:t>
            </a:r>
            <a:endParaRPr lang="en-US" sz="1800" dirty="0"/>
          </a:p>
        </p:txBody>
      </p:sp>
      <p:sp>
        <p:nvSpPr>
          <p:cNvPr id="37" name="Text 30"/>
          <p:cNvSpPr txBox="1"/>
          <p:nvPr/>
        </p:nvSpPr>
        <p:spPr>
          <a:xfrm>
            <a:off x="1783080" y="4572000"/>
            <a:ext cx="2240280" cy="502920"/>
          </a:xfrm>
          <a:prstGeom prst="rect">
            <a:avLst/>
          </a:prstGeom>
          <a:noFill/>
          <a:ln/>
        </p:spPr>
        <p:txBody>
          <a:bodyPr wrap="square" lIns="0" tIns="0" rIns="0" bIns="0" rtlCol="0" anchor="t"/>
          <a:lstStyle/>
          <a:p>
            <a:pPr indent="0" marL="0">
              <a:buNone/>
            </a:pPr>
            <a:r>
              <a:rPr lang="en-US" sz="1400" dirty="0">
                <a:solidFill>
                  <a:schemeClr val="tx1"/>
                </a:solidFill>
              </a:rPr>
              <a:t>Planta turgente → LED verde</a:t>
            </a:r>
            <a:endParaRPr lang="en-US" sz="1400" dirty="0"/>
          </a:p>
        </p:txBody>
      </p:sp>
      <p:sp>
        <p:nvSpPr>
          <p:cNvPr id="38" name="Clase estresada"/>
          <p:cNvSpPr/>
          <p:nvPr/>
        </p:nvSpPr>
        <p:spPr>
          <a:xfrm>
            <a:off x="4311396" y="3931920"/>
            <a:ext cx="3566160" cy="1325880"/>
          </a:xfrm>
          <a:prstGeom prst="roundRect">
            <a:avLst>
              <a:gd name="adj" fmla="val 5517"/>
            </a:avLst>
          </a:prstGeom>
          <a:solidFill>
            <a:schemeClr val="accent2">
              <a:alpha val="12000"/>
            </a:schemeClr>
          </a:solidFill>
          <a:ln/>
        </p:spPr>
      </p:sp>
      <p:sp>
        <p:nvSpPr>
          <p:cNvPr id="39" name="LED estresada halo"/>
          <p:cNvSpPr/>
          <p:nvPr/>
        </p:nvSpPr>
        <p:spPr>
          <a:xfrm>
            <a:off x="4483303" y="4131259"/>
            <a:ext cx="936346" cy="936346"/>
          </a:xfrm>
          <a:prstGeom prst="ellipse">
            <a:avLst/>
          </a:prstGeom>
          <a:solidFill>
            <a:schemeClr val="accent2">
              <a:alpha val="28000"/>
            </a:schemeClr>
          </a:solidFill>
          <a:ln/>
        </p:spPr>
      </p:sp>
      <p:sp>
        <p:nvSpPr>
          <p:cNvPr id="40" name="LED estresada"/>
          <p:cNvSpPr txBox="1"/>
          <p:nvPr/>
        </p:nvSpPr>
        <p:spPr>
          <a:xfrm>
            <a:off x="4585716" y="4233672"/>
            <a:ext cx="731520" cy="73152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41" name="Text 34"/>
          <p:cNvSpPr txBox="1"/>
          <p:nvPr/>
        </p:nvSpPr>
        <p:spPr>
          <a:xfrm>
            <a:off x="5545836" y="4187952"/>
            <a:ext cx="2194560" cy="365760"/>
          </a:xfrm>
          <a:prstGeom prst="rect">
            <a:avLst/>
          </a:prstGeom>
          <a:noFill/>
          <a:ln/>
        </p:spPr>
        <p:txBody>
          <a:bodyPr wrap="square" lIns="0" tIns="0" rIns="0" bIns="0" rtlCol="0" anchor="ctr"/>
          <a:lstStyle/>
          <a:p>
            <a:pPr indent="0" marL="0">
              <a:buNone/>
            </a:pPr>
            <a:r>
              <a:rPr lang="en-US" sz="1800" b="1" dirty="0">
                <a:solidFill>
                  <a:schemeClr val="accent2"/>
                </a:solidFill>
              </a:rPr>
              <a:t>estresada</a:t>
            </a:r>
            <a:endParaRPr lang="en-US" sz="1800" dirty="0"/>
          </a:p>
        </p:txBody>
      </p:sp>
      <p:sp>
        <p:nvSpPr>
          <p:cNvPr id="42" name="Text 35"/>
          <p:cNvSpPr txBox="1"/>
          <p:nvPr/>
        </p:nvSpPr>
        <p:spPr>
          <a:xfrm>
            <a:off x="5545836" y="4572000"/>
            <a:ext cx="2240280" cy="502920"/>
          </a:xfrm>
          <a:prstGeom prst="rect">
            <a:avLst/>
          </a:prstGeom>
          <a:noFill/>
          <a:ln/>
        </p:spPr>
        <p:txBody>
          <a:bodyPr wrap="square" lIns="0" tIns="0" rIns="0" bIns="0" rtlCol="0" anchor="t"/>
          <a:lstStyle/>
          <a:p>
            <a:pPr indent="0" marL="0">
              <a:buNone/>
            </a:pPr>
            <a:r>
              <a:rPr lang="en-US" sz="1400" dirty="0">
                <a:solidFill>
                  <a:schemeClr val="tx1"/>
                </a:solidFill>
              </a:rPr>
              <a:t>Marchitez transitoria → LED amarillo</a:t>
            </a:r>
            <a:endParaRPr lang="en-US" sz="1400" dirty="0"/>
          </a:p>
        </p:txBody>
      </p:sp>
      <p:sp>
        <p:nvSpPr>
          <p:cNvPr id="43" name="Clase marchita"/>
          <p:cNvSpPr/>
          <p:nvPr/>
        </p:nvSpPr>
        <p:spPr>
          <a:xfrm>
            <a:off x="8074152" y="3931920"/>
            <a:ext cx="3566160" cy="1325880"/>
          </a:xfrm>
          <a:prstGeom prst="roundRect">
            <a:avLst>
              <a:gd name="adj" fmla="val 5517"/>
            </a:avLst>
          </a:prstGeom>
          <a:solidFill>
            <a:schemeClr val="accent3">
              <a:alpha val="12000"/>
            </a:schemeClr>
          </a:solidFill>
          <a:ln/>
        </p:spPr>
      </p:sp>
      <p:sp>
        <p:nvSpPr>
          <p:cNvPr id="44" name="LED marchita halo"/>
          <p:cNvSpPr/>
          <p:nvPr/>
        </p:nvSpPr>
        <p:spPr>
          <a:xfrm>
            <a:off x="8246059" y="4131259"/>
            <a:ext cx="936346" cy="936346"/>
          </a:xfrm>
          <a:prstGeom prst="ellipse">
            <a:avLst/>
          </a:prstGeom>
          <a:solidFill>
            <a:schemeClr val="accent3">
              <a:alpha val="28000"/>
            </a:schemeClr>
          </a:solidFill>
          <a:ln/>
        </p:spPr>
      </p:sp>
      <p:sp>
        <p:nvSpPr>
          <p:cNvPr id="45" name="LED marchita"/>
          <p:cNvSpPr txBox="1"/>
          <p:nvPr/>
        </p:nvSpPr>
        <p:spPr>
          <a:xfrm>
            <a:off x="8348472" y="4233672"/>
            <a:ext cx="731520" cy="73152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46" name="Text 39"/>
          <p:cNvSpPr txBox="1"/>
          <p:nvPr/>
        </p:nvSpPr>
        <p:spPr>
          <a:xfrm>
            <a:off x="9308592" y="4187952"/>
            <a:ext cx="2194560" cy="365760"/>
          </a:xfrm>
          <a:prstGeom prst="rect">
            <a:avLst/>
          </a:prstGeom>
          <a:noFill/>
          <a:ln/>
        </p:spPr>
        <p:txBody>
          <a:bodyPr wrap="square" lIns="0" tIns="0" rIns="0" bIns="0" rtlCol="0" anchor="ctr"/>
          <a:lstStyle/>
          <a:p>
            <a:pPr indent="0" marL="0">
              <a:buNone/>
            </a:pPr>
            <a:r>
              <a:rPr lang="en-US" sz="1800" b="1" dirty="0">
                <a:solidFill>
                  <a:schemeClr val="accent3"/>
                </a:solidFill>
              </a:rPr>
              <a:t>marchita</a:t>
            </a:r>
            <a:endParaRPr lang="en-US" sz="1800" dirty="0"/>
          </a:p>
        </p:txBody>
      </p:sp>
      <p:sp>
        <p:nvSpPr>
          <p:cNvPr id="47" name="Text 40"/>
          <p:cNvSpPr txBox="1"/>
          <p:nvPr/>
        </p:nvSpPr>
        <p:spPr>
          <a:xfrm>
            <a:off x="9308592" y="4572000"/>
            <a:ext cx="2240280" cy="502920"/>
          </a:xfrm>
          <a:prstGeom prst="rect">
            <a:avLst/>
          </a:prstGeom>
          <a:noFill/>
          <a:ln/>
        </p:spPr>
        <p:txBody>
          <a:bodyPr wrap="square" lIns="0" tIns="0" rIns="0" bIns="0" rtlCol="0" anchor="t"/>
          <a:lstStyle/>
          <a:p>
            <a:pPr indent="0" marL="0">
              <a:buNone/>
            </a:pPr>
            <a:r>
              <a:rPr lang="en-US" sz="1400" dirty="0">
                <a:solidFill>
                  <a:schemeClr val="tx1"/>
                </a:solidFill>
              </a:rPr>
              <a:t>Marchitez franca → LED rojo</a:t>
            </a:r>
            <a:endParaRPr lang="en-US" sz="1400" dirty="0"/>
          </a:p>
        </p:txBody>
      </p:sp>
      <p:sp>
        <p:nvSpPr>
          <p:cNvPr id="48" name="Sin WiFi círculo"/>
          <p:cNvSpPr/>
          <p:nvPr/>
        </p:nvSpPr>
        <p:spPr>
          <a:xfrm>
            <a:off x="548640" y="5559552"/>
            <a:ext cx="438912" cy="438912"/>
          </a:xfrm>
          <a:prstGeom prst="ellipse">
            <a:avLst/>
          </a:prstGeom>
          <a:solidFill>
            <a:schemeClr val="accent4"/>
          </a:solidFill>
          <a:ln/>
        </p:spPr>
      </p:sp>
      <p:pic>
        <p:nvPicPr>
          <p:cNvPr id="49" name="Sin WiFi icono" descr="preencoded.png">    </p:cNvPr>
          <p:cNvPicPr>
            <a:picLocks noChangeAspect="1"/>
          </p:cNvPicPr>
          <p:nvPr/>
        </p:nvPicPr>
        <p:blipFill>
          <a:blip r:embed="rId6"/>
          <a:stretch>
            <a:fillRect/>
          </a:stretch>
        </p:blipFill>
        <p:spPr>
          <a:xfrm>
            <a:off x="653979" y="5664891"/>
            <a:ext cx="228234" cy="228234"/>
          </a:xfrm>
          <a:prstGeom prst="rect">
            <a:avLst/>
          </a:prstGeom>
        </p:spPr>
      </p:pic>
      <p:sp>
        <p:nvSpPr>
          <p:cNvPr id="50" name="Text 42"/>
          <p:cNvSpPr txBox="1"/>
          <p:nvPr/>
        </p:nvSpPr>
        <p:spPr>
          <a:xfrm>
            <a:off x="1143000" y="5559552"/>
            <a:ext cx="10332720" cy="438912"/>
          </a:xfrm>
          <a:prstGeom prst="rect">
            <a:avLst/>
          </a:prstGeom>
          <a:noFill/>
          <a:ln/>
        </p:spPr>
        <p:txBody>
          <a:bodyPr wrap="square" lIns="0" tIns="0" rIns="0" bIns="0" rtlCol="0" anchor="ctr"/>
          <a:lstStyle/>
          <a:p>
            <a:pPr indent="0" marL="0">
              <a:buNone/>
            </a:pPr>
            <a:r>
              <a:rPr lang="en-US" sz="1600" i="1" dirty="0">
                <a:solidFill>
                  <a:schemeClr val="tx2"/>
                </a:solidFill>
              </a:rPr>
              <a:t>La inferencia corre en la placa: si se cae el WiFi, el LED se sigue actualizando.</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PREPARACIÓN DE LOS DATOS</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1.357 filas, pero sólo 11 episodios</a:t>
            </a:r>
            <a:endParaRPr lang="en-US" sz="3600" dirty="0"/>
          </a:p>
        </p:txBody>
      </p:sp>
      <p:sp>
        <p:nvSpPr>
          <p:cNvPr id="4" name="Dato 1.357"/>
          <p:cNvSpPr/>
          <p:nvPr/>
        </p:nvSpPr>
        <p:spPr>
          <a:xfrm>
            <a:off x="548640" y="1645920"/>
            <a:ext cx="3566160" cy="1051560"/>
          </a:xfrm>
          <a:prstGeom prst="roundRect">
            <a:avLst>
              <a:gd name="adj" fmla="val 6957"/>
            </a:avLst>
          </a:prstGeom>
          <a:solidFill>
            <a:schemeClr val="bg2"/>
          </a:solidFill>
          <a:ln/>
        </p:spPr>
      </p:sp>
      <p:sp>
        <p:nvSpPr>
          <p:cNvPr id="5" name="Text 3"/>
          <p:cNvSpPr txBox="1"/>
          <p:nvPr/>
        </p:nvSpPr>
        <p:spPr>
          <a:xfrm>
            <a:off x="749808" y="1645920"/>
            <a:ext cx="137160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1.357</a:t>
            </a:r>
            <a:endParaRPr lang="en-US" sz="3600" dirty="0"/>
          </a:p>
        </p:txBody>
      </p:sp>
      <p:sp>
        <p:nvSpPr>
          <p:cNvPr id="6" name="Text 4"/>
          <p:cNvSpPr txBox="1"/>
          <p:nvPr/>
        </p:nvSpPr>
        <p:spPr>
          <a:xfrm>
            <a:off x="2148840" y="1645920"/>
            <a:ext cx="1828800" cy="1051560"/>
          </a:xfrm>
          <a:prstGeom prst="rect">
            <a:avLst/>
          </a:prstGeom>
          <a:noFill/>
          <a:ln/>
        </p:spPr>
        <p:txBody>
          <a:bodyPr wrap="square" lIns="0" tIns="0" rIns="0" bIns="0" rtlCol="0" anchor="ctr"/>
          <a:lstStyle/>
          <a:p>
            <a:pPr indent="0" marL="0">
              <a:buNone/>
            </a:pPr>
            <a:r>
              <a:rPr lang="en-US" sz="1400" dirty="0">
                <a:solidFill>
                  <a:schemeClr val="tx1"/>
                </a:solidFill>
              </a:rPr>
              <a:t>filas de 5 min del snapshot de Railway al 21/10</a:t>
            </a:r>
            <a:endParaRPr lang="en-US" sz="1400" dirty="0"/>
          </a:p>
        </p:txBody>
      </p:sp>
      <p:sp>
        <p:nvSpPr>
          <p:cNvPr id="7" name="Dato 11"/>
          <p:cNvSpPr/>
          <p:nvPr/>
        </p:nvSpPr>
        <p:spPr>
          <a:xfrm>
            <a:off x="4311396" y="1645920"/>
            <a:ext cx="3566160" cy="1051560"/>
          </a:xfrm>
          <a:prstGeom prst="roundRect">
            <a:avLst>
              <a:gd name="adj" fmla="val 6957"/>
            </a:avLst>
          </a:prstGeom>
          <a:solidFill>
            <a:schemeClr val="bg2"/>
          </a:solidFill>
          <a:ln/>
        </p:spPr>
      </p:sp>
      <p:sp>
        <p:nvSpPr>
          <p:cNvPr id="8" name="Text 6"/>
          <p:cNvSpPr txBox="1"/>
          <p:nvPr/>
        </p:nvSpPr>
        <p:spPr>
          <a:xfrm>
            <a:off x="4512564" y="1645920"/>
            <a:ext cx="137160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11</a:t>
            </a:r>
            <a:endParaRPr lang="en-US" sz="3600" dirty="0"/>
          </a:p>
        </p:txBody>
      </p:sp>
      <p:sp>
        <p:nvSpPr>
          <p:cNvPr id="9" name="Text 7"/>
          <p:cNvSpPr txBox="1"/>
          <p:nvPr/>
        </p:nvSpPr>
        <p:spPr>
          <a:xfrm>
            <a:off x="5911596" y="1645920"/>
            <a:ext cx="1828800" cy="1051560"/>
          </a:xfrm>
          <a:prstGeom prst="rect">
            <a:avLst/>
          </a:prstGeom>
          <a:noFill/>
          <a:ln/>
        </p:spPr>
        <p:txBody>
          <a:bodyPr wrap="square" lIns="0" tIns="0" rIns="0" bIns="0" rtlCol="0" anchor="ctr"/>
          <a:lstStyle/>
          <a:p>
            <a:pPr indent="0" marL="0">
              <a:buNone/>
            </a:pPr>
            <a:r>
              <a:rPr lang="en-US" sz="1400" dirty="0">
                <a:solidFill>
                  <a:schemeClr val="tx1"/>
                </a:solidFill>
              </a:rPr>
              <a:t>episodios: 3 saludables, 5 estresados y 3 marchitos</a:t>
            </a:r>
            <a:endParaRPr lang="en-US" sz="1400" dirty="0"/>
          </a:p>
        </p:txBody>
      </p:sp>
      <p:sp>
        <p:nvSpPr>
          <p:cNvPr id="10" name="Dato 7"/>
          <p:cNvSpPr/>
          <p:nvPr/>
        </p:nvSpPr>
        <p:spPr>
          <a:xfrm>
            <a:off x="8074152" y="1645920"/>
            <a:ext cx="3566160" cy="1051560"/>
          </a:xfrm>
          <a:prstGeom prst="roundRect">
            <a:avLst>
              <a:gd name="adj" fmla="val 6957"/>
            </a:avLst>
          </a:prstGeom>
          <a:solidFill>
            <a:schemeClr val="bg2"/>
          </a:solidFill>
          <a:ln/>
        </p:spPr>
      </p:sp>
      <p:sp>
        <p:nvSpPr>
          <p:cNvPr id="11" name="Text 9"/>
          <p:cNvSpPr txBox="1"/>
          <p:nvPr/>
        </p:nvSpPr>
        <p:spPr>
          <a:xfrm>
            <a:off x="8275320" y="1645920"/>
            <a:ext cx="1371600" cy="10515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7</a:t>
            </a:r>
            <a:endParaRPr lang="en-US" sz="3600" dirty="0"/>
          </a:p>
        </p:txBody>
      </p:sp>
      <p:sp>
        <p:nvSpPr>
          <p:cNvPr id="12" name="Text 10"/>
          <p:cNvSpPr txBox="1"/>
          <p:nvPr/>
        </p:nvSpPr>
        <p:spPr>
          <a:xfrm>
            <a:off x="9674352" y="1645920"/>
            <a:ext cx="1828800" cy="1051560"/>
          </a:xfrm>
          <a:prstGeom prst="rect">
            <a:avLst/>
          </a:prstGeom>
          <a:noFill/>
          <a:ln/>
        </p:spPr>
        <p:txBody>
          <a:bodyPr wrap="square" lIns="0" tIns="0" rIns="0" bIns="0" rtlCol="0" anchor="ctr"/>
          <a:lstStyle/>
          <a:p>
            <a:pPr indent="0" marL="0">
              <a:buNone/>
            </a:pPr>
            <a:r>
              <a:rPr lang="en-US" sz="1400" dirty="0">
                <a:solidFill>
                  <a:schemeClr val="tx1"/>
                </a:solidFill>
              </a:rPr>
              <a:t>episodios sin los 4 dudosos (se reportan ambas métricas)</a:t>
            </a:r>
            <a:endParaRPr lang="en-US" sz="1400" dirty="0"/>
          </a:p>
        </p:txBody>
      </p:sp>
      <p:pic>
        <p:nvPicPr>
          <p:cNvPr id="13" name="Figura serie temporal" descr="/home/claude/ppt/img/serie_maceta01_modelado.png">    </p:cNvPr>
          <p:cNvPicPr>
            <a:picLocks noChangeAspect="1"/>
          </p:cNvPicPr>
          <p:nvPr/>
        </p:nvPicPr>
        <p:blipFill>
          <a:blip r:embed="rId1"/>
          <a:stretch>
            <a:fillRect/>
          </a:stretch>
        </p:blipFill>
        <p:spPr>
          <a:xfrm>
            <a:off x="548640" y="2926080"/>
            <a:ext cx="5669280" cy="3017520"/>
          </a:xfrm>
          <a:prstGeom prst="rect">
            <a:avLst/>
          </a:prstGeom>
        </p:spPr>
      </p:pic>
      <p:sp>
        <p:nvSpPr>
          <p:cNvPr id="14" name="Text 11"/>
          <p:cNvSpPr txBox="1"/>
          <p:nvPr/>
        </p:nvSpPr>
        <p:spPr>
          <a:xfrm>
            <a:off x="548640" y="5961888"/>
            <a:ext cx="5669280" cy="274320"/>
          </a:xfrm>
          <a:prstGeom prst="rect">
            <a:avLst/>
          </a:prstGeom>
          <a:noFill/>
          <a:ln/>
        </p:spPr>
        <p:txBody>
          <a:bodyPr wrap="square" lIns="0" tIns="0" rIns="0" bIns="0" rtlCol="0" anchor="t"/>
          <a:lstStyle/>
          <a:p>
            <a:pPr indent="0" marL="0">
              <a:buNone/>
            </a:pPr>
            <a:r>
              <a:rPr lang="en-US" sz="1100" i="1" dirty="0">
                <a:solidFill>
                  <a:schemeClr val="accent5"/>
                </a:solidFill>
              </a:rPr>
              <a:t>Suelo (arriba) y temperatura (abajo) por episodio: huecos de datos y deriva de la sonda.</a:t>
            </a:r>
            <a:endParaRPr lang="en-US" sz="1100" dirty="0"/>
          </a:p>
        </p:txBody>
      </p:sp>
      <p:sp>
        <p:nvSpPr>
          <p:cNvPr id="15" name="Text 12"/>
          <p:cNvSpPr txBox="1"/>
          <p:nvPr/>
        </p:nvSpPr>
        <p:spPr>
          <a:xfrm>
            <a:off x="6537960" y="2926080"/>
            <a:ext cx="5102352" cy="365760"/>
          </a:xfrm>
          <a:prstGeom prst="rect">
            <a:avLst/>
          </a:prstGeom>
          <a:noFill/>
          <a:ln/>
        </p:spPr>
        <p:txBody>
          <a:bodyPr wrap="square" lIns="0" tIns="0" rIns="0" bIns="0" rtlCol="0" anchor="t"/>
          <a:lstStyle/>
          <a:p>
            <a:pPr indent="0" marL="0">
              <a:buNone/>
            </a:pPr>
            <a:r>
              <a:rPr lang="en-US" sz="1800" b="1" dirty="0">
                <a:solidFill>
                  <a:schemeClr val="tx2"/>
                </a:solidFill>
              </a:rPr>
              <a:t>Cómo se prepararon</a:t>
            </a:r>
            <a:endParaRPr lang="en-US" sz="1800" dirty="0"/>
          </a:p>
        </p:txBody>
      </p:sp>
      <p:sp>
        <p:nvSpPr>
          <p:cNvPr id="16" name="Text 13"/>
          <p:cNvSpPr txBox="1"/>
          <p:nvPr/>
        </p:nvSpPr>
        <p:spPr>
          <a:xfrm>
            <a:off x="6537960" y="3456432"/>
            <a:ext cx="1234440" cy="292608"/>
          </a:xfrm>
          <a:prstGeom prst="rect">
            <a:avLst/>
          </a:prstGeom>
          <a:noFill/>
          <a:ln/>
        </p:spPr>
        <p:txBody>
          <a:bodyPr wrap="square" lIns="0" tIns="0" rIns="0" bIns="0" rtlCol="0" anchor="t"/>
          <a:lstStyle/>
          <a:p>
            <a:pPr indent="0" marL="0">
              <a:buNone/>
            </a:pPr>
            <a:r>
              <a:rPr lang="en-US" sz="1400" b="1" dirty="0">
                <a:solidFill>
                  <a:schemeClr val="accent4"/>
                </a:solidFill>
              </a:rPr>
              <a:t>Etiquetado</a:t>
            </a:r>
            <a:endParaRPr lang="en-US" sz="1400" dirty="0"/>
          </a:p>
        </p:txBody>
      </p:sp>
      <p:sp>
        <p:nvSpPr>
          <p:cNvPr id="17" name="Text 14"/>
          <p:cNvSpPr txBox="1"/>
          <p:nvPr/>
        </p:nvSpPr>
        <p:spPr>
          <a:xfrm>
            <a:off x="7818120" y="3456432"/>
            <a:ext cx="3822192" cy="685800"/>
          </a:xfrm>
          <a:prstGeom prst="rect">
            <a:avLst/>
          </a:prstGeom>
          <a:noFill/>
          <a:ln/>
        </p:spPr>
        <p:txBody>
          <a:bodyPr wrap="square" lIns="0" tIns="0" rIns="0" bIns="0" rtlCol="0" anchor="t"/>
          <a:lstStyle/>
          <a:p>
            <a:pPr indent="0" marL="0">
              <a:buNone/>
            </a:pPr>
            <a:r>
              <a:rPr lang="en-US" sz="1400" dirty="0">
                <a:solidFill>
                  <a:schemeClr val="tx1"/>
                </a:solidFill>
              </a:rPr>
              <a:t>Un botón registra la clase en cada observación manual; las muestras siguientes la heredan y forman un episodio.</a:t>
            </a:r>
            <a:endParaRPr lang="en-US" sz="1400" dirty="0"/>
          </a:p>
        </p:txBody>
      </p:sp>
      <p:sp>
        <p:nvSpPr>
          <p:cNvPr id="18" name="Text 15"/>
          <p:cNvSpPr txBox="1"/>
          <p:nvPr/>
        </p:nvSpPr>
        <p:spPr>
          <a:xfrm>
            <a:off x="6537960" y="4325112"/>
            <a:ext cx="1234440" cy="292608"/>
          </a:xfrm>
          <a:prstGeom prst="rect">
            <a:avLst/>
          </a:prstGeom>
          <a:noFill/>
          <a:ln/>
        </p:spPr>
        <p:txBody>
          <a:bodyPr wrap="square" lIns="0" tIns="0" rIns="0" bIns="0" rtlCol="0" anchor="t"/>
          <a:lstStyle/>
          <a:p>
            <a:pPr indent="0" marL="0">
              <a:buNone/>
            </a:pPr>
            <a:r>
              <a:rPr lang="en-US" sz="1400" b="1" dirty="0">
                <a:solidFill>
                  <a:schemeClr val="accent4"/>
                </a:solidFill>
              </a:rPr>
              <a:t>Remuestreo</a:t>
            </a:r>
            <a:endParaRPr lang="en-US" sz="1400" dirty="0"/>
          </a:p>
        </p:txBody>
      </p:sp>
      <p:sp>
        <p:nvSpPr>
          <p:cNvPr id="19" name="Text 16"/>
          <p:cNvSpPr txBox="1"/>
          <p:nvPr/>
        </p:nvSpPr>
        <p:spPr>
          <a:xfrm>
            <a:off x="7818120" y="4325112"/>
            <a:ext cx="3822192" cy="292608"/>
          </a:xfrm>
          <a:prstGeom prst="rect">
            <a:avLst/>
          </a:prstGeom>
          <a:noFill/>
          <a:ln/>
        </p:spPr>
        <p:txBody>
          <a:bodyPr wrap="square" lIns="0" tIns="0" rIns="0" bIns="0" rtlCol="0" anchor="t"/>
          <a:lstStyle/>
          <a:p>
            <a:pPr indent="0" marL="0">
              <a:buNone/>
            </a:pPr>
            <a:r>
              <a:rPr lang="en-US" sz="1400" dirty="0">
                <a:solidFill>
                  <a:schemeClr val="tx1"/>
                </a:solidFill>
              </a:rPr>
              <a:t>A 5 minutos, con la mediana.</a:t>
            </a:r>
            <a:endParaRPr lang="en-US" sz="1400" dirty="0"/>
          </a:p>
        </p:txBody>
      </p:sp>
      <p:sp>
        <p:nvSpPr>
          <p:cNvPr id="20" name="Text 17"/>
          <p:cNvSpPr txBox="1"/>
          <p:nvPr/>
        </p:nvSpPr>
        <p:spPr>
          <a:xfrm>
            <a:off x="6537960" y="4800600"/>
            <a:ext cx="1234440" cy="292608"/>
          </a:xfrm>
          <a:prstGeom prst="rect">
            <a:avLst/>
          </a:prstGeom>
          <a:noFill/>
          <a:ln/>
        </p:spPr>
        <p:txBody>
          <a:bodyPr wrap="square" lIns="0" tIns="0" rIns="0" bIns="0" rtlCol="0" anchor="t"/>
          <a:lstStyle/>
          <a:p>
            <a:pPr indent="0" marL="0">
              <a:buNone/>
            </a:pPr>
            <a:r>
              <a:rPr lang="en-US" sz="1400" b="1" dirty="0">
                <a:solidFill>
                  <a:schemeClr val="accent4"/>
                </a:solidFill>
              </a:rPr>
              <a:t>Descartes</a:t>
            </a:r>
            <a:endParaRPr lang="en-US" sz="1400" dirty="0"/>
          </a:p>
        </p:txBody>
      </p:sp>
      <p:sp>
        <p:nvSpPr>
          <p:cNvPr id="21" name="Text 18"/>
          <p:cNvSpPr txBox="1"/>
          <p:nvPr/>
        </p:nvSpPr>
        <p:spPr>
          <a:xfrm>
            <a:off x="7818120" y="4800600"/>
            <a:ext cx="3822192" cy="685800"/>
          </a:xfrm>
          <a:prstGeom prst="rect">
            <a:avLst/>
          </a:prstGeom>
          <a:noFill/>
          <a:ln/>
        </p:spPr>
        <p:txBody>
          <a:bodyPr wrap="square" lIns="0" tIns="0" rIns="0" bIns="0" rtlCol="0" anchor="t"/>
          <a:lstStyle/>
          <a:p>
            <a:pPr indent="0" marL="0">
              <a:buNone/>
            </a:pPr>
            <a:r>
              <a:rPr lang="en-US" sz="1400" dirty="0">
                <a:solidFill>
                  <a:schemeClr val="tx1"/>
                </a:solidFill>
              </a:rPr>
              <a:t>La 1.ª hora tras cada arranque (transitorio de la sonda), las lecturas saturadas y las filas sin episodio.</a:t>
            </a:r>
            <a:endParaRPr lang="en-US" sz="1400" dirty="0"/>
          </a:p>
        </p:txBody>
      </p:sp>
      <p:sp>
        <p:nvSpPr>
          <p:cNvPr id="22" name="Text 19"/>
          <p:cNvSpPr txBox="1"/>
          <p:nvPr/>
        </p:nvSpPr>
        <p:spPr>
          <a:xfrm>
            <a:off x="6537960" y="5669280"/>
            <a:ext cx="1234440" cy="292608"/>
          </a:xfrm>
          <a:prstGeom prst="rect">
            <a:avLst/>
          </a:prstGeom>
          <a:noFill/>
          <a:ln/>
        </p:spPr>
        <p:txBody>
          <a:bodyPr wrap="square" lIns="0" tIns="0" rIns="0" bIns="0" rtlCol="0" anchor="t"/>
          <a:lstStyle/>
          <a:p>
            <a:pPr indent="0" marL="0">
              <a:buNone/>
            </a:pPr>
            <a:r>
              <a:rPr lang="en-US" sz="1400" b="1" dirty="0">
                <a:solidFill>
                  <a:schemeClr val="accent4"/>
                </a:solidFill>
              </a:rPr>
              <a:t>Huecos</a:t>
            </a:r>
            <a:endParaRPr lang="en-US" sz="1400" dirty="0"/>
          </a:p>
        </p:txBody>
      </p:sp>
      <p:sp>
        <p:nvSpPr>
          <p:cNvPr id="23" name="Text 20"/>
          <p:cNvSpPr txBox="1"/>
          <p:nvPr/>
        </p:nvSpPr>
        <p:spPr>
          <a:xfrm>
            <a:off x="7818120" y="5669280"/>
            <a:ext cx="3822192" cy="457200"/>
          </a:xfrm>
          <a:prstGeom prst="rect">
            <a:avLst/>
          </a:prstGeom>
          <a:noFill/>
          <a:ln/>
        </p:spPr>
        <p:txBody>
          <a:bodyPr wrap="square" lIns="0" tIns="0" rIns="0" bIns="0" rtlCol="0" anchor="t"/>
          <a:lstStyle/>
          <a:p>
            <a:pPr indent="0" marL="0">
              <a:buNone/>
            </a:pPr>
            <a:r>
              <a:rPr lang="en-US" sz="1400" dirty="0">
                <a:solidFill>
                  <a:schemeClr val="tx1"/>
                </a:solidFill>
              </a:rPr>
              <a:t>Los días sin registro (p. ej. 04/10–17/10) quedan sin interpolar.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PREPARACIÓN DE LOS DATOS</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Tres problemas en los datos</a:t>
            </a:r>
            <a:endParaRPr lang="en-US" sz="3600" dirty="0"/>
          </a:p>
        </p:txBody>
      </p:sp>
      <p:sp>
        <p:nvSpPr>
          <p:cNvPr id="4" name="Deriva de la sonda por corrosión"/>
          <p:cNvSpPr/>
          <p:nvPr/>
        </p:nvSpPr>
        <p:spPr>
          <a:xfrm>
            <a:off x="548640" y="1645920"/>
            <a:ext cx="5212080" cy="1371600"/>
          </a:xfrm>
          <a:prstGeom prst="roundRect">
            <a:avLst>
              <a:gd name="adj" fmla="val 5333"/>
            </a:avLst>
          </a:prstGeom>
          <a:solidFill>
            <a:schemeClr val="bg2"/>
          </a:solidFill>
          <a:ln/>
        </p:spPr>
      </p:sp>
      <p:sp>
        <p:nvSpPr>
          <p:cNvPr id="5" name="Deriva de la sonda por corrosión círculo"/>
          <p:cNvSpPr/>
          <p:nvPr/>
        </p:nvSpPr>
        <p:spPr>
          <a:xfrm>
            <a:off x="777240" y="1874520"/>
            <a:ext cx="566928" cy="566928"/>
          </a:xfrm>
          <a:prstGeom prst="ellipse">
            <a:avLst/>
          </a:prstGeom>
          <a:solidFill>
            <a:schemeClr val="tx2"/>
          </a:solidFill>
          <a:ln/>
        </p:spPr>
      </p:sp>
      <p:pic>
        <p:nvPicPr>
          <p:cNvPr id="6" name="Deriva de la sonda por corrosión icono" descr="preencoded.png">    </p:cNvPr>
          <p:cNvPicPr>
            <a:picLocks noChangeAspect="1"/>
          </p:cNvPicPr>
          <p:nvPr/>
        </p:nvPicPr>
        <p:blipFill>
          <a:blip r:embed="rId1"/>
          <a:stretch>
            <a:fillRect/>
          </a:stretch>
        </p:blipFill>
        <p:spPr>
          <a:xfrm>
            <a:off x="913303" y="2010583"/>
            <a:ext cx="294803" cy="294803"/>
          </a:xfrm>
          <a:prstGeom prst="rect">
            <a:avLst/>
          </a:prstGeom>
        </p:spPr>
      </p:pic>
      <p:sp>
        <p:nvSpPr>
          <p:cNvPr id="7" name="Text 4"/>
          <p:cNvSpPr txBox="1"/>
          <p:nvPr/>
        </p:nvSpPr>
        <p:spPr>
          <a:xfrm>
            <a:off x="1554480" y="1828800"/>
            <a:ext cx="4023360" cy="365760"/>
          </a:xfrm>
          <a:prstGeom prst="rect">
            <a:avLst/>
          </a:prstGeom>
          <a:noFill/>
          <a:ln/>
        </p:spPr>
        <p:txBody>
          <a:bodyPr wrap="square" lIns="0" tIns="0" rIns="0" bIns="0" rtlCol="0" anchor="ctr"/>
          <a:lstStyle/>
          <a:p>
            <a:pPr indent="0" marL="0">
              <a:buNone/>
            </a:pPr>
            <a:r>
              <a:rPr lang="en-US" sz="1600" b="1" dirty="0">
                <a:solidFill>
                  <a:schemeClr val="tx2"/>
                </a:solidFill>
              </a:rPr>
              <a:t>Deriva de la sonda por corrosión</a:t>
            </a:r>
            <a:endParaRPr lang="en-US" sz="1600" dirty="0"/>
          </a:p>
        </p:txBody>
      </p:sp>
      <p:sp>
        <p:nvSpPr>
          <p:cNvPr id="8" name="Text 5"/>
          <p:cNvSpPr txBox="1"/>
          <p:nvPr/>
        </p:nvSpPr>
        <p:spPr>
          <a:xfrm>
            <a:off x="1554480" y="2212848"/>
            <a:ext cx="4023360" cy="685800"/>
          </a:xfrm>
          <a:prstGeom prst="rect">
            <a:avLst/>
          </a:prstGeom>
          <a:noFill/>
          <a:ln/>
        </p:spPr>
        <p:txBody>
          <a:bodyPr wrap="square" lIns="0" tIns="0" rIns="0" bIns="0" rtlCol="0" anchor="t"/>
          <a:lstStyle/>
          <a:p>
            <a:pPr indent="0" marL="0">
              <a:buNone/>
            </a:pPr>
            <a:r>
              <a:rPr lang="en-US" sz="1400" dirty="0">
                <a:solidFill>
                  <a:schemeClr val="tx1"/>
                </a:solidFill>
              </a:rPr>
              <a:t>La clase marchita pasó de ≈ 2830 mV en septiembre a ≈ 1760 mV en octubre.</a:t>
            </a:r>
            <a:endParaRPr lang="en-US" sz="1400" dirty="0"/>
          </a:p>
        </p:txBody>
      </p:sp>
      <p:sp>
        <p:nvSpPr>
          <p:cNvPr id="9" name="Marchitez observada sólo de noche"/>
          <p:cNvSpPr/>
          <p:nvPr/>
        </p:nvSpPr>
        <p:spPr>
          <a:xfrm>
            <a:off x="548640" y="3218688"/>
            <a:ext cx="5212080" cy="1371600"/>
          </a:xfrm>
          <a:prstGeom prst="roundRect">
            <a:avLst>
              <a:gd name="adj" fmla="val 5333"/>
            </a:avLst>
          </a:prstGeom>
          <a:solidFill>
            <a:schemeClr val="bg2"/>
          </a:solidFill>
          <a:ln/>
        </p:spPr>
      </p:sp>
      <p:sp>
        <p:nvSpPr>
          <p:cNvPr id="10" name="Marchitez observada sólo de noche círculo"/>
          <p:cNvSpPr/>
          <p:nvPr/>
        </p:nvSpPr>
        <p:spPr>
          <a:xfrm>
            <a:off x="777240" y="3447288"/>
            <a:ext cx="566928" cy="566928"/>
          </a:xfrm>
          <a:prstGeom prst="ellipse">
            <a:avLst/>
          </a:prstGeom>
          <a:solidFill>
            <a:schemeClr val="tx2"/>
          </a:solidFill>
          <a:ln/>
        </p:spPr>
      </p:sp>
      <p:pic>
        <p:nvPicPr>
          <p:cNvPr id="11" name="Marchitez observada sólo de noche icono" descr="preencoded.png">    </p:cNvPr>
          <p:cNvPicPr>
            <a:picLocks noChangeAspect="1"/>
          </p:cNvPicPr>
          <p:nvPr/>
        </p:nvPicPr>
        <p:blipFill>
          <a:blip r:embed="rId2"/>
          <a:stretch>
            <a:fillRect/>
          </a:stretch>
        </p:blipFill>
        <p:spPr>
          <a:xfrm>
            <a:off x="913303" y="3583351"/>
            <a:ext cx="294803" cy="294803"/>
          </a:xfrm>
          <a:prstGeom prst="rect">
            <a:avLst/>
          </a:prstGeom>
        </p:spPr>
      </p:pic>
      <p:sp>
        <p:nvSpPr>
          <p:cNvPr id="12" name="Text 8"/>
          <p:cNvSpPr txBox="1"/>
          <p:nvPr/>
        </p:nvSpPr>
        <p:spPr>
          <a:xfrm>
            <a:off x="1554480" y="3401568"/>
            <a:ext cx="4023360" cy="365760"/>
          </a:xfrm>
          <a:prstGeom prst="rect">
            <a:avLst/>
          </a:prstGeom>
          <a:noFill/>
          <a:ln/>
        </p:spPr>
        <p:txBody>
          <a:bodyPr wrap="square" lIns="0" tIns="0" rIns="0" bIns="0" rtlCol="0" anchor="ctr"/>
          <a:lstStyle/>
          <a:p>
            <a:pPr indent="0" marL="0">
              <a:buNone/>
            </a:pPr>
            <a:r>
              <a:rPr lang="en-US" sz="1600" b="1" dirty="0">
                <a:solidFill>
                  <a:schemeClr val="tx2"/>
                </a:solidFill>
              </a:rPr>
              <a:t>Marchitez observada sólo de noche</a:t>
            </a:r>
            <a:endParaRPr lang="en-US" sz="1600" dirty="0"/>
          </a:p>
        </p:txBody>
      </p:sp>
      <p:sp>
        <p:nvSpPr>
          <p:cNvPr id="13" name="Text 9"/>
          <p:cNvSpPr txBox="1"/>
          <p:nvPr/>
        </p:nvSpPr>
        <p:spPr>
          <a:xfrm>
            <a:off x="1554480" y="3785616"/>
            <a:ext cx="4023360" cy="685800"/>
          </a:xfrm>
          <a:prstGeom prst="rect">
            <a:avLst/>
          </a:prstGeom>
          <a:noFill/>
          <a:ln/>
        </p:spPr>
        <p:txBody>
          <a:bodyPr wrap="square" lIns="0" tIns="0" rIns="0" bIns="0" rtlCol="0" anchor="t"/>
          <a:lstStyle/>
          <a:p>
            <a:pPr indent="0" marL="0">
              <a:buNone/>
            </a:pPr>
            <a:r>
              <a:rPr lang="en-US" sz="1400" dirty="0">
                <a:solidFill>
                  <a:schemeClr val="tx1"/>
                </a:solidFill>
              </a:rPr>
              <a:t>V de Cramér entre franja horaria y clase: 0,47. Riesgo: aprender la hora, no el estado.</a:t>
            </a:r>
            <a:endParaRPr lang="en-US" sz="1400" dirty="0"/>
          </a:p>
        </p:txBody>
      </p:sp>
      <p:sp>
        <p:nvSpPr>
          <p:cNvPr id="14" name="Etiquetas en conflicto"/>
          <p:cNvSpPr/>
          <p:nvPr/>
        </p:nvSpPr>
        <p:spPr>
          <a:xfrm>
            <a:off x="548640" y="4791456"/>
            <a:ext cx="5212080" cy="1371600"/>
          </a:xfrm>
          <a:prstGeom prst="roundRect">
            <a:avLst>
              <a:gd name="adj" fmla="val 5333"/>
            </a:avLst>
          </a:prstGeom>
          <a:solidFill>
            <a:schemeClr val="bg2"/>
          </a:solidFill>
          <a:ln/>
        </p:spPr>
      </p:sp>
      <p:sp>
        <p:nvSpPr>
          <p:cNvPr id="15" name="Etiquetas en conflicto círculo"/>
          <p:cNvSpPr/>
          <p:nvPr/>
        </p:nvSpPr>
        <p:spPr>
          <a:xfrm>
            <a:off x="777240" y="5020056"/>
            <a:ext cx="566928" cy="566928"/>
          </a:xfrm>
          <a:prstGeom prst="ellipse">
            <a:avLst/>
          </a:prstGeom>
          <a:solidFill>
            <a:schemeClr val="tx2"/>
          </a:solidFill>
          <a:ln/>
        </p:spPr>
      </p:sp>
      <p:pic>
        <p:nvPicPr>
          <p:cNvPr id="16" name="Etiquetas en conflicto icono" descr="preencoded.png">    </p:cNvPr>
          <p:cNvPicPr>
            <a:picLocks noChangeAspect="1"/>
          </p:cNvPicPr>
          <p:nvPr/>
        </p:nvPicPr>
        <p:blipFill>
          <a:blip r:embed="rId3"/>
          <a:stretch>
            <a:fillRect/>
          </a:stretch>
        </p:blipFill>
        <p:spPr>
          <a:xfrm>
            <a:off x="913303" y="5156119"/>
            <a:ext cx="294803" cy="294803"/>
          </a:xfrm>
          <a:prstGeom prst="rect">
            <a:avLst/>
          </a:prstGeom>
        </p:spPr>
      </p:pic>
      <p:sp>
        <p:nvSpPr>
          <p:cNvPr id="17" name="Text 12"/>
          <p:cNvSpPr txBox="1"/>
          <p:nvPr/>
        </p:nvSpPr>
        <p:spPr>
          <a:xfrm>
            <a:off x="1554480" y="4974336"/>
            <a:ext cx="4023360" cy="365760"/>
          </a:xfrm>
          <a:prstGeom prst="rect">
            <a:avLst/>
          </a:prstGeom>
          <a:noFill/>
          <a:ln/>
        </p:spPr>
        <p:txBody>
          <a:bodyPr wrap="square" lIns="0" tIns="0" rIns="0" bIns="0" rtlCol="0" anchor="ctr"/>
          <a:lstStyle/>
          <a:p>
            <a:pPr indent="0" marL="0">
              <a:buNone/>
            </a:pPr>
            <a:r>
              <a:rPr lang="en-US" sz="1600" b="1" dirty="0">
                <a:solidFill>
                  <a:schemeClr val="tx2"/>
                </a:solidFill>
              </a:rPr>
              <a:t>Etiquetas en conflicto</a:t>
            </a:r>
            <a:endParaRPr lang="en-US" sz="1600" dirty="0"/>
          </a:p>
        </p:txBody>
      </p:sp>
      <p:sp>
        <p:nvSpPr>
          <p:cNvPr id="18" name="Text 13"/>
          <p:cNvSpPr txBox="1"/>
          <p:nvPr/>
        </p:nvSpPr>
        <p:spPr>
          <a:xfrm>
            <a:off x="1554480" y="5358384"/>
            <a:ext cx="4023360" cy="685800"/>
          </a:xfrm>
          <a:prstGeom prst="rect">
            <a:avLst/>
          </a:prstGeom>
          <a:noFill/>
          <a:ln/>
        </p:spPr>
        <p:txBody>
          <a:bodyPr wrap="square" lIns="0" tIns="0" rIns="0" bIns="0" rtlCol="0" anchor="t"/>
          <a:lstStyle/>
          <a:p>
            <a:pPr indent="0" marL="0">
              <a:buNone/>
            </a:pPr>
            <a:r>
              <a:rPr lang="en-US" sz="1400" dirty="0">
                <a:solidFill>
                  <a:schemeClr val="tx1"/>
                </a:solidFill>
              </a:rPr>
              <a:t>El 19/10 hubo marchita (1756 mV) y estresada (1796 mV) con lecturas casi iguales.</a:t>
            </a:r>
            <a:endParaRPr lang="en-US" sz="1400" dirty="0"/>
          </a:p>
        </p:txBody>
      </p:sp>
      <p:pic>
        <p:nvPicPr>
          <p:cNvPr id="19" name="Figura clase por hora" descr="/home/claude/ppt/img/auditoria_hora_por_clase.png">    </p:cNvPr>
          <p:cNvPicPr>
            <a:picLocks noChangeAspect="1"/>
          </p:cNvPicPr>
          <p:nvPr/>
        </p:nvPicPr>
        <p:blipFill>
          <a:blip r:embed="rId4"/>
          <a:stretch>
            <a:fillRect/>
          </a:stretch>
        </p:blipFill>
        <p:spPr>
          <a:xfrm>
            <a:off x="6126480" y="1828800"/>
            <a:ext cx="5513832" cy="3099816"/>
          </a:xfrm>
          <a:prstGeom prst="rect">
            <a:avLst/>
          </a:prstGeom>
        </p:spPr>
      </p:pic>
      <p:sp>
        <p:nvSpPr>
          <p:cNvPr id="20" name="Text 14"/>
          <p:cNvSpPr txBox="1"/>
          <p:nvPr/>
        </p:nvSpPr>
        <p:spPr>
          <a:xfrm>
            <a:off x="6126480" y="5029200"/>
            <a:ext cx="5513832" cy="274320"/>
          </a:xfrm>
          <a:prstGeom prst="rect">
            <a:avLst/>
          </a:prstGeom>
          <a:noFill/>
          <a:ln/>
        </p:spPr>
        <p:txBody>
          <a:bodyPr wrap="square" lIns="0" tIns="0" rIns="0" bIns="0" rtlCol="0" anchor="t"/>
          <a:lstStyle/>
          <a:p>
            <a:pPr indent="0" marL="0">
              <a:buNone/>
            </a:pPr>
            <a:r>
              <a:rPr lang="en-US" sz="1100" i="1" dirty="0">
                <a:solidFill>
                  <a:schemeClr val="accent5"/>
                </a:solidFill>
              </a:rPr>
              <a:t>% de filas de cada clase por hora del día: las marchitas se concentran de noche.</a:t>
            </a:r>
            <a:endParaRPr lang="en-US" sz="1100" dirty="0"/>
          </a:p>
        </p:txBody>
      </p:sp>
      <p:sp>
        <p:nvSpPr>
          <p:cNvPr id="21" name="Text 15"/>
          <p:cNvSpPr txBox="1"/>
          <p:nvPr/>
        </p:nvSpPr>
        <p:spPr>
          <a:xfrm>
            <a:off x="6126480" y="5623560"/>
            <a:ext cx="5513832" cy="411480"/>
          </a:xfrm>
          <a:prstGeom prst="rect">
            <a:avLst/>
          </a:prstGeom>
          <a:noFill/>
          <a:ln/>
        </p:spPr>
        <p:txBody>
          <a:bodyPr wrap="square" lIns="0" tIns="0" rIns="0" bIns="0" rtlCol="0" anchor="ctr"/>
          <a:lstStyle/>
          <a:p>
            <a:pPr indent="0" marL="0">
              <a:buNone/>
            </a:pPr>
            <a:r>
              <a:rPr lang="en-US" sz="1600" b="1" dirty="0">
                <a:solidFill>
                  <a:schemeClr val="accent3"/>
                </a:solidFill>
              </a:rPr>
              <a:t>Estos factores limitan la generalización del modelo.</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FEATURE ENGINEERING Y VARIABLE OBJETIVO</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Siete features que calcula la placa</a:t>
            </a:r>
            <a:endParaRPr lang="en-US" sz="3600" dirty="0"/>
          </a:p>
        </p:txBody>
      </p:sp>
      <p:graphicFrame>
        <p:nvGraphicFramePr>
          <p:cNvPr id="7" name="Tabla features"/>
          <p:cNvGraphicFramePr>
            <a:graphicFrameLocks noGrp="1"/>
          </p:cNvGraphicFramePr>
          <p:nvPr>
            <p:extLst>
              <p:ext uri="{D42A27DB-BD31-4B8C-83A1-F6EECF244321}">
                <p14:modId xmlns:p14="http://schemas.microsoft.com/office/powerpoint/2010/main" val="1579011935"/>
              </p:ext>
            </p:extLst>
          </p:nvPr>
        </p:nvGraphicFramePr>
        <p:xfrm>
          <a:off x="548640" y="1645920"/>
          <a:ext cx="7315200" cy="914400"/>
        </p:xfrm>
        <a:graphic>
          <a:graphicData uri="http://schemas.openxmlformats.org/drawingml/2006/table">
            <a:tbl>
              <a:tblPr/>
              <a:tblGrid>
                <a:gridCol w="457200"/>
                <a:gridCol w="2011680"/>
                <a:gridCol w="4846320"/>
              </a:tblGrid>
              <a:tr h="438912">
                <a:tc>
                  <a:txBody>
                    <a:bodyPr/>
                    <a:lstStyle/>
                    <a:p>
                      <a:pPr indent="0" marL="0">
                        <a:buNone/>
                      </a:pPr>
                      <a:r>
                        <a:rPr lang="en-US" sz="1400" b="1" dirty="0">
                          <a:solidFill>
                            <a:schemeClr val="bg1"/>
                          </a:solidFill>
                        </a:rPr>
                        <a:t>#</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Feature</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Descripción</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r>
              <a:tr h="438912">
                <a:tc>
                  <a:txBody>
                    <a:bodyPr/>
                    <a:lstStyle/>
                    <a:p>
                      <a:pPr algn="ctr" indent="0" marL="0">
                        <a:buNone/>
                      </a:pPr>
                      <a:r>
                        <a:rPr lang="en-US" sz="1400" dirty="0">
                          <a:solidFill>
                            <a:schemeClr val="tx1"/>
                          </a:solidFill>
                        </a:rPr>
                        <a:t>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suelo_mv</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indent="0" marL="0">
                        <a:buNone/>
                      </a:pPr>
                      <a:r>
                        <a:rPr lang="en-US" sz="1400" dirty="0">
                          <a:solidFill>
                            <a:schemeClr val="tx1"/>
                          </a:solidFill>
                        </a:rPr>
                        <a:t>Sonda de suelo, mediana de 9 lecturas (mV; más alto = más seco)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r>
              <a:tr h="438912">
                <a:tc>
                  <a:txBody>
                    <a:bodyPr/>
                    <a:lstStyle/>
                    <a:p>
                      <a:pPr algn="ctr" indent="0" marL="0">
                        <a:buNone/>
                      </a:pPr>
                      <a:r>
                        <a:rPr lang="en-US" sz="1400" dirty="0">
                          <a:solidFill>
                            <a:schemeClr val="tx1"/>
                          </a:solidFill>
                        </a:rPr>
                        <a:t>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suelo_delta_1h</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Cambio de suelo_mv en la última hora</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438912">
                <a:tc>
                  <a:txBody>
                    <a:bodyPr/>
                    <a:lstStyle/>
                    <a:p>
                      <a:pPr algn="ctr" indent="0" marL="0">
                        <a:buNone/>
                      </a:pPr>
                      <a:r>
                        <a:rPr lang="en-US" sz="1400" dirty="0">
                          <a:solidFill>
                            <a:schemeClr val="tx1"/>
                          </a:solidFill>
                        </a:rPr>
                        <a:t>2</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temp_c</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indent="0" marL="0">
                        <a:buNone/>
                      </a:pPr>
                      <a:r>
                        <a:rPr lang="en-US" sz="1400" dirty="0">
                          <a:solidFill>
                            <a:schemeClr val="tx1"/>
                          </a:solidFill>
                        </a:rPr>
                        <a:t>Temperatura del aire (DHT11)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r>
              <a:tr h="438912">
                <a:tc>
                  <a:txBody>
                    <a:bodyPr/>
                    <a:lstStyle/>
                    <a:p>
                      <a:pPr algn="ctr" indent="0" marL="0">
                        <a:buNone/>
                      </a:pPr>
                      <a:r>
                        <a:rPr lang="en-US" sz="1400" dirty="0">
                          <a:solidFill>
                            <a:schemeClr val="tx1"/>
                          </a:solidFill>
                        </a:rPr>
                        <a:t>3</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hum_aire_pct</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Humedad relativa del aire (DHT11)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438912">
                <a:tc>
                  <a:txBody>
                    <a:bodyPr/>
                    <a:lstStyle/>
                    <a:p>
                      <a:pPr algn="ctr" indent="0" marL="0">
                        <a:buNone/>
                      </a:pPr>
                      <a:r>
                        <a:rPr lang="en-US" sz="1400" dirty="0">
                          <a:solidFill>
                            <a:schemeClr val="tx1"/>
                          </a:solidFill>
                        </a:rPr>
                        <a:t>4</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vpd_kpa</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Déficit de presión de vapor (temperatura + humedad)</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438912">
                <a:tc>
                  <a:txBody>
                    <a:bodyPr/>
                    <a:lstStyle/>
                    <a:p>
                      <a:pPr algn="ctr" indent="0" marL="0">
                        <a:buNone/>
                      </a:pPr>
                      <a:r>
                        <a:rPr lang="en-US" sz="1400" dirty="0">
                          <a:solidFill>
                            <a:schemeClr val="tx1"/>
                          </a:solidFill>
                        </a:rPr>
                        <a:t>5</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luz_mv</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Lectura del LDR, mediana de 9 muestras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438912">
                <a:tc>
                  <a:txBody>
                    <a:bodyPr/>
                    <a:lstStyle/>
                    <a:p>
                      <a:pPr algn="ctr" indent="0" marL="0">
                        <a:buNone/>
                      </a:pPr>
                      <a:r>
                        <a:rPr lang="en-US" sz="1400" dirty="0">
                          <a:solidFill>
                            <a:schemeClr val="tx1"/>
                          </a:solidFill>
                        </a:rPr>
                        <a:t>6</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luz_media_1h</a:t>
                      </a:r>
                      <a:endParaRPr lang="en-US" sz="1300" dirty="0">
                        <a:latin typeface="Courier New" charset="0"/>
                        <a:ea typeface="Courier New" charset="0"/>
                        <a:cs typeface="Courier New" charset="0"/>
                      </a:endParaRPr>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Media de la luz en la última hora</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5349240"/>
            <a:ext cx="201168" cy="201168"/>
          </a:xfrm>
          <a:prstGeom prst="rect">
            <a:avLst/>
          </a:prstGeom>
          <a:solidFill>
            <a:schemeClr val="accent1">
              <a:alpha val="15000"/>
            </a:schemeClr>
          </a:solidFill>
          <a:ln w="9525">
            <a:solidFill>
              <a:srgbClr val="C9D6CF"/>
            </a:solidFill>
            <a:prstDash val="solid"/>
          </a:ln>
        </p:spPr>
      </p:sp>
      <p:sp>
        <p:nvSpPr>
          <p:cNvPr id="6" name="Text 3"/>
          <p:cNvSpPr txBox="1"/>
          <p:nvPr/>
        </p:nvSpPr>
        <p:spPr>
          <a:xfrm>
            <a:off x="841248" y="5321808"/>
            <a:ext cx="3200400" cy="256032"/>
          </a:xfrm>
          <a:prstGeom prst="rect">
            <a:avLst/>
          </a:prstGeom>
          <a:noFill/>
          <a:ln/>
        </p:spPr>
        <p:txBody>
          <a:bodyPr wrap="square" lIns="0" tIns="0" rIns="0" bIns="0" rtlCol="0" anchor="ctr"/>
          <a:lstStyle/>
          <a:p>
            <a:pPr indent="0" marL="0">
              <a:buNone/>
            </a:pPr>
            <a:r>
              <a:rPr lang="en-US" sz="1200" dirty="0">
                <a:solidFill>
                  <a:schemeClr val="accent5"/>
                </a:solidFill>
              </a:rPr>
              <a:t>Las que usa el modelo final</a:t>
            </a:r>
            <a:endParaRPr lang="en-US" sz="1200" dirty="0"/>
          </a:p>
        </p:txBody>
      </p:sp>
      <p:sp>
        <p:nvSpPr>
          <p:cNvPr id="7" name="Text 4"/>
          <p:cNvSpPr txBox="1"/>
          <p:nvPr/>
        </p:nvSpPr>
        <p:spPr>
          <a:xfrm>
            <a:off x="548640" y="5669280"/>
            <a:ext cx="7315200" cy="502920"/>
          </a:xfrm>
          <a:prstGeom prst="rect">
            <a:avLst/>
          </a:prstGeom>
          <a:noFill/>
          <a:ln/>
        </p:spPr>
        <p:txBody>
          <a:bodyPr wrap="square" lIns="0" tIns="0" rIns="0" bIns="0" rtlCol="0" anchor="t"/>
          <a:lstStyle/>
          <a:p>
            <a:pPr indent="0" marL="0">
              <a:buNone/>
            </a:pPr>
            <a:r>
              <a:rPr lang="en-US" sz="1400" i="1" dirty="0">
                <a:solidFill>
                  <a:schemeClr val="tx2"/>
                </a:solidFill>
              </a:rPr>
              <a:t>Ventana de 13 muestras (1 h). Python y C++ implementan el mismo cálculo y se verificó que coinciden.</a:t>
            </a:r>
            <a:endParaRPr lang="en-US" sz="1400" dirty="0"/>
          </a:p>
        </p:txBody>
      </p:sp>
      <p:sp>
        <p:nvSpPr>
          <p:cNvPr id="8" name="Tarjeta target"/>
          <p:cNvSpPr/>
          <p:nvPr/>
        </p:nvSpPr>
        <p:spPr>
          <a:xfrm>
            <a:off x="8183880" y="1645920"/>
            <a:ext cx="3456432" cy="4526280"/>
          </a:xfrm>
          <a:prstGeom prst="roundRect">
            <a:avLst>
              <a:gd name="adj" fmla="val 2116"/>
            </a:avLst>
          </a:prstGeom>
          <a:solidFill>
            <a:schemeClr val="bg2"/>
          </a:solidFill>
          <a:ln/>
        </p:spPr>
      </p:sp>
      <p:sp>
        <p:nvSpPr>
          <p:cNvPr id="9" name="Text 6"/>
          <p:cNvSpPr txBox="1"/>
          <p:nvPr/>
        </p:nvSpPr>
        <p:spPr>
          <a:xfrm>
            <a:off x="8412480" y="1810512"/>
            <a:ext cx="3017520" cy="365760"/>
          </a:xfrm>
          <a:prstGeom prst="rect">
            <a:avLst/>
          </a:prstGeom>
          <a:noFill/>
          <a:ln/>
        </p:spPr>
        <p:txBody>
          <a:bodyPr wrap="square" lIns="0" tIns="0" rIns="0" bIns="0" rtlCol="0" anchor="ctr"/>
          <a:lstStyle/>
          <a:p>
            <a:pPr indent="0" marL="0">
              <a:buNone/>
            </a:pPr>
            <a:r>
              <a:rPr lang="en-US" sz="1600" b="1" dirty="0">
                <a:solidFill>
                  <a:schemeClr val="tx2"/>
                </a:solidFill>
              </a:rPr>
              <a:t>Variable objetivo: multiclase</a:t>
            </a:r>
            <a:endParaRPr lang="en-US" sz="1600" dirty="0"/>
          </a:p>
        </p:txBody>
      </p:sp>
      <p:sp>
        <p:nvSpPr>
          <p:cNvPr id="10" name="LED target saludable halo"/>
          <p:cNvSpPr/>
          <p:nvPr/>
        </p:nvSpPr>
        <p:spPr>
          <a:xfrm>
            <a:off x="8401873" y="2275393"/>
            <a:ext cx="514990" cy="514990"/>
          </a:xfrm>
          <a:prstGeom prst="ellipse">
            <a:avLst/>
          </a:prstGeom>
          <a:solidFill>
            <a:schemeClr val="accent1">
              <a:alpha val="28000"/>
            </a:schemeClr>
          </a:solidFill>
          <a:ln/>
        </p:spPr>
      </p:sp>
      <p:sp>
        <p:nvSpPr>
          <p:cNvPr id="11" name="LED target saludable"/>
          <p:cNvSpPr txBox="1"/>
          <p:nvPr/>
        </p:nvSpPr>
        <p:spPr>
          <a:xfrm>
            <a:off x="8458200" y="2331720"/>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9052560" y="2331720"/>
            <a:ext cx="2377440" cy="402336"/>
          </a:xfrm>
          <a:prstGeom prst="rect">
            <a:avLst/>
          </a:prstGeom>
          <a:noFill/>
          <a:ln/>
        </p:spPr>
        <p:txBody>
          <a:bodyPr wrap="square" lIns="0" tIns="0" rIns="0" bIns="0" rtlCol="0" anchor="ctr"/>
          <a:lstStyle/>
          <a:p>
            <a:pPr indent="0" marL="0">
              <a:buNone/>
            </a:pPr>
            <a:r>
              <a:rPr lang="en-US" sz="1600" b="1" dirty="0">
                <a:solidFill>
                  <a:schemeClr val="accent1"/>
                </a:solidFill>
              </a:rPr>
              <a:t>saludable</a:t>
            </a:r>
            <a:endParaRPr lang="en-US" sz="1600" dirty="0"/>
          </a:p>
        </p:txBody>
      </p:sp>
      <p:sp>
        <p:nvSpPr>
          <p:cNvPr id="13" name="LED target estresada halo"/>
          <p:cNvSpPr/>
          <p:nvPr/>
        </p:nvSpPr>
        <p:spPr>
          <a:xfrm>
            <a:off x="8401873" y="2842321"/>
            <a:ext cx="514990" cy="514990"/>
          </a:xfrm>
          <a:prstGeom prst="ellipse">
            <a:avLst/>
          </a:prstGeom>
          <a:solidFill>
            <a:schemeClr val="accent2">
              <a:alpha val="28000"/>
            </a:schemeClr>
          </a:solidFill>
          <a:ln/>
        </p:spPr>
      </p:sp>
      <p:sp>
        <p:nvSpPr>
          <p:cNvPr id="14" name="LED target estresada"/>
          <p:cNvSpPr txBox="1"/>
          <p:nvPr/>
        </p:nvSpPr>
        <p:spPr>
          <a:xfrm>
            <a:off x="8458200" y="2898648"/>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9052560" y="2898648"/>
            <a:ext cx="2377440" cy="402336"/>
          </a:xfrm>
          <a:prstGeom prst="rect">
            <a:avLst/>
          </a:prstGeom>
          <a:noFill/>
          <a:ln/>
        </p:spPr>
        <p:txBody>
          <a:bodyPr wrap="square" lIns="0" tIns="0" rIns="0" bIns="0" rtlCol="0" anchor="ctr"/>
          <a:lstStyle/>
          <a:p>
            <a:pPr indent="0" marL="0">
              <a:buNone/>
            </a:pPr>
            <a:r>
              <a:rPr lang="en-US" sz="1600" b="1" dirty="0">
                <a:solidFill>
                  <a:schemeClr val="accent2"/>
                </a:solidFill>
              </a:rPr>
              <a:t>estresada</a:t>
            </a:r>
            <a:endParaRPr lang="en-US" sz="1600" dirty="0"/>
          </a:p>
        </p:txBody>
      </p:sp>
      <p:sp>
        <p:nvSpPr>
          <p:cNvPr id="16" name="LED target marchita halo"/>
          <p:cNvSpPr/>
          <p:nvPr/>
        </p:nvSpPr>
        <p:spPr>
          <a:xfrm>
            <a:off x="8401873" y="3409249"/>
            <a:ext cx="514990" cy="514990"/>
          </a:xfrm>
          <a:prstGeom prst="ellipse">
            <a:avLst/>
          </a:prstGeom>
          <a:solidFill>
            <a:schemeClr val="accent3">
              <a:alpha val="28000"/>
            </a:schemeClr>
          </a:solidFill>
          <a:ln/>
        </p:spPr>
      </p:sp>
      <p:sp>
        <p:nvSpPr>
          <p:cNvPr id="17" name="LED target marchita"/>
          <p:cNvSpPr txBox="1"/>
          <p:nvPr/>
        </p:nvSpPr>
        <p:spPr>
          <a:xfrm>
            <a:off x="8458200" y="3465576"/>
            <a:ext cx="402336" cy="402336"/>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9052560" y="3465576"/>
            <a:ext cx="2377440" cy="402336"/>
          </a:xfrm>
          <a:prstGeom prst="rect">
            <a:avLst/>
          </a:prstGeom>
          <a:noFill/>
          <a:ln/>
        </p:spPr>
        <p:txBody>
          <a:bodyPr wrap="square" lIns="0" tIns="0" rIns="0" bIns="0" rtlCol="0" anchor="ctr"/>
          <a:lstStyle/>
          <a:p>
            <a:pPr indent="0" marL="0">
              <a:buNone/>
            </a:pPr>
            <a:r>
              <a:rPr lang="en-US" sz="1600" b="1" dirty="0">
                <a:solidFill>
                  <a:schemeClr val="accent3"/>
                </a:solidFill>
              </a:rPr>
              <a:t>marchita</a:t>
            </a:r>
            <a:endParaRPr lang="en-US" sz="1600" dirty="0"/>
          </a:p>
        </p:txBody>
      </p:sp>
      <p:sp>
        <p:nvSpPr>
          <p:cNvPr id="19" name="Text 16"/>
          <p:cNvSpPr txBox="1"/>
          <p:nvPr/>
        </p:nvSpPr>
        <p:spPr>
          <a:xfrm>
            <a:off x="8412480" y="4114800"/>
            <a:ext cx="3063240" cy="19202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Filas sin etiqueta (0): no se entrenan</a:t>
            </a:r>
            <a:endParaRPr lang="en-US" sz="1400" dirty="0"/>
          </a:p>
          <a:p>
            <a:pPr marL="203200" indent="-203200">
              <a:spcAft>
                <a:spcPts val="600"/>
              </a:spcAft>
              <a:buSzPct val="100000"/>
              <a:buChar char="•"/>
            </a:pPr>
            <a:r>
              <a:rPr lang="en-US" sz="1400" dirty="0">
                <a:solidFill>
                  <a:schemeClr val="tx1"/>
                </a:solidFill>
              </a:rPr>
              <a:t>Se excluyen columnas que filtran la etiqueta: origen, episodio, calidad y hora</a:t>
            </a:r>
            <a:endParaRPr lang="en-US" sz="1400" dirty="0"/>
          </a:p>
          <a:p>
            <a:pPr marL="203200" indent="-203200">
              <a:spcAft>
                <a:spcPts val="600"/>
              </a:spcAft>
              <a:buSzPct val="100000"/>
              <a:buChar char="•"/>
            </a:pPr>
            <a:r>
              <a:rPr lang="en-US" sz="1400" dirty="0">
                <a:solidFill>
                  <a:schemeClr val="tx1"/>
                </a:solidFill>
              </a:rPr>
              <a:t>Se verifica que la entrada tenga sólo las 7 features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EVALUACIÓN</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Partición por episodio, no aleatoria</a:t>
            </a:r>
            <a:endParaRPr lang="en-US" sz="3600" dirty="0"/>
          </a:p>
        </p:txBody>
      </p:sp>
      <p:sp>
        <p:nvSpPr>
          <p:cNvPr id="4" name="Split aleatorio"/>
          <p:cNvSpPr/>
          <p:nvPr/>
        </p:nvSpPr>
        <p:spPr>
          <a:xfrm>
            <a:off x="548640" y="1691640"/>
            <a:ext cx="2697480" cy="2514600"/>
          </a:xfrm>
          <a:prstGeom prst="roundRect">
            <a:avLst>
              <a:gd name="adj" fmla="val 2909"/>
            </a:avLst>
          </a:prstGeom>
          <a:solidFill>
            <a:schemeClr val="bg2"/>
          </a:solidFill>
          <a:ln/>
        </p:spPr>
      </p:sp>
      <p:sp>
        <p:nvSpPr>
          <p:cNvPr id="5" name="Text 3"/>
          <p:cNvSpPr txBox="1"/>
          <p:nvPr/>
        </p:nvSpPr>
        <p:spPr>
          <a:xfrm>
            <a:off x="777240" y="187452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Split aleatorio</a:t>
            </a:r>
            <a:endParaRPr lang="en-US" sz="1600" dirty="0"/>
          </a:p>
        </p:txBody>
      </p:sp>
      <p:sp>
        <p:nvSpPr>
          <p:cNvPr id="6" name="Text 4"/>
          <p:cNvSpPr txBox="1"/>
          <p:nvPr/>
        </p:nvSpPr>
        <p:spPr>
          <a:xfrm>
            <a:off x="777240" y="2331720"/>
            <a:ext cx="2240280" cy="91440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0,943</a:t>
            </a:r>
            <a:endParaRPr lang="en-US" sz="5400" dirty="0"/>
          </a:p>
        </p:txBody>
      </p:sp>
      <p:sp>
        <p:nvSpPr>
          <p:cNvPr id="7" name="Text 5"/>
          <p:cNvSpPr txBox="1"/>
          <p:nvPr/>
        </p:nvSpPr>
        <p:spPr>
          <a:xfrm>
            <a:off x="777240" y="3337560"/>
            <a:ext cx="2240280" cy="640080"/>
          </a:xfrm>
          <a:prstGeom prst="rect">
            <a:avLst/>
          </a:prstGeom>
          <a:noFill/>
          <a:ln/>
        </p:spPr>
        <p:txBody>
          <a:bodyPr wrap="square" lIns="0" tIns="0" rIns="0" bIns="0" rtlCol="0" anchor="t"/>
          <a:lstStyle/>
          <a:p>
            <a:pPr indent="0" marL="0">
              <a:buNone/>
            </a:pPr>
            <a:r>
              <a:rPr lang="en-US" sz="1400" dirty="0">
                <a:solidFill>
                  <a:schemeClr val="tx1"/>
                </a:solidFill>
              </a:rPr>
              <a:t>exactitud balanceada, Random Forest</a:t>
            </a:r>
            <a:endParaRPr lang="en-US" sz="1400" dirty="0"/>
          </a:p>
        </p:txBody>
      </p:sp>
      <p:sp>
        <p:nvSpPr>
          <p:cNvPr id="8" name="Split por episodio"/>
          <p:cNvSpPr/>
          <p:nvPr/>
        </p:nvSpPr>
        <p:spPr>
          <a:xfrm>
            <a:off x="3429000" y="1691640"/>
            <a:ext cx="2697480" cy="2514600"/>
          </a:xfrm>
          <a:prstGeom prst="roundRect">
            <a:avLst>
              <a:gd name="adj" fmla="val 2909"/>
            </a:avLst>
          </a:prstGeom>
          <a:solidFill>
            <a:schemeClr val="accent3">
              <a:alpha val="12000"/>
            </a:schemeClr>
          </a:solidFill>
          <a:ln/>
        </p:spPr>
      </p:sp>
      <p:sp>
        <p:nvSpPr>
          <p:cNvPr id="9" name="Text 7"/>
          <p:cNvSpPr txBox="1"/>
          <p:nvPr/>
        </p:nvSpPr>
        <p:spPr>
          <a:xfrm>
            <a:off x="3657600" y="1874520"/>
            <a:ext cx="2240280" cy="365760"/>
          </a:xfrm>
          <a:prstGeom prst="rect">
            <a:avLst/>
          </a:prstGeom>
          <a:noFill/>
          <a:ln/>
        </p:spPr>
        <p:txBody>
          <a:bodyPr wrap="square" lIns="0" tIns="0" rIns="0" bIns="0" rtlCol="0" anchor="ctr"/>
          <a:lstStyle/>
          <a:p>
            <a:pPr indent="0" marL="0">
              <a:buNone/>
            </a:pPr>
            <a:r>
              <a:rPr lang="en-US" sz="1600" b="1" dirty="0">
                <a:solidFill>
                  <a:schemeClr val="tx2"/>
                </a:solidFill>
              </a:rPr>
              <a:t>Split por episodio</a:t>
            </a:r>
            <a:endParaRPr lang="en-US" sz="1600" dirty="0"/>
          </a:p>
        </p:txBody>
      </p:sp>
      <p:sp>
        <p:nvSpPr>
          <p:cNvPr id="10" name="Text 8"/>
          <p:cNvSpPr txBox="1"/>
          <p:nvPr/>
        </p:nvSpPr>
        <p:spPr>
          <a:xfrm>
            <a:off x="3657600" y="2331720"/>
            <a:ext cx="224028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0,135</a:t>
            </a:r>
            <a:endParaRPr lang="en-US" sz="5400" dirty="0"/>
          </a:p>
        </p:txBody>
      </p:sp>
      <p:sp>
        <p:nvSpPr>
          <p:cNvPr id="11" name="Text 9"/>
          <p:cNvSpPr txBox="1"/>
          <p:nvPr/>
        </p:nvSpPr>
        <p:spPr>
          <a:xfrm>
            <a:off x="3657600" y="3337560"/>
            <a:ext cx="2240280" cy="640080"/>
          </a:xfrm>
          <a:prstGeom prst="rect">
            <a:avLst/>
          </a:prstGeom>
          <a:noFill/>
          <a:ln/>
        </p:spPr>
        <p:txBody>
          <a:bodyPr wrap="square" lIns="0" tIns="0" rIns="0" bIns="0" rtlCol="0" anchor="t"/>
          <a:lstStyle/>
          <a:p>
            <a:pPr indent="0" marL="0">
              <a:buNone/>
            </a:pPr>
            <a:r>
              <a:rPr lang="en-US" sz="1400" dirty="0">
                <a:solidFill>
                  <a:schemeClr val="tx1"/>
                </a:solidFill>
              </a:rPr>
              <a:t>exactitud balanceada, Random Forest</a:t>
            </a:r>
            <a:endParaRPr lang="en-US" sz="1400" dirty="0"/>
          </a:p>
        </p:txBody>
      </p:sp>
      <p:sp>
        <p:nvSpPr>
          <p:cNvPr id="12" name="Text 10"/>
          <p:cNvSpPr txBox="1"/>
          <p:nvPr/>
        </p:nvSpPr>
        <p:spPr>
          <a:xfrm>
            <a:off x="548640" y="4343400"/>
            <a:ext cx="5532120" cy="320040"/>
          </a:xfrm>
          <a:prstGeom prst="rect">
            <a:avLst/>
          </a:prstGeom>
          <a:noFill/>
          <a:ln/>
        </p:spPr>
        <p:txBody>
          <a:bodyPr wrap="square" lIns="0" tIns="0" rIns="0" bIns="0" rtlCol="0" anchor="ctr"/>
          <a:lstStyle/>
          <a:p>
            <a:pPr indent="0" marL="0">
              <a:buNone/>
            </a:pPr>
            <a:r>
              <a:rPr lang="en-US" sz="1400" b="1" dirty="0">
                <a:solidFill>
                  <a:schemeClr val="accent5"/>
                </a:solidFill>
              </a:rPr>
              <a:t>Azar = 0,33</a:t>
            </a:r>
            <a:endParaRPr lang="en-US" sz="1400" dirty="0"/>
          </a:p>
        </p:txBody>
      </p:sp>
      <p:sp>
        <p:nvSpPr>
          <p:cNvPr id="13" name="Text 11"/>
          <p:cNvSpPr txBox="1"/>
          <p:nvPr/>
        </p:nvSpPr>
        <p:spPr>
          <a:xfrm>
            <a:off x="548640" y="4754880"/>
            <a:ext cx="5532120" cy="1005840"/>
          </a:xfrm>
          <a:prstGeom prst="rect">
            <a:avLst/>
          </a:prstGeom>
          <a:noFill/>
          <a:ln/>
        </p:spPr>
        <p:txBody>
          <a:bodyPr wrap="square" lIns="0" tIns="0" rIns="0" bIns="0" rtlCol="0" anchor="t"/>
          <a:lstStyle/>
          <a:p>
            <a:pPr indent="0" marL="0">
              <a:buNone/>
            </a:pPr>
            <a:r>
              <a:rPr lang="en-US" sz="1800" i="1" dirty="0">
                <a:solidFill>
                  <a:schemeClr val="tx2"/>
                </a:solidFill>
              </a:rPr>
              <a:t>Las muestras consecutivas son casi idénticas: con split aleatorio el modelo reconoce el episodio, no el estado de la planta.</a:t>
            </a:r>
            <a:endParaRPr lang="en-US" sz="1800" dirty="0"/>
          </a:p>
        </p:txBody>
      </p:sp>
      <p:sp>
        <p:nvSpPr>
          <p:cNvPr id="14" name="Text 12"/>
          <p:cNvSpPr txBox="1"/>
          <p:nvPr/>
        </p:nvSpPr>
        <p:spPr>
          <a:xfrm>
            <a:off x="6492240" y="1691640"/>
            <a:ext cx="5148072" cy="365760"/>
          </a:xfrm>
          <a:prstGeom prst="rect">
            <a:avLst/>
          </a:prstGeom>
          <a:noFill/>
          <a:ln/>
        </p:spPr>
        <p:txBody>
          <a:bodyPr wrap="square" lIns="0" tIns="0" rIns="0" bIns="0" rtlCol="0" anchor="ctr"/>
          <a:lstStyle/>
          <a:p>
            <a:pPr indent="0" marL="0">
              <a:buNone/>
            </a:pPr>
            <a:r>
              <a:rPr lang="en-US" sz="1800" b="1" dirty="0">
                <a:solidFill>
                  <a:schemeClr val="tx2"/>
                </a:solidFill>
              </a:rPr>
              <a:t>Protocolo de evaluación</a:t>
            </a:r>
            <a:endParaRPr lang="en-US" sz="1800" dirty="0"/>
          </a:p>
        </p:txBody>
      </p:sp>
      <p:sp>
        <p:nvSpPr>
          <p:cNvPr id="15" name="Text 13"/>
          <p:cNvSpPr txBox="1"/>
          <p:nvPr/>
        </p:nvSpPr>
        <p:spPr>
          <a:xfrm>
            <a:off x="6492240" y="2286000"/>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6" name="Text 14"/>
          <p:cNvSpPr txBox="1"/>
          <p:nvPr/>
        </p:nvSpPr>
        <p:spPr>
          <a:xfrm>
            <a:off x="7086600" y="2194560"/>
            <a:ext cx="4553712" cy="603504"/>
          </a:xfrm>
          <a:prstGeom prst="rect">
            <a:avLst/>
          </a:prstGeom>
          <a:noFill/>
          <a:ln/>
        </p:spPr>
        <p:txBody>
          <a:bodyPr wrap="square" lIns="0" tIns="0" rIns="0" bIns="0" rtlCol="0" anchor="ctr"/>
          <a:lstStyle/>
          <a:p>
            <a:pPr indent="0" marL="0">
              <a:buNone/>
            </a:pPr>
            <a:r>
              <a:rPr lang="en-US" sz="1400" dirty="0">
                <a:solidFill>
                  <a:schemeClr val="tx1"/>
                </a:solidFill>
              </a:rPr>
              <a:t>StratifiedGroupKFold con 5 folds agrupados por episodio (N efectivo = 11)</a:t>
            </a:r>
            <a:endParaRPr lang="en-US" sz="1400" dirty="0"/>
          </a:p>
        </p:txBody>
      </p:sp>
      <p:sp>
        <p:nvSpPr>
          <p:cNvPr id="17" name="Text 15"/>
          <p:cNvSpPr txBox="1"/>
          <p:nvPr/>
        </p:nvSpPr>
        <p:spPr>
          <a:xfrm>
            <a:off x="6492240" y="3072384"/>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6"/>
          <p:cNvSpPr txBox="1"/>
          <p:nvPr/>
        </p:nvSpPr>
        <p:spPr>
          <a:xfrm>
            <a:off x="7086600" y="2980944"/>
            <a:ext cx="4553712" cy="603504"/>
          </a:xfrm>
          <a:prstGeom prst="rect">
            <a:avLst/>
          </a:prstGeom>
          <a:noFill/>
          <a:ln/>
        </p:spPr>
        <p:txBody>
          <a:bodyPr wrap="square" lIns="0" tIns="0" rIns="0" bIns="0" rtlCol="0" anchor="ctr"/>
          <a:lstStyle/>
          <a:p>
            <a:pPr indent="0" marL="0">
              <a:buNone/>
            </a:pPr>
            <a:r>
              <a:rPr lang="en-US" sz="1400" dirty="0">
                <a:solidFill>
                  <a:schemeClr val="tx1"/>
                </a:solidFill>
              </a:rPr>
              <a:t>Búsqueda de hiperparámetros anidada (3 folds internos por episodio) maximizando F1 macro</a:t>
            </a:r>
            <a:endParaRPr lang="en-US" sz="1400" dirty="0"/>
          </a:p>
        </p:txBody>
      </p:sp>
      <p:sp>
        <p:nvSpPr>
          <p:cNvPr id="19" name="Text 17"/>
          <p:cNvSpPr txBox="1"/>
          <p:nvPr/>
        </p:nvSpPr>
        <p:spPr>
          <a:xfrm>
            <a:off x="6492240" y="3858768"/>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7086600" y="3767328"/>
            <a:ext cx="4553712" cy="603504"/>
          </a:xfrm>
          <a:prstGeom prst="rect">
            <a:avLst/>
          </a:prstGeom>
          <a:noFill/>
          <a:ln/>
        </p:spPr>
        <p:txBody>
          <a:bodyPr wrap="square" lIns="0" tIns="0" rIns="0" bIns="0" rtlCol="0" anchor="ctr"/>
          <a:lstStyle/>
          <a:p>
            <a:pPr indent="0" marL="0">
              <a:buNone/>
            </a:pPr>
            <a:r>
              <a:rPr lang="en-US" sz="1400" dirty="0">
                <a:solidFill>
                  <a:schemeClr val="tx1"/>
                </a:solidFill>
              </a:rPr>
              <a:t>Predicciones fuera de fold agregadas: cada fold de prueba tiene 2–3 episodios</a:t>
            </a:r>
            <a:endParaRPr lang="en-US" sz="1400" dirty="0"/>
          </a:p>
        </p:txBody>
      </p:sp>
      <p:sp>
        <p:nvSpPr>
          <p:cNvPr id="21" name="Text 19"/>
          <p:cNvSpPr txBox="1"/>
          <p:nvPr/>
        </p:nvSpPr>
        <p:spPr>
          <a:xfrm>
            <a:off x="6492240" y="4645152"/>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7086600" y="4553712"/>
            <a:ext cx="4553712" cy="603504"/>
          </a:xfrm>
          <a:prstGeom prst="rect">
            <a:avLst/>
          </a:prstGeom>
          <a:noFill/>
          <a:ln/>
        </p:spPr>
        <p:txBody>
          <a:bodyPr wrap="square" lIns="0" tIns="0" rIns="0" bIns="0" rtlCol="0" anchor="ctr"/>
          <a:lstStyle/>
          <a:p>
            <a:pPr indent="0" marL="0">
              <a:buNone/>
            </a:pPr>
            <a:r>
              <a:rPr lang="en-US" sz="1400" dirty="0">
                <a:solidFill>
                  <a:schemeClr val="tx1"/>
                </a:solidFill>
              </a:rPr>
              <a:t>Incertidumbre: bootstrap por episodio, 500 remuestras</a:t>
            </a:r>
            <a:endParaRPr lang="en-US" sz="1400" dirty="0"/>
          </a:p>
        </p:txBody>
      </p:sp>
      <p:sp>
        <p:nvSpPr>
          <p:cNvPr id="23" name="Text 21"/>
          <p:cNvSpPr txBox="1"/>
          <p:nvPr/>
        </p:nvSpPr>
        <p:spPr>
          <a:xfrm>
            <a:off x="6492240" y="5431536"/>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2"/>
          <p:cNvSpPr txBox="1"/>
          <p:nvPr/>
        </p:nvSpPr>
        <p:spPr>
          <a:xfrm>
            <a:off x="7086600" y="5340096"/>
            <a:ext cx="4553712" cy="603504"/>
          </a:xfrm>
          <a:prstGeom prst="rect">
            <a:avLst/>
          </a:prstGeom>
          <a:noFill/>
          <a:ln/>
        </p:spPr>
        <p:txBody>
          <a:bodyPr wrap="square" lIns="0" tIns="0" rIns="0" bIns="0" rtlCol="0" anchor="ctr"/>
          <a:lstStyle/>
          <a:p>
            <a:pPr indent="0" marL="0">
              <a:buNone/>
            </a:pPr>
            <a:r>
              <a:rPr lang="en-US" sz="1400" dirty="0">
                <a:solidFill>
                  <a:schemeClr val="tx1"/>
                </a:solidFill>
              </a:rPr>
              <a:t>Métricas: F1 macro, exactitud balanceada y recall de marchita (el error más caro)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COMPARACIÓN DE MODELOS · 7 EPISODIOS, FUERA DE FOLD</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Ningún candidato supera al baseline</a:t>
            </a:r>
            <a:endParaRPr lang="en-US" sz="3600" dirty="0"/>
          </a:p>
        </p:txBody>
      </p:sp>
      <p:graphicFrame>
        <p:nvGraphicFramePr>
          <p:cNvPr id="9" name="Tabla comparación"/>
          <p:cNvGraphicFramePr>
            <a:graphicFrameLocks noGrp="1"/>
          </p:cNvGraphicFramePr>
          <p:nvPr>
            <p:extLst>
              <p:ext uri="{D42A27DB-BD31-4B8C-83A1-F6EECF244321}">
                <p14:modId xmlns:p14="http://schemas.microsoft.com/office/powerpoint/2010/main" val="1579011935"/>
              </p:ext>
            </p:extLst>
          </p:nvPr>
        </p:nvGraphicFramePr>
        <p:xfrm>
          <a:off x="548640" y="1645920"/>
          <a:ext cx="7863840" cy="914400"/>
        </p:xfrm>
        <a:graphic>
          <a:graphicData uri="http://schemas.openxmlformats.org/drawingml/2006/table">
            <a:tbl>
              <a:tblPr/>
              <a:tblGrid>
                <a:gridCol w="2148840"/>
                <a:gridCol w="1600200"/>
                <a:gridCol w="1051560"/>
                <a:gridCol w="1143000"/>
                <a:gridCol w="960120"/>
                <a:gridCol w="960120"/>
              </a:tblGrid>
              <a:tr h="365760">
                <a:tc>
                  <a:txBody>
                    <a:bodyPr/>
                    <a:lstStyle/>
                    <a:p>
                      <a:pPr algn="l" indent="0" marL="0">
                        <a:buNone/>
                      </a:pPr>
                      <a:r>
                        <a:rPr lang="en-US" sz="1400" b="1" dirty="0">
                          <a:solidFill>
                            <a:schemeClr val="bg1"/>
                          </a:solidFill>
                        </a:rPr>
                        <a:t>Modelo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F1 macro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Exact. bal.</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Recall marchita</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Flash</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Tiempo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r>
              <a:tr h="365760">
                <a:tc>
                  <a:txBody>
                    <a:bodyPr/>
                    <a:lstStyle/>
                    <a:p>
                      <a:pPr algn="l" indent="0" marL="0">
                        <a:buNone/>
                      </a:pPr>
                      <a:r>
                        <a:rPr lang="en-US" sz="1400" i="1" dirty="0">
                          <a:solidFill>
                            <a:schemeClr val="tx1"/>
                          </a:solidFill>
                        </a:rPr>
                        <a:t>Dos umbrales suelo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0,393 ± 0,191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0,416</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0,60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8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0,1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r>
              <a:tr h="365760">
                <a:tc>
                  <a:txBody>
                    <a:bodyPr/>
                    <a:lstStyle/>
                    <a:p>
                      <a:pPr algn="l" indent="0" marL="0">
                        <a:buNone/>
                      </a:pPr>
                      <a:r>
                        <a:rPr lang="en-US" sz="1400" i="1" dirty="0">
                          <a:solidFill>
                            <a:schemeClr val="tx1"/>
                          </a:solidFill>
                        </a:rPr>
                        <a:t>Umbral único suelo</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0,388 ± 0,188</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0,412</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0,60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51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0,1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r>
              <a:tr h="365760">
                <a:tc>
                  <a:txBody>
                    <a:bodyPr/>
                    <a:lstStyle/>
                    <a:p>
                      <a:pPr algn="l" indent="0" marL="0">
                        <a:buNone/>
                      </a:pPr>
                      <a:r>
                        <a:rPr lang="en-US" sz="1400" b="1" dirty="0">
                          <a:solidFill>
                            <a:schemeClr val="tx1"/>
                          </a:solidFill>
                        </a:rPr>
                        <a:t>Árbol de decisión *</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algn="ctr" indent="0" marL="0">
                        <a:buNone/>
                      </a:pPr>
                      <a:r>
                        <a:rPr lang="en-US" sz="1400" dirty="0">
                          <a:solidFill>
                            <a:schemeClr val="tx1"/>
                          </a:solidFill>
                        </a:rPr>
                        <a:t>0,316 ± 0,045</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algn="ctr" indent="0" marL="0">
                        <a:buNone/>
                      </a:pPr>
                      <a:r>
                        <a:rPr lang="en-US" sz="1400" dirty="0">
                          <a:solidFill>
                            <a:schemeClr val="tx1"/>
                          </a:solidFill>
                        </a:rPr>
                        <a:t>0,326</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algn="ctr" indent="0" marL="0">
                        <a:buNone/>
                      </a:pPr>
                      <a:r>
                        <a:rPr lang="en-US" sz="1400" dirty="0">
                          <a:solidFill>
                            <a:schemeClr val="tx1"/>
                          </a:solidFill>
                        </a:rPr>
                        <a:t>81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c>
                  <a:txBody>
                    <a:bodyPr/>
                    <a:lstStyle/>
                    <a:p>
                      <a:pPr algn="ctr" indent="0" marL="0">
                        <a:buNone/>
                      </a:pPr>
                      <a:r>
                        <a:rPr lang="en-US" sz="1400" dirty="0">
                          <a:solidFill>
                            <a:schemeClr val="tx1"/>
                          </a:solidFill>
                        </a:rPr>
                        <a:t>0,2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accent1">
                        <a:alpha val="15000"/>
                      </a:schemeClr>
                    </a:solidFill>
                  </a:tcPr>
                </a:tc>
              </a:tr>
              <a:tr h="365760">
                <a:tc>
                  <a:txBody>
                    <a:bodyPr/>
                    <a:lstStyle/>
                    <a:p>
                      <a:pPr algn="l" indent="0" marL="0">
                        <a:buNone/>
                      </a:pPr>
                      <a:r>
                        <a:rPr lang="en-US" sz="1400" dirty="0">
                          <a:solidFill>
                            <a:schemeClr val="tx1"/>
                          </a:solidFill>
                        </a:rPr>
                        <a:t>MLP</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0,306 ± 0,135</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0,395</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0,41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260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8,2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dirty="0">
                          <a:solidFill>
                            <a:schemeClr val="tx1"/>
                          </a:solidFill>
                        </a:rPr>
                        <a:t>Naive Bayes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0,297 ± 0,057</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0,304</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84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4,6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dirty="0">
                          <a:solidFill>
                            <a:schemeClr val="tx1"/>
                          </a:solidFill>
                        </a:rPr>
                        <a:t>Random Forest</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0,213 ± 0,026</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0,227</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11,6 KB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16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dirty="0">
                          <a:solidFill>
                            <a:schemeClr val="tx1"/>
                          </a:solidFill>
                        </a:rPr>
                        <a:t>Regresión logística</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0,142 ± 0,072</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0,128</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52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4,0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dirty="0">
                          <a:solidFill>
                            <a:schemeClr val="tx1"/>
                          </a:solidFill>
                        </a:rPr>
                        <a:t>k-NN</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0,110 ± 0,053</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0,141</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17,7 KB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622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dirty="0">
                          <a:solidFill>
                            <a:schemeClr val="tx1"/>
                          </a:solidFill>
                        </a:rPr>
                        <a:t>SVM RBF</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0,069 ± 0,035</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0,119</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17,5 KB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1544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1"/>
                    </a:solidFill>
                  </a:tcPr>
                </a:tc>
              </a:tr>
              <a:tr h="365760">
                <a:tc>
                  <a:txBody>
                    <a:bodyPr/>
                    <a:lstStyle/>
                    <a:p>
                      <a:pPr algn="l" indent="0" marL="0">
                        <a:buNone/>
                      </a:pPr>
                      <a:r>
                        <a:rPr lang="en-US" sz="1400" i="1" dirty="0">
                          <a:solidFill>
                            <a:schemeClr val="tx1"/>
                          </a:solidFill>
                        </a:rPr>
                        <a:t>Clase mayoritaria</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0,110 ± 0,054</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0,232</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0,00</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4 B</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 µs</a:t>
                      </a:r>
                      <a:endParaRPr lang="en-US" sz="1400" dirty="0"/>
                    </a:p>
                  </a:txBody>
                  <a:tcPr marL="73152" marR="73152" marT="0" marB="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779008"/>
            <a:ext cx="7863840" cy="502920"/>
          </a:xfrm>
          <a:prstGeom prst="rect">
            <a:avLst/>
          </a:prstGeom>
          <a:noFill/>
          <a:ln/>
        </p:spPr>
        <p:txBody>
          <a:bodyPr wrap="square" lIns="0" tIns="0" rIns="0" bIns="0" rtlCol="0" anchor="t"/>
          <a:lstStyle/>
          <a:p>
            <a:pPr indent="0" marL="0">
              <a:buNone/>
            </a:pPr>
            <a:r>
              <a:rPr lang="en-US" sz="1100" i="1" dirty="0">
                <a:solidFill>
                  <a:schemeClr val="accent5"/>
                </a:solidFill>
              </a:rPr>
              <a:t>En cursiva: baselines. Flash y tiempo estimados para la ESP32. * Búsqueda anidada; la configuración final fija (prof. 2, suelo + temperatura) obtiene 0,282 ± 0,136.</a:t>
            </a:r>
            <a:endParaRPr lang="en-US" sz="1100" dirty="0"/>
          </a:p>
        </p:txBody>
      </p:sp>
      <p:sp>
        <p:nvSpPr>
          <p:cNvPr id="6" name="Insight 0,393"/>
          <p:cNvSpPr/>
          <p:nvPr/>
        </p:nvSpPr>
        <p:spPr>
          <a:xfrm>
            <a:off x="8732520" y="1645920"/>
            <a:ext cx="2907792" cy="1261872"/>
          </a:xfrm>
          <a:prstGeom prst="roundRect">
            <a:avLst>
              <a:gd name="adj" fmla="val 5797"/>
            </a:avLst>
          </a:prstGeom>
          <a:solidFill>
            <a:schemeClr val="bg2"/>
          </a:solidFill>
          <a:ln/>
        </p:spPr>
      </p:sp>
      <p:sp>
        <p:nvSpPr>
          <p:cNvPr id="7" name="Text 4"/>
          <p:cNvSpPr txBox="1"/>
          <p:nvPr/>
        </p:nvSpPr>
        <p:spPr>
          <a:xfrm>
            <a:off x="8942832" y="1755648"/>
            <a:ext cx="2560320" cy="5029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0,393</a:t>
            </a:r>
            <a:endParaRPr lang="en-US" sz="2800" dirty="0"/>
          </a:p>
        </p:txBody>
      </p:sp>
      <p:sp>
        <p:nvSpPr>
          <p:cNvPr id="8" name="Text 5"/>
          <p:cNvSpPr txBox="1"/>
          <p:nvPr/>
        </p:nvSpPr>
        <p:spPr>
          <a:xfrm>
            <a:off x="8942832" y="2267712"/>
            <a:ext cx="2560320" cy="566928"/>
          </a:xfrm>
          <a:prstGeom prst="rect">
            <a:avLst/>
          </a:prstGeom>
          <a:noFill/>
          <a:ln/>
        </p:spPr>
        <p:txBody>
          <a:bodyPr wrap="square" lIns="0" tIns="0" rIns="0" bIns="0" rtlCol="0" anchor="t"/>
          <a:lstStyle/>
          <a:p>
            <a:pPr indent="0" marL="0">
              <a:buNone/>
            </a:pPr>
            <a:r>
              <a:rPr lang="en-US" sz="1300" dirty="0">
                <a:solidFill>
                  <a:schemeClr val="tx1"/>
                </a:solidFill>
              </a:rPr>
              <a:t>F1 macro del mejor: dos umbrales sobre suelo_mv (baseline)</a:t>
            </a:r>
            <a:endParaRPr lang="en-US" sz="1300" dirty="0"/>
          </a:p>
        </p:txBody>
      </p:sp>
      <p:sp>
        <p:nvSpPr>
          <p:cNvPr id="9" name="Insight 0,05–0,19"/>
          <p:cNvSpPr/>
          <p:nvPr/>
        </p:nvSpPr>
        <p:spPr>
          <a:xfrm>
            <a:off x="8732520" y="3063240"/>
            <a:ext cx="2907792" cy="1261872"/>
          </a:xfrm>
          <a:prstGeom prst="roundRect">
            <a:avLst>
              <a:gd name="adj" fmla="val 5797"/>
            </a:avLst>
          </a:prstGeom>
          <a:solidFill>
            <a:schemeClr val="bg2"/>
          </a:solidFill>
          <a:ln/>
        </p:spPr>
      </p:sp>
      <p:sp>
        <p:nvSpPr>
          <p:cNvPr id="10" name="Text 7"/>
          <p:cNvSpPr txBox="1"/>
          <p:nvPr/>
        </p:nvSpPr>
        <p:spPr>
          <a:xfrm>
            <a:off x="8942832" y="3172968"/>
            <a:ext cx="2560320" cy="5029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0,05–0,19</a:t>
            </a:r>
            <a:endParaRPr lang="en-US" sz="2800" dirty="0"/>
          </a:p>
        </p:txBody>
      </p:sp>
      <p:sp>
        <p:nvSpPr>
          <p:cNvPr id="11" name="Text 8"/>
          <p:cNvSpPr txBox="1"/>
          <p:nvPr/>
        </p:nvSpPr>
        <p:spPr>
          <a:xfrm>
            <a:off x="8942832" y="3685032"/>
            <a:ext cx="2560320" cy="566928"/>
          </a:xfrm>
          <a:prstGeom prst="rect">
            <a:avLst/>
          </a:prstGeom>
          <a:noFill/>
          <a:ln/>
        </p:spPr>
        <p:txBody>
          <a:bodyPr wrap="square" lIns="0" tIns="0" rIns="0" bIns="0" rtlCol="0" anchor="t"/>
          <a:lstStyle/>
          <a:p>
            <a:pPr indent="0" marL="0">
              <a:buNone/>
            </a:pPr>
            <a:r>
              <a:rPr lang="en-US" sz="1300" dirty="0">
                <a:solidFill>
                  <a:schemeClr val="tx1"/>
                </a:solidFill>
              </a:rPr>
              <a:t>desvíos bootstrap: las diferencias entre modelos están dentro del ruido</a:t>
            </a:r>
            <a:endParaRPr lang="en-US" sz="1300" dirty="0"/>
          </a:p>
        </p:txBody>
      </p:sp>
      <p:sp>
        <p:nvSpPr>
          <p:cNvPr id="12" name="Insight &lt; azar"/>
          <p:cNvSpPr/>
          <p:nvPr/>
        </p:nvSpPr>
        <p:spPr>
          <a:xfrm>
            <a:off x="8732520" y="4480560"/>
            <a:ext cx="2907792" cy="1261872"/>
          </a:xfrm>
          <a:prstGeom prst="roundRect">
            <a:avLst>
              <a:gd name="adj" fmla="val 5797"/>
            </a:avLst>
          </a:prstGeom>
          <a:solidFill>
            <a:schemeClr val="bg2"/>
          </a:solidFill>
          <a:ln/>
        </p:spPr>
      </p:sp>
      <p:sp>
        <p:nvSpPr>
          <p:cNvPr id="13" name="Text 10"/>
          <p:cNvSpPr txBox="1"/>
          <p:nvPr/>
        </p:nvSpPr>
        <p:spPr>
          <a:xfrm>
            <a:off x="8942832" y="4590288"/>
            <a:ext cx="2560320" cy="5029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&lt; azar</a:t>
            </a:r>
            <a:endParaRPr lang="en-US" sz="2800" dirty="0"/>
          </a:p>
        </p:txBody>
      </p:sp>
      <p:sp>
        <p:nvSpPr>
          <p:cNvPr id="14" name="Text 11"/>
          <p:cNvSpPr txBox="1"/>
          <p:nvPr/>
        </p:nvSpPr>
        <p:spPr>
          <a:xfrm>
            <a:off x="8942832" y="5102352"/>
            <a:ext cx="2560320" cy="566928"/>
          </a:xfrm>
          <a:prstGeom prst="rect">
            <a:avLst/>
          </a:prstGeom>
          <a:noFill/>
          <a:ln/>
        </p:spPr>
        <p:txBody>
          <a:bodyPr wrap="square" lIns="0" tIns="0" rIns="0" bIns="0" rtlCol="0" anchor="t"/>
          <a:lstStyle/>
          <a:p>
            <a:pPr indent="0" marL="0">
              <a:buNone/>
            </a:pPr>
            <a:r>
              <a:rPr lang="en-US" sz="1300" dirty="0">
                <a:solidFill>
                  <a:schemeClr val="tx1"/>
                </a:solidFill>
              </a:rPr>
              <a:t>con los 11 episodios (incluidos los dudosos) todos quedan por debajo</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VISUALIZACIÓN DE RESULTADOS</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Rendimiento vs. costo en la ESP32</a:t>
            </a:r>
            <a:endParaRPr lang="en-US" sz="3600" dirty="0"/>
          </a:p>
        </p:txBody>
      </p:sp>
      <p:pic>
        <p:nvPicPr>
          <p:cNvPr id="4" name="Figura rendimiento vs costo" descr="/home/claude/ppt/img/rendimiento_vs_costo.png">    </p:cNvPr>
          <p:cNvPicPr>
            <a:picLocks noChangeAspect="1"/>
          </p:cNvPicPr>
          <p:nvPr/>
        </p:nvPicPr>
        <p:blipFill>
          <a:blip r:embed="rId1"/>
          <a:stretch>
            <a:fillRect/>
          </a:stretch>
        </p:blipFill>
        <p:spPr>
          <a:xfrm>
            <a:off x="548640" y="1600200"/>
            <a:ext cx="8010144" cy="4434840"/>
          </a:xfrm>
          <a:prstGeom prst="rect">
            <a:avLst/>
          </a:prstGeom>
        </p:spPr>
      </p:pic>
      <p:sp>
        <p:nvSpPr>
          <p:cNvPr id="5" name="Text 2"/>
          <p:cNvSpPr txBox="1"/>
          <p:nvPr/>
        </p:nvSpPr>
        <p:spPr>
          <a:xfrm>
            <a:off x="548640" y="6035040"/>
            <a:ext cx="8010144" cy="365760"/>
          </a:xfrm>
          <a:prstGeom prst="rect">
            <a:avLst/>
          </a:prstGeom>
          <a:noFill/>
          <a:ln/>
        </p:spPr>
        <p:txBody>
          <a:bodyPr wrap="square" lIns="0" tIns="0" rIns="0" bIns="0" rtlCol="0" anchor="t"/>
          <a:lstStyle/>
          <a:p>
            <a:pPr indent="0" marL="0">
              <a:buNone/>
            </a:pPr>
            <a:r>
              <a:rPr lang="en-US" sz="1100" i="1" dirty="0">
                <a:solidFill>
                  <a:schemeClr val="accent5"/>
                </a:solidFill>
              </a:rPr>
              <a:t>F1 macro fuera de fold sin dudosos (± desvío bootstrap) frente a la flash estimada, en escala log. Línea punteada: límite de 32 KB.</a:t>
            </a:r>
            <a:endParaRPr lang="en-US" sz="1100" dirty="0"/>
          </a:p>
        </p:txBody>
      </p:sp>
      <p:sp>
        <p:nvSpPr>
          <p:cNvPr id="6" name="Todo entra en memoria círculo"/>
          <p:cNvSpPr/>
          <p:nvPr/>
        </p:nvSpPr>
        <p:spPr>
          <a:xfrm>
            <a:off x="8869680" y="1691640"/>
            <a:ext cx="502920" cy="502920"/>
          </a:xfrm>
          <a:prstGeom prst="ellipse">
            <a:avLst/>
          </a:prstGeom>
          <a:solidFill>
            <a:schemeClr val="tx2"/>
          </a:solidFill>
          <a:ln/>
        </p:spPr>
      </p:sp>
      <p:pic>
        <p:nvPicPr>
          <p:cNvPr id="7" name="Todo entra en memoria icono" descr="preencoded.png">    </p:cNvPr>
          <p:cNvPicPr>
            <a:picLocks noChangeAspect="1"/>
          </p:cNvPicPr>
          <p:nvPr/>
        </p:nvPicPr>
        <p:blipFill>
          <a:blip r:embed="rId2"/>
          <a:stretch>
            <a:fillRect/>
          </a:stretch>
        </p:blipFill>
        <p:spPr>
          <a:xfrm>
            <a:off x="8990381" y="1812341"/>
            <a:ext cx="261518" cy="261518"/>
          </a:xfrm>
          <a:prstGeom prst="rect">
            <a:avLst/>
          </a:prstGeom>
        </p:spPr>
      </p:pic>
      <p:sp>
        <p:nvSpPr>
          <p:cNvPr id="8" name="Text 4"/>
          <p:cNvSpPr txBox="1"/>
          <p:nvPr/>
        </p:nvSpPr>
        <p:spPr>
          <a:xfrm>
            <a:off x="9509760" y="1673352"/>
            <a:ext cx="2130552" cy="548640"/>
          </a:xfrm>
          <a:prstGeom prst="rect">
            <a:avLst/>
          </a:prstGeom>
          <a:noFill/>
          <a:ln/>
        </p:spPr>
        <p:txBody>
          <a:bodyPr wrap="square" lIns="0" tIns="0" rIns="0" bIns="0" rtlCol="0" anchor="ctr"/>
          <a:lstStyle/>
          <a:p>
            <a:pPr indent="0" marL="0">
              <a:buNone/>
            </a:pPr>
            <a:r>
              <a:rPr lang="en-US" sz="1600" b="1" dirty="0">
                <a:solidFill>
                  <a:schemeClr val="tx2"/>
                </a:solidFill>
              </a:rPr>
              <a:t>Todo entra en memoria</a:t>
            </a:r>
            <a:endParaRPr lang="en-US" sz="1600" dirty="0"/>
          </a:p>
        </p:txBody>
      </p:sp>
      <p:sp>
        <p:nvSpPr>
          <p:cNvPr id="9" name="Text 5"/>
          <p:cNvSpPr txBox="1"/>
          <p:nvPr/>
        </p:nvSpPr>
        <p:spPr>
          <a:xfrm>
            <a:off x="9509760" y="2258568"/>
            <a:ext cx="2130552" cy="731520"/>
          </a:xfrm>
          <a:prstGeom prst="rect">
            <a:avLst/>
          </a:prstGeom>
          <a:noFill/>
          <a:ln/>
        </p:spPr>
        <p:txBody>
          <a:bodyPr wrap="square" lIns="0" tIns="0" rIns="0" bIns="0" rtlCol="0" anchor="t"/>
          <a:lstStyle/>
          <a:p>
            <a:pPr indent="0" marL="0">
              <a:buNone/>
            </a:pPr>
            <a:r>
              <a:rPr lang="en-US" sz="1400" dirty="0">
                <a:solidFill>
                  <a:schemeClr val="tx1"/>
                </a:solidFill>
              </a:rPr>
              <a:t>Hasta k-NN y SVM (≈ 17,7 KB) quedan bajo el límite de 32 KB.</a:t>
            </a:r>
            <a:endParaRPr lang="en-US" sz="1400" dirty="0"/>
          </a:p>
        </p:txBody>
      </p:sp>
      <p:sp>
        <p:nvSpPr>
          <p:cNvPr id="10" name="Lo que separa es el rendimiento círculo"/>
          <p:cNvSpPr/>
          <p:nvPr/>
        </p:nvSpPr>
        <p:spPr>
          <a:xfrm>
            <a:off x="8869680" y="3154680"/>
            <a:ext cx="502920" cy="502920"/>
          </a:xfrm>
          <a:prstGeom prst="ellipse">
            <a:avLst/>
          </a:prstGeom>
          <a:solidFill>
            <a:schemeClr val="tx2"/>
          </a:solidFill>
          <a:ln/>
        </p:spPr>
      </p:sp>
      <p:pic>
        <p:nvPicPr>
          <p:cNvPr id="11" name="Lo que separa es el rendimiento icono" descr="preencoded.png">    </p:cNvPr>
          <p:cNvPicPr>
            <a:picLocks noChangeAspect="1"/>
          </p:cNvPicPr>
          <p:nvPr/>
        </p:nvPicPr>
        <p:blipFill>
          <a:blip r:embed="rId3"/>
          <a:stretch>
            <a:fillRect/>
          </a:stretch>
        </p:blipFill>
        <p:spPr>
          <a:xfrm>
            <a:off x="8990381" y="3275381"/>
            <a:ext cx="261518" cy="261518"/>
          </a:xfrm>
          <a:prstGeom prst="rect">
            <a:avLst/>
          </a:prstGeom>
        </p:spPr>
      </p:pic>
      <p:sp>
        <p:nvSpPr>
          <p:cNvPr id="12" name="Text 7"/>
          <p:cNvSpPr txBox="1"/>
          <p:nvPr/>
        </p:nvSpPr>
        <p:spPr>
          <a:xfrm>
            <a:off x="9509760" y="3136392"/>
            <a:ext cx="2130552" cy="548640"/>
          </a:xfrm>
          <a:prstGeom prst="rect">
            <a:avLst/>
          </a:prstGeom>
          <a:noFill/>
          <a:ln/>
        </p:spPr>
        <p:txBody>
          <a:bodyPr wrap="square" lIns="0" tIns="0" rIns="0" bIns="0" rtlCol="0" anchor="ctr"/>
          <a:lstStyle/>
          <a:p>
            <a:pPr indent="0" marL="0">
              <a:buNone/>
            </a:pPr>
            <a:r>
              <a:rPr lang="en-US" sz="1600" b="1" dirty="0">
                <a:solidFill>
                  <a:schemeClr val="tx2"/>
                </a:solidFill>
              </a:rPr>
              <a:t>Lo que separa es el rendimiento</a:t>
            </a:r>
            <a:endParaRPr lang="en-US" sz="1600" dirty="0"/>
          </a:p>
        </p:txBody>
      </p:sp>
      <p:sp>
        <p:nvSpPr>
          <p:cNvPr id="13" name="Text 8"/>
          <p:cNvSpPr txBox="1"/>
          <p:nvPr/>
        </p:nvSpPr>
        <p:spPr>
          <a:xfrm>
            <a:off x="9509760" y="3721608"/>
            <a:ext cx="2130552" cy="731520"/>
          </a:xfrm>
          <a:prstGeom prst="rect">
            <a:avLst/>
          </a:prstGeom>
          <a:noFill/>
          <a:ln/>
        </p:spPr>
        <p:txBody>
          <a:bodyPr wrap="square" lIns="0" tIns="0" rIns="0" bIns="0" rtlCol="0" anchor="t"/>
          <a:lstStyle/>
          <a:p>
            <a:pPr indent="0" marL="0">
              <a:buNone/>
            </a:pPr>
            <a:r>
              <a:rPr lang="en-US" sz="1400" dirty="0">
                <a:solidFill>
                  <a:schemeClr val="tx1"/>
                </a:solidFill>
              </a:rPr>
              <a:t>…y las barras de error se superponen.</a:t>
            </a:r>
            <a:endParaRPr lang="en-US" sz="1400" dirty="0"/>
          </a:p>
        </p:txBody>
      </p:sp>
      <p:sp>
        <p:nvSpPr>
          <p:cNvPr id="14" name="Rojo = árbol elegido círculo"/>
          <p:cNvSpPr/>
          <p:nvPr/>
        </p:nvSpPr>
        <p:spPr>
          <a:xfrm>
            <a:off x="8869680" y="4617720"/>
            <a:ext cx="502920" cy="502920"/>
          </a:xfrm>
          <a:prstGeom prst="ellipse">
            <a:avLst/>
          </a:prstGeom>
          <a:solidFill>
            <a:schemeClr val="tx2"/>
          </a:solidFill>
          <a:ln/>
        </p:spPr>
      </p:sp>
      <p:pic>
        <p:nvPicPr>
          <p:cNvPr id="15" name="Rojo = árbol elegido icono" descr="preencoded.png">    </p:cNvPr>
          <p:cNvPicPr>
            <a:picLocks noChangeAspect="1"/>
          </p:cNvPicPr>
          <p:nvPr/>
        </p:nvPicPr>
        <p:blipFill>
          <a:blip r:embed="rId4"/>
          <a:stretch>
            <a:fillRect/>
          </a:stretch>
        </p:blipFill>
        <p:spPr>
          <a:xfrm>
            <a:off x="8990381" y="4738421"/>
            <a:ext cx="261518" cy="261518"/>
          </a:xfrm>
          <a:prstGeom prst="rect">
            <a:avLst/>
          </a:prstGeom>
        </p:spPr>
      </p:pic>
      <p:sp>
        <p:nvSpPr>
          <p:cNvPr id="16" name="Text 10"/>
          <p:cNvSpPr txBox="1"/>
          <p:nvPr/>
        </p:nvSpPr>
        <p:spPr>
          <a:xfrm>
            <a:off x="9509760" y="4599432"/>
            <a:ext cx="2130552" cy="548640"/>
          </a:xfrm>
          <a:prstGeom prst="rect">
            <a:avLst/>
          </a:prstGeom>
          <a:noFill/>
          <a:ln/>
        </p:spPr>
        <p:txBody>
          <a:bodyPr wrap="square" lIns="0" tIns="0" rIns="0" bIns="0" rtlCol="0" anchor="ctr"/>
          <a:lstStyle/>
          <a:p>
            <a:pPr indent="0" marL="0">
              <a:buNone/>
            </a:pPr>
            <a:r>
              <a:rPr lang="en-US" sz="1600" b="1" dirty="0">
                <a:solidFill>
                  <a:schemeClr val="tx2"/>
                </a:solidFill>
              </a:rPr>
              <a:t>Rojo = árbol elegido</a:t>
            </a:r>
            <a:endParaRPr lang="en-US" sz="1600" dirty="0"/>
          </a:p>
        </p:txBody>
      </p:sp>
      <p:sp>
        <p:nvSpPr>
          <p:cNvPr id="17" name="Text 11"/>
          <p:cNvSpPr txBox="1"/>
          <p:nvPr/>
        </p:nvSpPr>
        <p:spPr>
          <a:xfrm>
            <a:off x="9509760" y="5184648"/>
            <a:ext cx="2130552" cy="731520"/>
          </a:xfrm>
          <a:prstGeom prst="rect">
            <a:avLst/>
          </a:prstGeom>
          <a:noFill/>
          <a:ln/>
        </p:spPr>
        <p:txBody>
          <a:bodyPr wrap="square" lIns="0" tIns="0" rIns="0" bIns="0" rtlCol="0" anchor="t"/>
          <a:lstStyle/>
          <a:p>
            <a:pPr indent="0" marL="0">
              <a:buNone/>
            </a:pPr>
            <a:r>
              <a:rPr lang="en-US" sz="1400" dirty="0">
                <a:solidFill>
                  <a:schemeClr val="tx1"/>
                </a:solidFill>
              </a:rPr>
              <a:t>Franja = dentro de un desvío del mejor.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SELECCIÓN DEL MODELO</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Cómo elegimos el modelo</a:t>
            </a:r>
            <a:endParaRPr lang="en-US" sz="3600" dirty="0"/>
          </a:p>
        </p:txBody>
      </p:sp>
      <p:sp>
        <p:nvSpPr>
          <p:cNvPr id="4" name="Text 2"/>
          <p:cNvSpPr txBox="1"/>
          <p:nvPr/>
        </p:nvSpPr>
        <p:spPr>
          <a:xfrm>
            <a:off x="548640" y="1645920"/>
            <a:ext cx="5303520" cy="365760"/>
          </a:xfrm>
          <a:prstGeom prst="rect">
            <a:avLst/>
          </a:prstGeom>
          <a:noFill/>
          <a:ln/>
        </p:spPr>
        <p:txBody>
          <a:bodyPr wrap="square" lIns="0" tIns="0" rIns="0" bIns="0" rtlCol="0" anchor="ctr"/>
          <a:lstStyle/>
          <a:p>
            <a:pPr indent="0" marL="0">
              <a:buNone/>
            </a:pPr>
            <a:r>
              <a:rPr lang="en-US" sz="1800" b="1" dirty="0">
                <a:solidFill>
                  <a:schemeClr val="tx2"/>
                </a:solidFill>
              </a:rPr>
              <a:t>Criterio fijado antes de ver resultados</a:t>
            </a:r>
            <a:endParaRPr lang="en-US" sz="1800" dirty="0"/>
          </a:p>
        </p:txBody>
      </p:sp>
      <p:sp>
        <p:nvSpPr>
          <p:cNvPr id="5" name="Criterio Factible en la ESP32"/>
          <p:cNvSpPr/>
          <p:nvPr/>
        </p:nvSpPr>
        <p:spPr>
          <a:xfrm>
            <a:off x="548640" y="2194560"/>
            <a:ext cx="5303520" cy="1115568"/>
          </a:xfrm>
          <a:prstGeom prst="roundRect">
            <a:avLst>
              <a:gd name="adj" fmla="val 6557"/>
            </a:avLst>
          </a:prstGeom>
          <a:solidFill>
            <a:schemeClr val="bg2"/>
          </a:solidFill>
          <a:ln/>
        </p:spPr>
      </p:sp>
      <p:sp>
        <p:nvSpPr>
          <p:cNvPr id="6" name="Text 4"/>
          <p:cNvSpPr txBox="1"/>
          <p:nvPr/>
        </p:nvSpPr>
        <p:spPr>
          <a:xfrm>
            <a:off x="777240" y="2496312"/>
            <a:ext cx="512064" cy="51206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508760" y="2350008"/>
            <a:ext cx="4160520" cy="365760"/>
          </a:xfrm>
          <a:prstGeom prst="rect">
            <a:avLst/>
          </a:prstGeom>
          <a:noFill/>
          <a:ln/>
        </p:spPr>
        <p:txBody>
          <a:bodyPr wrap="square" lIns="0" tIns="0" rIns="0" bIns="0" rtlCol="0" anchor="ctr"/>
          <a:lstStyle/>
          <a:p>
            <a:pPr indent="0" marL="0">
              <a:buNone/>
            </a:pPr>
            <a:r>
              <a:rPr lang="en-US" sz="1600" b="1" dirty="0">
                <a:solidFill>
                  <a:schemeClr val="tx2"/>
                </a:solidFill>
              </a:rPr>
              <a:t>Factible en la ESP32</a:t>
            </a:r>
            <a:endParaRPr lang="en-US" sz="1600" dirty="0"/>
          </a:p>
        </p:txBody>
      </p:sp>
      <p:sp>
        <p:nvSpPr>
          <p:cNvPr id="8" name="Text 6"/>
          <p:cNvSpPr txBox="1"/>
          <p:nvPr/>
        </p:nvSpPr>
        <p:spPr>
          <a:xfrm>
            <a:off x="1508760" y="2724912"/>
            <a:ext cx="4160520" cy="502920"/>
          </a:xfrm>
          <a:prstGeom prst="rect">
            <a:avLst/>
          </a:prstGeom>
          <a:noFill/>
          <a:ln/>
        </p:spPr>
        <p:txBody>
          <a:bodyPr wrap="square" lIns="0" tIns="0" rIns="0" bIns="0" rtlCol="0" anchor="t"/>
          <a:lstStyle/>
          <a:p>
            <a:pPr indent="0" marL="0">
              <a:buNone/>
            </a:pPr>
            <a:r>
              <a:rPr lang="en-US" sz="1400" dirty="0">
                <a:solidFill>
                  <a:schemeClr val="tx1"/>
                </a:solidFill>
              </a:rPr>
              <a:t>&lt; 32 KB de flash, &lt; 1 ms por predicción y sin memoria dinámica</a:t>
            </a:r>
            <a:endParaRPr lang="en-US" sz="1400" dirty="0"/>
          </a:p>
        </p:txBody>
      </p:sp>
      <p:sp>
        <p:nvSpPr>
          <p:cNvPr id="9" name="Criterio Rendimiento"/>
          <p:cNvSpPr/>
          <p:nvPr/>
        </p:nvSpPr>
        <p:spPr>
          <a:xfrm>
            <a:off x="548640" y="3493008"/>
            <a:ext cx="5303520" cy="1115568"/>
          </a:xfrm>
          <a:prstGeom prst="roundRect">
            <a:avLst>
              <a:gd name="adj" fmla="val 6557"/>
            </a:avLst>
          </a:prstGeom>
          <a:solidFill>
            <a:schemeClr val="bg2"/>
          </a:solidFill>
          <a:ln/>
        </p:spPr>
      </p:sp>
      <p:sp>
        <p:nvSpPr>
          <p:cNvPr id="10" name="Text 8"/>
          <p:cNvSpPr txBox="1"/>
          <p:nvPr/>
        </p:nvSpPr>
        <p:spPr>
          <a:xfrm>
            <a:off x="777240" y="3794760"/>
            <a:ext cx="512064" cy="51206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508760" y="3648456"/>
            <a:ext cx="4160520" cy="365760"/>
          </a:xfrm>
          <a:prstGeom prst="rect">
            <a:avLst/>
          </a:prstGeom>
          <a:noFill/>
          <a:ln/>
        </p:spPr>
        <p:txBody>
          <a:bodyPr wrap="square" lIns="0" tIns="0" rIns="0" bIns="0" rtlCol="0" anchor="ctr"/>
          <a:lstStyle/>
          <a:p>
            <a:pPr indent="0" marL="0">
              <a:buNone/>
            </a:pPr>
            <a:r>
              <a:rPr lang="en-US" sz="1600" b="1" dirty="0">
                <a:solidFill>
                  <a:schemeClr val="tx2"/>
                </a:solidFill>
              </a:rPr>
              <a:t>Rendimiento</a:t>
            </a:r>
            <a:endParaRPr lang="en-US" sz="1600" dirty="0"/>
          </a:p>
        </p:txBody>
      </p:sp>
      <p:sp>
        <p:nvSpPr>
          <p:cNvPr id="12" name="Text 10"/>
          <p:cNvSpPr txBox="1"/>
          <p:nvPr/>
        </p:nvSpPr>
        <p:spPr>
          <a:xfrm>
            <a:off x="1508760" y="4023360"/>
            <a:ext cx="4160520" cy="502920"/>
          </a:xfrm>
          <a:prstGeom prst="rect">
            <a:avLst/>
          </a:prstGeom>
          <a:noFill/>
          <a:ln/>
        </p:spPr>
        <p:txBody>
          <a:bodyPr wrap="square" lIns="0" tIns="0" rIns="0" bIns="0" rtlCol="0" anchor="t"/>
          <a:lstStyle/>
          <a:p>
            <a:pPr indent="0" marL="0">
              <a:buNone/>
            </a:pPr>
            <a:r>
              <a:rPr lang="en-US" sz="1400" dirty="0">
                <a:solidFill>
                  <a:schemeClr val="tx1"/>
                </a:solidFill>
              </a:rPr>
              <a:t>F1 macro sin dudosos dentro de un desvío del mejor</a:t>
            </a:r>
            <a:endParaRPr lang="en-US" sz="1400" dirty="0"/>
          </a:p>
        </p:txBody>
      </p:sp>
      <p:sp>
        <p:nvSpPr>
          <p:cNvPr id="13" name="Criterio Desempate"/>
          <p:cNvSpPr/>
          <p:nvPr/>
        </p:nvSpPr>
        <p:spPr>
          <a:xfrm>
            <a:off x="548640" y="4791456"/>
            <a:ext cx="5303520" cy="1115568"/>
          </a:xfrm>
          <a:prstGeom prst="roundRect">
            <a:avLst>
              <a:gd name="adj" fmla="val 6557"/>
            </a:avLst>
          </a:prstGeom>
          <a:solidFill>
            <a:schemeClr val="bg2"/>
          </a:solidFill>
          <a:ln/>
        </p:spPr>
      </p:sp>
      <p:sp>
        <p:nvSpPr>
          <p:cNvPr id="14" name="Text 12"/>
          <p:cNvSpPr txBox="1"/>
          <p:nvPr/>
        </p:nvSpPr>
        <p:spPr>
          <a:xfrm>
            <a:off x="777240" y="5093208"/>
            <a:ext cx="512064" cy="51206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1508760" y="4946904"/>
            <a:ext cx="4160520" cy="365760"/>
          </a:xfrm>
          <a:prstGeom prst="rect">
            <a:avLst/>
          </a:prstGeom>
          <a:noFill/>
          <a:ln/>
        </p:spPr>
        <p:txBody>
          <a:bodyPr wrap="square" lIns="0" tIns="0" rIns="0" bIns="0" rtlCol="0" anchor="ctr"/>
          <a:lstStyle/>
          <a:p>
            <a:pPr indent="0" marL="0">
              <a:buNone/>
            </a:pPr>
            <a:r>
              <a:rPr lang="en-US" sz="1600" b="1" dirty="0">
                <a:solidFill>
                  <a:schemeClr val="tx2"/>
                </a:solidFill>
              </a:rPr>
              <a:t>Desempate</a:t>
            </a:r>
            <a:endParaRPr lang="en-US" sz="1600" dirty="0"/>
          </a:p>
        </p:txBody>
      </p:sp>
      <p:sp>
        <p:nvSpPr>
          <p:cNvPr id="16" name="Text 14"/>
          <p:cNvSpPr txBox="1"/>
          <p:nvPr/>
        </p:nvSpPr>
        <p:spPr>
          <a:xfrm>
            <a:off x="1508760" y="5321808"/>
            <a:ext cx="4160520" cy="502920"/>
          </a:xfrm>
          <a:prstGeom prst="rect">
            <a:avLst/>
          </a:prstGeom>
          <a:noFill/>
          <a:ln/>
        </p:spPr>
        <p:txBody>
          <a:bodyPr wrap="square" lIns="0" tIns="0" rIns="0" bIns="0" rtlCol="0" anchor="t"/>
          <a:lstStyle/>
          <a:p>
            <a:pPr indent="0" marL="0">
              <a:buNone/>
            </a:pPr>
            <a:r>
              <a:rPr lang="en-US" sz="1400" dirty="0">
                <a:solidFill>
                  <a:schemeClr val="tx1"/>
                </a:solidFill>
              </a:rPr>
              <a:t>Interpretabilidad</a:t>
            </a:r>
            <a:endParaRPr lang="en-US" sz="1400" dirty="0"/>
          </a:p>
        </p:txBody>
      </p:sp>
      <p:sp>
        <p:nvSpPr>
          <p:cNvPr id="17" name="Text 15"/>
          <p:cNvSpPr txBox="1"/>
          <p:nvPr/>
        </p:nvSpPr>
        <p:spPr>
          <a:xfrm>
            <a:off x="6263640" y="1645920"/>
            <a:ext cx="5376672" cy="365760"/>
          </a:xfrm>
          <a:prstGeom prst="rect">
            <a:avLst/>
          </a:prstGeom>
          <a:noFill/>
          <a:ln/>
        </p:spPr>
        <p:txBody>
          <a:bodyPr wrap="square" lIns="0" tIns="0" rIns="0" bIns="0" rtlCol="0" anchor="ctr"/>
          <a:lstStyle/>
          <a:p>
            <a:pPr indent="0" marL="0">
              <a:buNone/>
            </a:pPr>
            <a:r>
              <a:rPr lang="en-US" sz="1800" b="1" dirty="0">
                <a:solidFill>
                  <a:schemeClr val="tx2"/>
                </a:solidFill>
              </a:rPr>
              <a:t>Restricciones agregadas después de ver resultados</a:t>
            </a:r>
            <a:endParaRPr lang="en-US" sz="1800" dirty="0"/>
          </a:p>
        </p:txBody>
      </p:sp>
      <p:sp>
        <p:nvSpPr>
          <p:cNvPr id="18" name="Suelo + al menos una variable del aire"/>
          <p:cNvSpPr/>
          <p:nvPr/>
        </p:nvSpPr>
        <p:spPr>
          <a:xfrm>
            <a:off x="6263640" y="2194560"/>
            <a:ext cx="5376672" cy="1051560"/>
          </a:xfrm>
          <a:prstGeom prst="roundRect">
            <a:avLst>
              <a:gd name="adj" fmla="val 6957"/>
            </a:avLst>
          </a:prstGeom>
          <a:solidFill>
            <a:schemeClr val="accent2">
              <a:alpha val="14000"/>
            </a:schemeClr>
          </a:solidFill>
          <a:ln/>
        </p:spPr>
      </p:sp>
      <p:sp>
        <p:nvSpPr>
          <p:cNvPr id="19" name="Suelo + al menos una variable del aire círculo"/>
          <p:cNvSpPr/>
          <p:nvPr/>
        </p:nvSpPr>
        <p:spPr>
          <a:xfrm>
            <a:off x="6446520" y="2359152"/>
            <a:ext cx="457200" cy="457200"/>
          </a:xfrm>
          <a:prstGeom prst="ellipse">
            <a:avLst/>
          </a:prstGeom>
          <a:solidFill>
            <a:schemeClr val="tx2"/>
          </a:solidFill>
          <a:ln/>
        </p:spPr>
      </p:sp>
      <p:pic>
        <p:nvPicPr>
          <p:cNvPr id="20" name="Suelo + al menos una variable del aire icono" descr="preencoded.png">    </p:cNvPr>
          <p:cNvPicPr>
            <a:picLocks noChangeAspect="1"/>
          </p:cNvPicPr>
          <p:nvPr/>
        </p:nvPicPr>
        <p:blipFill>
          <a:blip r:embed="rId1"/>
          <a:stretch>
            <a:fillRect/>
          </a:stretch>
        </p:blipFill>
        <p:spPr>
          <a:xfrm>
            <a:off x="6556248" y="2468880"/>
            <a:ext cx="237744" cy="237744"/>
          </a:xfrm>
          <a:prstGeom prst="rect">
            <a:avLst/>
          </a:prstGeom>
        </p:spPr>
      </p:pic>
      <p:sp>
        <p:nvSpPr>
          <p:cNvPr id="21" name="Text 18"/>
          <p:cNvSpPr txBox="1"/>
          <p:nvPr/>
        </p:nvSpPr>
        <p:spPr>
          <a:xfrm>
            <a:off x="7086600" y="2322576"/>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Suelo + al menos una variable del aire</a:t>
            </a:r>
            <a:endParaRPr lang="en-US" sz="1600" dirty="0"/>
          </a:p>
        </p:txBody>
      </p:sp>
      <p:sp>
        <p:nvSpPr>
          <p:cNvPr id="22" name="Text 19"/>
          <p:cNvSpPr txBox="1"/>
          <p:nvPr/>
        </p:nvSpPr>
        <p:spPr>
          <a:xfrm>
            <a:off x="7086600" y="2697480"/>
            <a:ext cx="4389120" cy="484632"/>
          </a:xfrm>
          <a:prstGeom prst="rect">
            <a:avLst/>
          </a:prstGeom>
          <a:noFill/>
          <a:ln/>
        </p:spPr>
        <p:txBody>
          <a:bodyPr wrap="square" lIns="0" tIns="0" rIns="0" bIns="0" rtlCol="0" anchor="t"/>
          <a:lstStyle/>
          <a:p>
            <a:pPr indent="0" marL="0">
              <a:buNone/>
            </a:pPr>
            <a:r>
              <a:rPr lang="en-US" sz="1400" dirty="0">
                <a:solidFill>
                  <a:schemeClr val="tx1"/>
                </a:solidFill>
              </a:rPr>
              <a:t>Por eso los baselines sólo con la sonda no eran elegibles.</a:t>
            </a:r>
            <a:endParaRPr lang="en-US" sz="1400" dirty="0"/>
          </a:p>
        </p:txBody>
      </p:sp>
      <p:sp>
        <p:nvSpPr>
          <p:cNvPr id="23" name="Sin luz"/>
          <p:cNvSpPr/>
          <p:nvPr/>
        </p:nvSpPr>
        <p:spPr>
          <a:xfrm>
            <a:off x="6263640" y="3401568"/>
            <a:ext cx="5376672" cy="1463040"/>
          </a:xfrm>
          <a:prstGeom prst="roundRect">
            <a:avLst>
              <a:gd name="adj" fmla="val 5000"/>
            </a:avLst>
          </a:prstGeom>
          <a:solidFill>
            <a:schemeClr val="accent2">
              <a:alpha val="14000"/>
            </a:schemeClr>
          </a:solidFill>
          <a:ln/>
        </p:spPr>
      </p:sp>
      <p:sp>
        <p:nvSpPr>
          <p:cNvPr id="24" name="Sin luz círculo"/>
          <p:cNvSpPr/>
          <p:nvPr/>
        </p:nvSpPr>
        <p:spPr>
          <a:xfrm>
            <a:off x="6446520" y="3566160"/>
            <a:ext cx="457200" cy="457200"/>
          </a:xfrm>
          <a:prstGeom prst="ellipse">
            <a:avLst/>
          </a:prstGeom>
          <a:solidFill>
            <a:schemeClr val="tx2"/>
          </a:solidFill>
          <a:ln/>
        </p:spPr>
      </p:sp>
      <p:pic>
        <p:nvPicPr>
          <p:cNvPr id="25" name="Sin luz icono" descr="preencoded.png">    </p:cNvPr>
          <p:cNvPicPr>
            <a:picLocks noChangeAspect="1"/>
          </p:cNvPicPr>
          <p:nvPr/>
        </p:nvPicPr>
        <p:blipFill>
          <a:blip r:embed="rId2"/>
          <a:stretch>
            <a:fillRect/>
          </a:stretch>
        </p:blipFill>
        <p:spPr>
          <a:xfrm>
            <a:off x="6556248" y="3675888"/>
            <a:ext cx="237744" cy="237744"/>
          </a:xfrm>
          <a:prstGeom prst="rect">
            <a:avLst/>
          </a:prstGeom>
        </p:spPr>
      </p:pic>
      <p:sp>
        <p:nvSpPr>
          <p:cNvPr id="26" name="Text 22"/>
          <p:cNvSpPr txBox="1"/>
          <p:nvPr/>
        </p:nvSpPr>
        <p:spPr>
          <a:xfrm>
            <a:off x="7086600" y="3529584"/>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Sin luz</a:t>
            </a:r>
            <a:endParaRPr lang="en-US" sz="1600" dirty="0"/>
          </a:p>
        </p:txBody>
      </p:sp>
      <p:sp>
        <p:nvSpPr>
          <p:cNvPr id="27" name="Text 23"/>
          <p:cNvSpPr txBox="1"/>
          <p:nvPr/>
        </p:nvSpPr>
        <p:spPr>
          <a:xfrm>
            <a:off x="7086600" y="3904488"/>
            <a:ext cx="4389120" cy="896112"/>
          </a:xfrm>
          <a:prstGeom prst="rect">
            <a:avLst/>
          </a:prstGeom>
          <a:noFill/>
          <a:ln/>
        </p:spPr>
        <p:txBody>
          <a:bodyPr wrap="square" lIns="0" tIns="0" rIns="0" bIns="0" rtlCol="0" anchor="t"/>
          <a:lstStyle/>
          <a:p>
            <a:pPr indent="0" marL="0">
              <a:buNone/>
            </a:pPr>
            <a:r>
              <a:rPr lang="en-US" sz="1400" dirty="0">
                <a:solidFill>
                  <a:schemeClr val="tx1"/>
                </a:solidFill>
              </a:rPr>
              <a:t>Con luz_media_1h la regresión logística llega a recall de marchita 0,91, pero aprende “oscuro → marchita”: con la planta sana (22/10) marca marchita en el 76–83 % de las filas nocturnas.</a:t>
            </a:r>
            <a:endParaRPr lang="en-US" sz="1400" dirty="0"/>
          </a:p>
        </p:txBody>
      </p:sp>
      <p:sp>
        <p:nvSpPr>
          <p:cNvPr id="28" name="Condición de seguridad no alcanzada"/>
          <p:cNvSpPr/>
          <p:nvPr/>
        </p:nvSpPr>
        <p:spPr>
          <a:xfrm>
            <a:off x="6263640" y="5020056"/>
            <a:ext cx="5376672" cy="1188720"/>
          </a:xfrm>
          <a:prstGeom prst="roundRect">
            <a:avLst>
              <a:gd name="adj" fmla="val 6154"/>
            </a:avLst>
          </a:prstGeom>
          <a:solidFill>
            <a:schemeClr val="accent2">
              <a:alpha val="14000"/>
            </a:schemeClr>
          </a:solidFill>
          <a:ln/>
        </p:spPr>
      </p:sp>
      <p:sp>
        <p:nvSpPr>
          <p:cNvPr id="29" name="Condición de seguridad no alcanzada círculo"/>
          <p:cNvSpPr/>
          <p:nvPr/>
        </p:nvSpPr>
        <p:spPr>
          <a:xfrm>
            <a:off x="6446520" y="5184648"/>
            <a:ext cx="457200" cy="457200"/>
          </a:xfrm>
          <a:prstGeom prst="ellipse">
            <a:avLst/>
          </a:prstGeom>
          <a:solidFill>
            <a:schemeClr val="tx2"/>
          </a:solidFill>
          <a:ln/>
        </p:spPr>
      </p:sp>
      <p:pic>
        <p:nvPicPr>
          <p:cNvPr id="30" name="Condición de seguridad no alcanzada icono" descr="preencoded.png">    </p:cNvPr>
          <p:cNvPicPr>
            <a:picLocks noChangeAspect="1"/>
          </p:cNvPicPr>
          <p:nvPr/>
        </p:nvPicPr>
        <p:blipFill>
          <a:blip r:embed="rId3"/>
          <a:stretch>
            <a:fillRect/>
          </a:stretch>
        </p:blipFill>
        <p:spPr>
          <a:xfrm>
            <a:off x="6556248" y="5294376"/>
            <a:ext cx="237744" cy="237744"/>
          </a:xfrm>
          <a:prstGeom prst="rect">
            <a:avLst/>
          </a:prstGeom>
        </p:spPr>
      </p:pic>
      <p:sp>
        <p:nvSpPr>
          <p:cNvPr id="31" name="Text 26"/>
          <p:cNvSpPr txBox="1"/>
          <p:nvPr/>
        </p:nvSpPr>
        <p:spPr>
          <a:xfrm>
            <a:off x="7086600" y="5148072"/>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Condición de seguridad no alcanzada</a:t>
            </a:r>
            <a:endParaRPr lang="en-US" sz="1600" dirty="0"/>
          </a:p>
        </p:txBody>
      </p:sp>
      <p:sp>
        <p:nvSpPr>
          <p:cNvPr id="32" name="Text 27"/>
          <p:cNvSpPr txBox="1"/>
          <p:nvPr/>
        </p:nvSpPr>
        <p:spPr>
          <a:xfrm>
            <a:off x="7086600" y="5522976"/>
            <a:ext cx="4389120" cy="621792"/>
          </a:xfrm>
          <a:prstGeom prst="rect">
            <a:avLst/>
          </a:prstGeom>
          <a:noFill/>
          <a:ln/>
        </p:spPr>
        <p:txBody>
          <a:bodyPr wrap="square" lIns="0" tIns="0" rIns="0" bIns="0" rtlCol="0" anchor="t"/>
          <a:lstStyle/>
          <a:p>
            <a:pPr indent="0" marL="0">
              <a:buNone/>
            </a:pPr>
            <a:r>
              <a:rPr lang="en-US" sz="1400" dirty="0">
                <a:solidFill>
                  <a:schemeClr val="tx1"/>
                </a:solidFill>
              </a:rPr>
              <a:t>Ninguna de las 66 configuraciones sin luz logró recall ≥ 0,9 y acertar la marchita de octubre. No se forzó.</a:t>
            </a:r>
            <a:endParaRPr lang="en-US" sz="1400" dirty="0"/>
          </a:p>
        </p:txBody>
      </p:sp>
      <p:sp>
        <p:nvSpPr>
          <p:cNvPr id="33" name="Text 28"/>
          <p:cNvSpPr txBox="1"/>
          <p:nvPr/>
        </p:nvSpPr>
        <p:spPr>
          <a:xfrm>
            <a:off x="548640" y="5989320"/>
            <a:ext cx="5303520" cy="320040"/>
          </a:xfrm>
          <a:prstGeom prst="rect">
            <a:avLst/>
          </a:prstGeom>
          <a:noFill/>
          <a:ln/>
        </p:spPr>
        <p:txBody>
          <a:bodyPr wrap="square" lIns="0" tIns="0" rIns="0" bIns="0" rtlCol="0" anchor="ctr"/>
          <a:lstStyle/>
          <a:p>
            <a:pPr indent="0" marL="0">
              <a:buNone/>
            </a:pPr>
            <a:r>
              <a:rPr lang="en-US" sz="1400" i="1" dirty="0">
                <a:solidFill>
                  <a:schemeClr val="accent5"/>
                </a:solidFill>
              </a:rPr>
              <a:t>Al ser decisiones post-hoc, las métricas pueden ser optimistas.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MODELO ELEGIDO · arbol-p2-f012-58e644</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Un árbol de profundidad 2</a:t>
            </a:r>
            <a:endParaRPr lang="en-US" sz="3600" dirty="0"/>
          </a:p>
        </p:txBody>
      </p:sp>
      <p:sp>
        <p:nvSpPr>
          <p:cNvPr id="4" name="Panel árbol"/>
          <p:cNvSpPr/>
          <p:nvPr/>
        </p:nvSpPr>
        <p:spPr>
          <a:xfrm>
            <a:off x="548640" y="1645920"/>
            <a:ext cx="6949440" cy="4526280"/>
          </a:xfrm>
          <a:prstGeom prst="roundRect">
            <a:avLst>
              <a:gd name="adj" fmla="val 1616"/>
            </a:avLst>
          </a:prstGeom>
          <a:solidFill>
            <a:schemeClr val="bg2"/>
          </a:solidFill>
          <a:ln/>
        </p:spPr>
      </p:sp>
      <p:sp>
        <p:nvSpPr>
          <p:cNvPr id="5" name="Shape 3"/>
          <p:cNvSpPr/>
          <p:nvPr/>
        </p:nvSpPr>
        <p:spPr>
          <a:xfrm flipH="1">
            <a:off x="1828800" y="2578608"/>
            <a:ext cx="2194560" cy="804672"/>
          </a:xfrm>
          <a:prstGeom prst="line">
            <a:avLst/>
          </a:prstGeom>
          <a:noFill/>
          <a:ln w="25400">
            <a:solidFill>
              <a:srgbClr val="5F7A6D"/>
            </a:solidFill>
            <a:prstDash val="solid"/>
          </a:ln>
        </p:spPr>
      </p:sp>
      <p:sp>
        <p:nvSpPr>
          <p:cNvPr id="6" name="Shape 4"/>
          <p:cNvSpPr/>
          <p:nvPr/>
        </p:nvSpPr>
        <p:spPr>
          <a:xfrm>
            <a:off x="4023360" y="2578608"/>
            <a:ext cx="1508760" cy="621792"/>
          </a:xfrm>
          <a:prstGeom prst="line">
            <a:avLst/>
          </a:prstGeom>
          <a:noFill/>
          <a:ln w="25400">
            <a:solidFill>
              <a:srgbClr val="5F7A6D"/>
            </a:solidFill>
            <a:prstDash val="solid"/>
          </a:ln>
        </p:spPr>
      </p:sp>
      <p:sp>
        <p:nvSpPr>
          <p:cNvPr id="7" name="Shape 5"/>
          <p:cNvSpPr/>
          <p:nvPr/>
        </p:nvSpPr>
        <p:spPr>
          <a:xfrm flipH="1">
            <a:off x="4343400" y="3950208"/>
            <a:ext cx="1188720" cy="758952"/>
          </a:xfrm>
          <a:prstGeom prst="line">
            <a:avLst/>
          </a:prstGeom>
          <a:noFill/>
          <a:ln w="25400">
            <a:solidFill>
              <a:srgbClr val="5F7A6D"/>
            </a:solidFill>
            <a:prstDash val="solid"/>
          </a:ln>
        </p:spPr>
      </p:sp>
      <p:sp>
        <p:nvSpPr>
          <p:cNvPr id="8" name="Shape 6"/>
          <p:cNvSpPr/>
          <p:nvPr/>
        </p:nvSpPr>
        <p:spPr>
          <a:xfrm>
            <a:off x="5532120" y="3950208"/>
            <a:ext cx="1188720" cy="758952"/>
          </a:xfrm>
          <a:prstGeom prst="line">
            <a:avLst/>
          </a:prstGeom>
          <a:noFill/>
          <a:ln w="25400">
            <a:solidFill>
              <a:srgbClr val="5F7A6D"/>
            </a:solidFill>
            <a:prstDash val="solid"/>
          </a:ln>
        </p:spPr>
      </p:sp>
      <p:sp>
        <p:nvSpPr>
          <p:cNvPr id="9" name="Nodo raíz"/>
          <p:cNvSpPr txBox="1"/>
          <p:nvPr/>
        </p:nvSpPr>
        <p:spPr>
          <a:xfrm>
            <a:off x="2606040" y="1874520"/>
            <a:ext cx="2834640" cy="704088"/>
          </a:xfrm>
          <a:prstGeom prst="roundRect">
            <a:avLst>
              <a:gd name="adj" fmla="val 10390"/>
            </a:avLst>
          </a:prstGeom>
          <a:solidFill>
            <a:schemeClr val="tx2"/>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temp_c ≤ 10,25 °C ?</a:t>
            </a:r>
            <a:endParaRPr lang="en-US" sz="1600" dirty="0"/>
          </a:p>
        </p:txBody>
      </p:sp>
      <p:sp>
        <p:nvSpPr>
          <p:cNvPr id="10" name="Nodo suelo"/>
          <p:cNvSpPr txBox="1"/>
          <p:nvPr/>
        </p:nvSpPr>
        <p:spPr>
          <a:xfrm>
            <a:off x="3977640" y="3246120"/>
            <a:ext cx="3108960" cy="704088"/>
          </a:xfrm>
          <a:prstGeom prst="roundRect">
            <a:avLst>
              <a:gd name="adj" fmla="val 10390"/>
            </a:avLst>
          </a:prstGeom>
          <a:solidFill>
            <a:schemeClr val="tx2"/>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suelo_mv ≤ 1821,5 mV ?</a:t>
            </a:r>
            <a:endParaRPr lang="en-US" sz="1600" dirty="0"/>
          </a:p>
        </p:txBody>
      </p:sp>
      <p:sp>
        <p:nvSpPr>
          <p:cNvPr id="11" name="Text 9"/>
          <p:cNvSpPr txBox="1"/>
          <p:nvPr/>
        </p:nvSpPr>
        <p:spPr>
          <a:xfrm>
            <a:off x="2377440" y="2743200"/>
            <a:ext cx="457200" cy="274320"/>
          </a:xfrm>
          <a:prstGeom prst="rect">
            <a:avLst/>
          </a:prstGeom>
          <a:noFill/>
          <a:ln/>
        </p:spPr>
        <p:txBody>
          <a:bodyPr wrap="square" lIns="0" tIns="0" rIns="0" bIns="0" rtlCol="0" anchor="t"/>
          <a:lstStyle/>
          <a:p>
            <a:pPr indent="0" marL="0">
              <a:buNone/>
            </a:pPr>
            <a:r>
              <a:rPr lang="en-US" sz="1300" b="1" dirty="0">
                <a:solidFill>
                  <a:schemeClr val="accent5"/>
                </a:solidFill>
              </a:rPr>
              <a:t>sí</a:t>
            </a:r>
            <a:endParaRPr lang="en-US" sz="1300" dirty="0"/>
          </a:p>
        </p:txBody>
      </p:sp>
      <p:sp>
        <p:nvSpPr>
          <p:cNvPr id="12" name="Text 10"/>
          <p:cNvSpPr txBox="1"/>
          <p:nvPr/>
        </p:nvSpPr>
        <p:spPr>
          <a:xfrm>
            <a:off x="4937760" y="2670048"/>
            <a:ext cx="457200" cy="274320"/>
          </a:xfrm>
          <a:prstGeom prst="rect">
            <a:avLst/>
          </a:prstGeom>
          <a:noFill/>
          <a:ln/>
        </p:spPr>
        <p:txBody>
          <a:bodyPr wrap="square" lIns="0" tIns="0" rIns="0" bIns="0" rtlCol="0" anchor="t"/>
          <a:lstStyle/>
          <a:p>
            <a:pPr indent="0" marL="0">
              <a:buNone/>
            </a:pPr>
            <a:r>
              <a:rPr lang="en-US" sz="1300" b="1" dirty="0">
                <a:solidFill>
                  <a:schemeClr val="accent5"/>
                </a:solidFill>
              </a:rPr>
              <a:t>no</a:t>
            </a:r>
            <a:endParaRPr lang="en-US" sz="1300" dirty="0"/>
          </a:p>
        </p:txBody>
      </p:sp>
      <p:sp>
        <p:nvSpPr>
          <p:cNvPr id="13" name="Text 11"/>
          <p:cNvSpPr txBox="1"/>
          <p:nvPr/>
        </p:nvSpPr>
        <p:spPr>
          <a:xfrm>
            <a:off x="4434840" y="4133088"/>
            <a:ext cx="457200" cy="274320"/>
          </a:xfrm>
          <a:prstGeom prst="rect">
            <a:avLst/>
          </a:prstGeom>
          <a:noFill/>
          <a:ln/>
        </p:spPr>
        <p:txBody>
          <a:bodyPr wrap="square" lIns="0" tIns="0" rIns="0" bIns="0" rtlCol="0" anchor="t"/>
          <a:lstStyle/>
          <a:p>
            <a:pPr indent="0" marL="0">
              <a:buNone/>
            </a:pPr>
            <a:r>
              <a:rPr lang="en-US" sz="1300" b="1" dirty="0">
                <a:solidFill>
                  <a:schemeClr val="accent5"/>
                </a:solidFill>
              </a:rPr>
              <a:t>sí</a:t>
            </a:r>
            <a:endParaRPr lang="en-US" sz="1300" dirty="0"/>
          </a:p>
        </p:txBody>
      </p:sp>
      <p:sp>
        <p:nvSpPr>
          <p:cNvPr id="14" name="Text 12"/>
          <p:cNvSpPr txBox="1"/>
          <p:nvPr/>
        </p:nvSpPr>
        <p:spPr>
          <a:xfrm>
            <a:off x="6355080" y="4133088"/>
            <a:ext cx="457200" cy="274320"/>
          </a:xfrm>
          <a:prstGeom prst="rect">
            <a:avLst/>
          </a:prstGeom>
          <a:noFill/>
          <a:ln/>
        </p:spPr>
        <p:txBody>
          <a:bodyPr wrap="square" lIns="0" tIns="0" rIns="0" bIns="0" rtlCol="0" anchor="t"/>
          <a:lstStyle/>
          <a:p>
            <a:pPr indent="0" marL="0">
              <a:buNone/>
            </a:pPr>
            <a:r>
              <a:rPr lang="en-US" sz="1300" b="1" dirty="0">
                <a:solidFill>
                  <a:schemeClr val="accent5"/>
                </a:solidFill>
              </a:rPr>
              <a:t>no</a:t>
            </a:r>
            <a:endParaRPr lang="en-US" sz="1300" dirty="0"/>
          </a:p>
        </p:txBody>
      </p:sp>
      <p:sp>
        <p:nvSpPr>
          <p:cNvPr id="15" name="Hoja marchita halo"/>
          <p:cNvSpPr/>
          <p:nvPr/>
        </p:nvSpPr>
        <p:spPr>
          <a:xfrm>
            <a:off x="1360627" y="3280867"/>
            <a:ext cx="936346" cy="936346"/>
          </a:xfrm>
          <a:prstGeom prst="ellipse">
            <a:avLst/>
          </a:prstGeom>
          <a:solidFill>
            <a:schemeClr val="accent3">
              <a:alpha val="28000"/>
            </a:schemeClr>
          </a:solidFill>
          <a:ln/>
        </p:spPr>
      </p:sp>
      <p:sp>
        <p:nvSpPr>
          <p:cNvPr id="16" name="Hoja marchita"/>
          <p:cNvSpPr txBox="1"/>
          <p:nvPr/>
        </p:nvSpPr>
        <p:spPr>
          <a:xfrm>
            <a:off x="1463040" y="3383280"/>
            <a:ext cx="731520" cy="731520"/>
          </a:xfrm>
          <a:prstGeom prst="ellipse">
            <a:avLst/>
          </a:prstGeom>
          <a:solidFill>
            <a:schemeClr val="accent3"/>
          </a:solidFill>
          <a:ln/>
        </p:spPr>
        <p:txBody>
          <a:bodyPr wrap="square" lIns="0" tIns="0" rIns="0" bIns="0" rtlCol="0" anchor="ctr"/>
          <a:lstStyle/>
          <a:p>
            <a:pPr algn="ctr" indent="0" marL="0">
              <a:buNone/>
            </a:pPr>
            <a:endParaRPr lang="en-US" sz="1200" dirty="0"/>
          </a:p>
        </p:txBody>
      </p:sp>
      <p:sp>
        <p:nvSpPr>
          <p:cNvPr id="17" name="Text 15"/>
          <p:cNvSpPr txBox="1"/>
          <p:nvPr/>
        </p:nvSpPr>
        <p:spPr>
          <a:xfrm>
            <a:off x="960120" y="4169664"/>
            <a:ext cx="1737360" cy="548640"/>
          </a:xfrm>
          <a:prstGeom prst="rect">
            <a:avLst/>
          </a:prstGeom>
          <a:noFill/>
          <a:ln/>
        </p:spPr>
        <p:txBody>
          <a:bodyPr wrap="square" lIns="0" tIns="0" rIns="0" bIns="0" rtlCol="0" anchor="t"/>
          <a:lstStyle/>
          <a:p>
            <a:pPr algn="ctr" indent="0" marL="0">
              <a:buNone/>
            </a:pPr>
            <a:r>
              <a:rPr lang="en-US" sz="1500" b="1" dirty="0">
                <a:solidFill>
                  <a:schemeClr val="accent3"/>
                </a:solidFill>
              </a:rPr>
              <a:t>marchita</a:t>
            </a:r>
            <a:endParaRPr lang="en-US" sz="1500" dirty="0"/>
          </a:p>
          <a:p>
            <a:pPr algn="ctr" indent="0" marL="0">
              <a:buNone/>
            </a:pPr>
            <a:r>
              <a:rPr lang="en-US" sz="1200" dirty="0">
                <a:solidFill>
                  <a:schemeClr val="accent5"/>
                </a:solidFill>
              </a:rPr>
              <a:t>9,7 % de las filas</a:t>
            </a:r>
            <a:endParaRPr lang="en-US" sz="1500" dirty="0"/>
          </a:p>
        </p:txBody>
      </p:sp>
      <p:sp>
        <p:nvSpPr>
          <p:cNvPr id="18" name="Hoja saludable halo"/>
          <p:cNvSpPr/>
          <p:nvPr/>
        </p:nvSpPr>
        <p:spPr>
          <a:xfrm>
            <a:off x="3875227" y="4606747"/>
            <a:ext cx="936346" cy="936346"/>
          </a:xfrm>
          <a:prstGeom prst="ellipse">
            <a:avLst/>
          </a:prstGeom>
          <a:solidFill>
            <a:schemeClr val="accent1">
              <a:alpha val="28000"/>
            </a:schemeClr>
          </a:solidFill>
          <a:ln/>
        </p:spPr>
      </p:sp>
      <p:sp>
        <p:nvSpPr>
          <p:cNvPr id="19" name="Hoja saludable"/>
          <p:cNvSpPr txBox="1"/>
          <p:nvPr/>
        </p:nvSpPr>
        <p:spPr>
          <a:xfrm>
            <a:off x="3977640" y="4709160"/>
            <a:ext cx="731520" cy="731520"/>
          </a:xfrm>
          <a:prstGeom prst="ellipse">
            <a:avLst/>
          </a:prstGeom>
          <a:solidFill>
            <a:schemeClr val="accent1"/>
          </a:solidFill>
          <a:ln/>
        </p:spPr>
        <p:txBody>
          <a:bodyPr wrap="square" lIns="0" tIns="0" rIns="0" bIns="0" rtlCol="0" anchor="ctr"/>
          <a:lstStyle/>
          <a:p>
            <a:pPr algn="ctr" indent="0" marL="0">
              <a:buNone/>
            </a:pPr>
            <a:endParaRPr lang="en-US" sz="1200" dirty="0"/>
          </a:p>
        </p:txBody>
      </p:sp>
      <p:sp>
        <p:nvSpPr>
          <p:cNvPr id="20" name="Text 18"/>
          <p:cNvSpPr txBox="1"/>
          <p:nvPr/>
        </p:nvSpPr>
        <p:spPr>
          <a:xfrm>
            <a:off x="3474720" y="5495544"/>
            <a:ext cx="1737360" cy="548640"/>
          </a:xfrm>
          <a:prstGeom prst="rect">
            <a:avLst/>
          </a:prstGeom>
          <a:noFill/>
          <a:ln/>
        </p:spPr>
        <p:txBody>
          <a:bodyPr wrap="square" lIns="0" tIns="0" rIns="0" bIns="0" rtlCol="0" anchor="t"/>
          <a:lstStyle/>
          <a:p>
            <a:pPr algn="ctr" indent="0" marL="0">
              <a:buNone/>
            </a:pPr>
            <a:r>
              <a:rPr lang="en-US" sz="1500" b="1" dirty="0">
                <a:solidFill>
                  <a:schemeClr val="accent1"/>
                </a:solidFill>
              </a:rPr>
              <a:t>saludable</a:t>
            </a:r>
            <a:endParaRPr lang="en-US" sz="1500" dirty="0"/>
          </a:p>
          <a:p>
            <a:pPr algn="ctr" indent="0" marL="0">
              <a:buNone/>
            </a:pPr>
            <a:r>
              <a:rPr lang="en-US" sz="1200" dirty="0">
                <a:solidFill>
                  <a:schemeClr val="accent5"/>
                </a:solidFill>
              </a:rPr>
              <a:t>73,0 % de las filas</a:t>
            </a:r>
            <a:endParaRPr lang="en-US" sz="1500" dirty="0"/>
          </a:p>
        </p:txBody>
      </p:sp>
      <p:sp>
        <p:nvSpPr>
          <p:cNvPr id="21" name="Hoja estresada halo"/>
          <p:cNvSpPr/>
          <p:nvPr/>
        </p:nvSpPr>
        <p:spPr>
          <a:xfrm>
            <a:off x="6252667" y="4606747"/>
            <a:ext cx="936346" cy="936346"/>
          </a:xfrm>
          <a:prstGeom prst="ellipse">
            <a:avLst/>
          </a:prstGeom>
          <a:solidFill>
            <a:schemeClr val="accent2">
              <a:alpha val="28000"/>
            </a:schemeClr>
          </a:solidFill>
          <a:ln/>
        </p:spPr>
      </p:sp>
      <p:sp>
        <p:nvSpPr>
          <p:cNvPr id="22" name="Hoja estresada"/>
          <p:cNvSpPr txBox="1"/>
          <p:nvPr/>
        </p:nvSpPr>
        <p:spPr>
          <a:xfrm>
            <a:off x="6355080" y="4709160"/>
            <a:ext cx="731520" cy="731520"/>
          </a:xfrm>
          <a:prstGeom prst="ellipse">
            <a:avLst/>
          </a:prstGeom>
          <a:solidFill>
            <a:schemeClr val="accent2"/>
          </a:solidFill>
          <a:ln/>
        </p:spPr>
        <p:txBody>
          <a:bodyPr wrap="square" lIns="0" tIns="0" rIns="0" bIns="0" rtlCol="0" anchor="ctr"/>
          <a:lstStyle/>
          <a:p>
            <a:pPr algn="ctr" indent="0" marL="0">
              <a:buNone/>
            </a:pPr>
            <a:endParaRPr lang="en-US" sz="1200" dirty="0"/>
          </a:p>
        </p:txBody>
      </p:sp>
      <p:sp>
        <p:nvSpPr>
          <p:cNvPr id="23" name="Text 21"/>
          <p:cNvSpPr txBox="1"/>
          <p:nvPr/>
        </p:nvSpPr>
        <p:spPr>
          <a:xfrm>
            <a:off x="5852160" y="5495544"/>
            <a:ext cx="1737360" cy="548640"/>
          </a:xfrm>
          <a:prstGeom prst="rect">
            <a:avLst/>
          </a:prstGeom>
          <a:noFill/>
          <a:ln/>
        </p:spPr>
        <p:txBody>
          <a:bodyPr wrap="square" lIns="0" tIns="0" rIns="0" bIns="0" rtlCol="0" anchor="t"/>
          <a:lstStyle/>
          <a:p>
            <a:pPr algn="ctr" indent="0" marL="0">
              <a:buNone/>
            </a:pPr>
            <a:r>
              <a:rPr lang="en-US" sz="1500" b="1" dirty="0">
                <a:solidFill>
                  <a:schemeClr val="accent2"/>
                </a:solidFill>
              </a:rPr>
              <a:t>estresada</a:t>
            </a:r>
            <a:endParaRPr lang="en-US" sz="1500" dirty="0"/>
          </a:p>
          <a:p>
            <a:pPr algn="ctr" indent="0" marL="0">
              <a:buNone/>
            </a:pPr>
            <a:r>
              <a:rPr lang="en-US" sz="1200" dirty="0">
                <a:solidFill>
                  <a:schemeClr val="accent5"/>
                </a:solidFill>
              </a:rPr>
              <a:t>17,3 % de las filas</a:t>
            </a:r>
            <a:endParaRPr lang="en-US" sz="1500" dirty="0"/>
          </a:p>
        </p:txBody>
      </p:sp>
      <p:sp>
        <p:nvSpPr>
          <p:cNvPr id="24" name="Text 22"/>
          <p:cNvSpPr txBox="1"/>
          <p:nvPr/>
        </p:nvSpPr>
        <p:spPr>
          <a:xfrm>
            <a:off x="7863840" y="1645920"/>
            <a:ext cx="3776472" cy="4572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0,282 ± 0,136</a:t>
            </a:r>
            <a:endParaRPr lang="en-US" sz="2800" dirty="0"/>
          </a:p>
        </p:txBody>
      </p:sp>
      <p:sp>
        <p:nvSpPr>
          <p:cNvPr id="25" name="Text 23"/>
          <p:cNvSpPr txBox="1"/>
          <p:nvPr/>
        </p:nvSpPr>
        <p:spPr>
          <a:xfrm>
            <a:off x="7863840" y="2103120"/>
            <a:ext cx="3776472" cy="365760"/>
          </a:xfrm>
          <a:prstGeom prst="rect">
            <a:avLst/>
          </a:prstGeom>
          <a:noFill/>
          <a:ln/>
        </p:spPr>
        <p:txBody>
          <a:bodyPr wrap="square" lIns="0" tIns="0" rIns="0" bIns="0" rtlCol="0" anchor="t"/>
          <a:lstStyle/>
          <a:p>
            <a:pPr indent="0" marL="0">
              <a:buNone/>
            </a:pPr>
            <a:r>
              <a:rPr lang="en-US" sz="1400" dirty="0">
                <a:solidFill>
                  <a:schemeClr val="tx1"/>
                </a:solidFill>
              </a:rPr>
              <a:t>F1 macro fuera de fold, sin dudosos</a:t>
            </a:r>
            <a:endParaRPr lang="en-US" sz="1400" dirty="0"/>
          </a:p>
        </p:txBody>
      </p:sp>
      <p:sp>
        <p:nvSpPr>
          <p:cNvPr id="26" name="Text 24"/>
          <p:cNvSpPr txBox="1"/>
          <p:nvPr/>
        </p:nvSpPr>
        <p:spPr>
          <a:xfrm>
            <a:off x="7863840" y="2542032"/>
            <a:ext cx="3776472" cy="4572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0,279</a:t>
            </a:r>
            <a:endParaRPr lang="en-US" sz="2800" dirty="0"/>
          </a:p>
        </p:txBody>
      </p:sp>
      <p:sp>
        <p:nvSpPr>
          <p:cNvPr id="27" name="Text 25"/>
          <p:cNvSpPr txBox="1"/>
          <p:nvPr/>
        </p:nvSpPr>
        <p:spPr>
          <a:xfrm>
            <a:off x="7863840" y="2999232"/>
            <a:ext cx="3776472" cy="365760"/>
          </a:xfrm>
          <a:prstGeom prst="rect">
            <a:avLst/>
          </a:prstGeom>
          <a:noFill/>
          <a:ln/>
        </p:spPr>
        <p:txBody>
          <a:bodyPr wrap="square" lIns="0" tIns="0" rIns="0" bIns="0" rtlCol="0" anchor="t"/>
          <a:lstStyle/>
          <a:p>
            <a:pPr indent="0" marL="0">
              <a:buNone/>
            </a:pPr>
            <a:r>
              <a:rPr lang="en-US" sz="1400" dirty="0">
                <a:solidFill>
                  <a:schemeClr val="tx1"/>
                </a:solidFill>
              </a:rPr>
              <a:t>exactitud balanceada</a:t>
            </a:r>
            <a:endParaRPr lang="en-US" sz="1400" dirty="0"/>
          </a:p>
        </p:txBody>
      </p:sp>
      <p:sp>
        <p:nvSpPr>
          <p:cNvPr id="28" name="Text 26"/>
          <p:cNvSpPr txBox="1"/>
          <p:nvPr/>
        </p:nvSpPr>
        <p:spPr>
          <a:xfrm>
            <a:off x="7863840" y="3438144"/>
            <a:ext cx="3776472" cy="4572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0,36</a:t>
            </a:r>
            <a:endParaRPr lang="en-US" sz="2800" dirty="0"/>
          </a:p>
        </p:txBody>
      </p:sp>
      <p:sp>
        <p:nvSpPr>
          <p:cNvPr id="29" name="Text 27"/>
          <p:cNvSpPr txBox="1"/>
          <p:nvPr/>
        </p:nvSpPr>
        <p:spPr>
          <a:xfrm>
            <a:off x="7863840" y="3895344"/>
            <a:ext cx="3776472" cy="365760"/>
          </a:xfrm>
          <a:prstGeom prst="rect">
            <a:avLst/>
          </a:prstGeom>
          <a:noFill/>
          <a:ln/>
        </p:spPr>
        <p:txBody>
          <a:bodyPr wrap="square" lIns="0" tIns="0" rIns="0" bIns="0" rtlCol="0" anchor="t"/>
          <a:lstStyle/>
          <a:p>
            <a:pPr indent="0" marL="0">
              <a:buNone/>
            </a:pPr>
            <a:r>
              <a:rPr lang="en-US" sz="1400" dirty="0">
                <a:solidFill>
                  <a:schemeClr val="tx1"/>
                </a:solidFill>
              </a:rPr>
              <a:t>recall de marchita</a:t>
            </a:r>
            <a:endParaRPr lang="en-US" sz="1400" dirty="0"/>
          </a:p>
        </p:txBody>
      </p:sp>
      <p:sp>
        <p:nvSpPr>
          <p:cNvPr id="30" name="Text 28"/>
          <p:cNvSpPr txBox="1"/>
          <p:nvPr/>
        </p:nvSpPr>
        <p:spPr>
          <a:xfrm>
            <a:off x="7863840" y="4334256"/>
            <a:ext cx="3776472" cy="45720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46 %</a:t>
            </a:r>
            <a:endParaRPr lang="en-US" sz="2800" dirty="0"/>
          </a:p>
        </p:txBody>
      </p:sp>
      <p:sp>
        <p:nvSpPr>
          <p:cNvPr id="31" name="Text 29"/>
          <p:cNvSpPr txBox="1"/>
          <p:nvPr/>
        </p:nvSpPr>
        <p:spPr>
          <a:xfrm>
            <a:off x="7863840" y="4791456"/>
            <a:ext cx="3776472" cy="365760"/>
          </a:xfrm>
          <a:prstGeom prst="rect">
            <a:avLst/>
          </a:prstGeom>
          <a:noFill/>
          <a:ln/>
        </p:spPr>
        <p:txBody>
          <a:bodyPr wrap="square" lIns="0" tIns="0" rIns="0" bIns="0" rtlCol="0" anchor="t"/>
          <a:lstStyle/>
          <a:p>
            <a:pPr indent="0" marL="0">
              <a:buNone/>
            </a:pPr>
            <a:r>
              <a:rPr lang="en-US" sz="1400" dirty="0">
                <a:solidFill>
                  <a:schemeClr val="tx1"/>
                </a:solidFill>
              </a:rPr>
              <a:t>de las remuestras bootstrap le gana a dos umbrales (0,393)</a:t>
            </a:r>
            <a:endParaRPr lang="en-US" sz="1400" dirty="0"/>
          </a:p>
        </p:txBody>
      </p:sp>
      <p:sp>
        <p:nvSpPr>
          <p:cNvPr id="32" name="Nota frío"/>
          <p:cNvSpPr/>
          <p:nvPr/>
        </p:nvSpPr>
        <p:spPr>
          <a:xfrm>
            <a:off x="7863840" y="5349240"/>
            <a:ext cx="3776472" cy="822960"/>
          </a:xfrm>
          <a:prstGeom prst="roundRect">
            <a:avLst>
              <a:gd name="adj" fmla="val 8889"/>
            </a:avLst>
          </a:prstGeom>
          <a:solidFill>
            <a:schemeClr val="accent3">
              <a:alpha val="12000"/>
            </a:schemeClr>
          </a:solidFill>
          <a:ln/>
        </p:spPr>
      </p:sp>
      <p:sp>
        <p:nvSpPr>
          <p:cNvPr id="33" name="Text 31"/>
          <p:cNvSpPr txBox="1"/>
          <p:nvPr/>
        </p:nvSpPr>
        <p:spPr>
          <a:xfrm>
            <a:off x="8028432" y="5413248"/>
            <a:ext cx="3474720" cy="713232"/>
          </a:xfrm>
          <a:prstGeom prst="rect">
            <a:avLst/>
          </a:prstGeom>
          <a:noFill/>
          <a:ln/>
        </p:spPr>
        <p:txBody>
          <a:bodyPr wrap="square" lIns="0" tIns="0" rIns="0" bIns="0" rtlCol="0" anchor="ctr"/>
          <a:lstStyle/>
          <a:p>
            <a:pPr indent="0" marL="0">
              <a:buNone/>
            </a:pPr>
            <a:r>
              <a:rPr lang="en-US" sz="1300" dirty="0">
                <a:solidFill>
                  <a:schemeClr val="tx1"/>
                </a:solidFill>
              </a:rPr>
              <a:t>La regla de frío cambia el 9,7 % de las predicciones, pero se apoya en un solo episodio (13/09, ≈ 8,5 °C).</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VISUALIZACIÓN DE RESULTADOS</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Dónde acierta y dónde falla</a:t>
            </a:r>
            <a:endParaRPr lang="en-US" sz="3600" dirty="0"/>
          </a:p>
        </p:txBody>
      </p:sp>
      <p:pic>
        <p:nvPicPr>
          <p:cNvPr id="4" name="Figura fronteras" descr="/home/claude/ppt/img/fronteras_suelo_mv.png">    </p:cNvPr>
          <p:cNvPicPr>
            <a:picLocks noChangeAspect="1"/>
          </p:cNvPicPr>
          <p:nvPr/>
        </p:nvPicPr>
        <p:blipFill>
          <a:blip r:embed="rId1"/>
          <a:stretch>
            <a:fillRect/>
          </a:stretch>
        </p:blipFill>
        <p:spPr>
          <a:xfrm>
            <a:off x="548640" y="1645920"/>
            <a:ext cx="6949440" cy="2249424"/>
          </a:xfrm>
          <a:prstGeom prst="rect">
            <a:avLst/>
          </a:prstGeom>
        </p:spPr>
      </p:pic>
      <p:sp>
        <p:nvSpPr>
          <p:cNvPr id="5" name="Text 2"/>
          <p:cNvSpPr txBox="1"/>
          <p:nvPr/>
        </p:nvSpPr>
        <p:spPr>
          <a:xfrm>
            <a:off x="548640" y="3931920"/>
            <a:ext cx="6949440" cy="274320"/>
          </a:xfrm>
          <a:prstGeom prst="rect">
            <a:avLst/>
          </a:prstGeom>
          <a:noFill/>
          <a:ln/>
        </p:spPr>
        <p:txBody>
          <a:bodyPr wrap="square" lIns="0" tIns="0" rIns="0" bIns="0" rtlCol="0" anchor="t"/>
          <a:lstStyle/>
          <a:p>
            <a:pPr indent="0" marL="0">
              <a:buNone/>
            </a:pPr>
            <a:r>
              <a:rPr lang="en-US" sz="1100" i="1" dirty="0">
                <a:solidFill>
                  <a:schemeClr val="accent5"/>
                </a:solidFill>
              </a:rPr>
              <a:t>Distribución de suelo_mv por clase y corte del árbol en 1821,5 mV.</a:t>
            </a:r>
            <a:endParaRPr lang="en-US" sz="1100" dirty="0"/>
          </a:p>
        </p:txBody>
      </p:sp>
      <p:pic>
        <p:nvPicPr>
          <p:cNvPr id="6" name="Figura matriz confusión" descr="/home/claude/ppt/img/matriz_sin_dudosos.png">    </p:cNvPr>
          <p:cNvPicPr>
            <a:picLocks noChangeAspect="1"/>
          </p:cNvPicPr>
          <p:nvPr/>
        </p:nvPicPr>
        <p:blipFill>
          <a:blip r:embed="rId2"/>
          <a:stretch>
            <a:fillRect/>
          </a:stretch>
        </p:blipFill>
        <p:spPr>
          <a:xfrm>
            <a:off x="7772400" y="1645920"/>
            <a:ext cx="3867912" cy="2642616"/>
          </a:xfrm>
          <a:prstGeom prst="rect">
            <a:avLst/>
          </a:prstGeom>
        </p:spPr>
      </p:pic>
      <p:sp>
        <p:nvSpPr>
          <p:cNvPr id="7" name="Text 3"/>
          <p:cNvSpPr txBox="1"/>
          <p:nvPr/>
        </p:nvSpPr>
        <p:spPr>
          <a:xfrm>
            <a:off x="7772400" y="4315968"/>
            <a:ext cx="3867912" cy="274320"/>
          </a:xfrm>
          <a:prstGeom prst="rect">
            <a:avLst/>
          </a:prstGeom>
          <a:noFill/>
          <a:ln/>
        </p:spPr>
        <p:txBody>
          <a:bodyPr wrap="square" lIns="0" tIns="0" rIns="0" bIns="0" rtlCol="0" anchor="t"/>
          <a:lstStyle/>
          <a:p>
            <a:pPr indent="0" marL="0">
              <a:buNone/>
            </a:pPr>
            <a:r>
              <a:rPr lang="en-US" sz="1100" i="1" dirty="0">
                <a:solidFill>
                  <a:schemeClr val="accent5"/>
                </a:solidFill>
              </a:rPr>
              <a:t>Matriz de confusión fuera de fold (7 episodios).</a:t>
            </a:r>
            <a:endParaRPr lang="en-US" sz="1100" dirty="0"/>
          </a:p>
        </p:txBody>
      </p:sp>
      <p:sp>
        <p:nvSpPr>
          <p:cNvPr id="8" name="Saludable vs. estresada"/>
          <p:cNvSpPr/>
          <p:nvPr/>
        </p:nvSpPr>
        <p:spPr>
          <a:xfrm>
            <a:off x="548640" y="4754880"/>
            <a:ext cx="3566160" cy="1417320"/>
          </a:xfrm>
          <a:prstGeom prst="roundRect">
            <a:avLst>
              <a:gd name="adj" fmla="val 5161"/>
            </a:avLst>
          </a:prstGeom>
          <a:solidFill>
            <a:schemeClr val="accent1">
              <a:alpha val="12000"/>
            </a:schemeClr>
          </a:solidFill>
          <a:ln/>
        </p:spPr>
      </p:sp>
      <p:sp>
        <p:nvSpPr>
          <p:cNvPr id="9" name="Text 5"/>
          <p:cNvSpPr txBox="1"/>
          <p:nvPr/>
        </p:nvSpPr>
        <p:spPr>
          <a:xfrm>
            <a:off x="731520" y="4846320"/>
            <a:ext cx="3200400" cy="347472"/>
          </a:xfrm>
          <a:prstGeom prst="rect">
            <a:avLst/>
          </a:prstGeom>
          <a:noFill/>
          <a:ln/>
        </p:spPr>
        <p:txBody>
          <a:bodyPr wrap="square" lIns="0" tIns="0" rIns="0" bIns="0" rtlCol="0" anchor="ctr"/>
          <a:lstStyle/>
          <a:p>
            <a:pPr indent="0" marL="0">
              <a:buNone/>
            </a:pPr>
            <a:r>
              <a:rPr lang="en-US" sz="1600" b="1" dirty="0">
                <a:solidFill>
                  <a:schemeClr val="accent1"/>
                </a:solidFill>
              </a:rPr>
              <a:t>Saludable vs. estresada</a:t>
            </a:r>
            <a:endParaRPr lang="en-US" sz="1600" dirty="0"/>
          </a:p>
        </p:txBody>
      </p:sp>
      <p:sp>
        <p:nvSpPr>
          <p:cNvPr id="10" name="Text 6"/>
          <p:cNvSpPr txBox="1"/>
          <p:nvPr/>
        </p:nvSpPr>
        <p:spPr>
          <a:xfrm>
            <a:off x="731520" y="5212080"/>
            <a:ext cx="3200400" cy="868680"/>
          </a:xfrm>
          <a:prstGeom prst="rect">
            <a:avLst/>
          </a:prstGeom>
          <a:noFill/>
          <a:ln/>
        </p:spPr>
        <p:txBody>
          <a:bodyPr wrap="square" lIns="0" tIns="0" rIns="0" bIns="0" rtlCol="0" anchor="t"/>
          <a:lstStyle/>
          <a:p>
            <a:pPr indent="0" marL="0">
              <a:buNone/>
            </a:pPr>
            <a:r>
              <a:rPr lang="en-US" sz="1300" dirty="0">
                <a:solidFill>
                  <a:schemeClr val="tx1"/>
                </a:solidFill>
              </a:rPr>
              <a:t>El corte en 1821,5 mV distingue suelo húmedo de seco: tras un riego el modelo pasa de estresada a saludable.</a:t>
            </a:r>
            <a:endParaRPr lang="en-US" sz="1300" dirty="0"/>
          </a:p>
        </p:txBody>
      </p:sp>
      <p:sp>
        <p:nvSpPr>
          <p:cNvPr id="11" name="Marchitas dispersas"/>
          <p:cNvSpPr/>
          <p:nvPr/>
        </p:nvSpPr>
        <p:spPr>
          <a:xfrm>
            <a:off x="4311396" y="4754880"/>
            <a:ext cx="3566160" cy="1417320"/>
          </a:xfrm>
          <a:prstGeom prst="roundRect">
            <a:avLst>
              <a:gd name="adj" fmla="val 5161"/>
            </a:avLst>
          </a:prstGeom>
          <a:solidFill>
            <a:schemeClr val="accent3">
              <a:alpha val="12000"/>
            </a:schemeClr>
          </a:solidFill>
          <a:ln/>
        </p:spPr>
      </p:sp>
      <p:sp>
        <p:nvSpPr>
          <p:cNvPr id="12" name="Text 8"/>
          <p:cNvSpPr txBox="1"/>
          <p:nvPr/>
        </p:nvSpPr>
        <p:spPr>
          <a:xfrm>
            <a:off x="4494276" y="4846320"/>
            <a:ext cx="3200400" cy="347472"/>
          </a:xfrm>
          <a:prstGeom prst="rect">
            <a:avLst/>
          </a:prstGeom>
          <a:noFill/>
          <a:ln/>
        </p:spPr>
        <p:txBody>
          <a:bodyPr wrap="square" lIns="0" tIns="0" rIns="0" bIns="0" rtlCol="0" anchor="ctr"/>
          <a:lstStyle/>
          <a:p>
            <a:pPr indent="0" marL="0">
              <a:buNone/>
            </a:pPr>
            <a:r>
              <a:rPr lang="en-US" sz="1600" b="1" dirty="0">
                <a:solidFill>
                  <a:schemeClr val="accent3"/>
                </a:solidFill>
              </a:rPr>
              <a:t>Marchitas dispersas</a:t>
            </a:r>
            <a:endParaRPr lang="en-US" sz="1600" dirty="0"/>
          </a:p>
        </p:txBody>
      </p:sp>
      <p:sp>
        <p:nvSpPr>
          <p:cNvPr id="13" name="Text 9"/>
          <p:cNvSpPr txBox="1"/>
          <p:nvPr/>
        </p:nvSpPr>
        <p:spPr>
          <a:xfrm>
            <a:off x="4494276" y="5212080"/>
            <a:ext cx="3200400" cy="868680"/>
          </a:xfrm>
          <a:prstGeom prst="rect">
            <a:avLst/>
          </a:prstGeom>
          <a:noFill/>
          <a:ln/>
        </p:spPr>
        <p:txBody>
          <a:bodyPr wrap="square" lIns="0" tIns="0" rIns="0" bIns="0" rtlCol="0" anchor="t"/>
          <a:lstStyle/>
          <a:p>
            <a:pPr indent="0" marL="0">
              <a:buNone/>
            </a:pPr>
            <a:r>
              <a:rPr lang="en-US" sz="1300" dirty="0">
                <a:solidFill>
                  <a:schemeClr val="tx1"/>
                </a:solidFill>
              </a:rPr>
              <a:t>Aparecen en tres zonas (~1450–1600, ~1760 y ~2830 mV): ningún umbral sobre la sonda las separa.</a:t>
            </a:r>
            <a:endParaRPr lang="en-US" sz="1300" dirty="0"/>
          </a:p>
        </p:txBody>
      </p:sp>
      <p:sp>
        <p:nvSpPr>
          <p:cNvPr id="14" name="Error de la regla de frío"/>
          <p:cNvSpPr/>
          <p:nvPr/>
        </p:nvSpPr>
        <p:spPr>
          <a:xfrm>
            <a:off x="8074152" y="4754880"/>
            <a:ext cx="3566160" cy="1417320"/>
          </a:xfrm>
          <a:prstGeom prst="roundRect">
            <a:avLst>
              <a:gd name="adj" fmla="val 5161"/>
            </a:avLst>
          </a:prstGeom>
          <a:solidFill>
            <a:schemeClr val="accent2">
              <a:alpha val="12000"/>
            </a:schemeClr>
          </a:solidFill>
          <a:ln/>
        </p:spPr>
      </p:sp>
      <p:sp>
        <p:nvSpPr>
          <p:cNvPr id="15" name="Text 11"/>
          <p:cNvSpPr txBox="1"/>
          <p:nvPr/>
        </p:nvSpPr>
        <p:spPr>
          <a:xfrm>
            <a:off x="8257032" y="4846320"/>
            <a:ext cx="3200400" cy="347472"/>
          </a:xfrm>
          <a:prstGeom prst="rect">
            <a:avLst/>
          </a:prstGeom>
          <a:noFill/>
          <a:ln/>
        </p:spPr>
        <p:txBody>
          <a:bodyPr wrap="square" lIns="0" tIns="0" rIns="0" bIns="0" rtlCol="0" anchor="ctr"/>
          <a:lstStyle/>
          <a:p>
            <a:pPr indent="0" marL="0">
              <a:buNone/>
            </a:pPr>
            <a:r>
              <a:rPr lang="en-US" sz="1600" b="1" dirty="0">
                <a:solidFill>
                  <a:schemeClr val="accent2"/>
                </a:solidFill>
              </a:rPr>
              <a:t>Error de la regla de frío</a:t>
            </a:r>
            <a:endParaRPr lang="en-US" sz="1600" dirty="0"/>
          </a:p>
        </p:txBody>
      </p:sp>
      <p:sp>
        <p:nvSpPr>
          <p:cNvPr id="16" name="Text 12"/>
          <p:cNvSpPr txBox="1"/>
          <p:nvPr/>
        </p:nvSpPr>
        <p:spPr>
          <a:xfrm>
            <a:off x="8257032" y="5212080"/>
            <a:ext cx="3200400" cy="868680"/>
          </a:xfrm>
          <a:prstGeom prst="rect">
            <a:avLst/>
          </a:prstGeom>
          <a:noFill/>
          <a:ln/>
        </p:spPr>
        <p:txBody>
          <a:bodyPr wrap="square" lIns="0" tIns="0" rIns="0" bIns="0" rtlCol="0" anchor="t"/>
          <a:lstStyle/>
          <a:p>
            <a:pPr indent="0" marL="0">
              <a:buNone/>
            </a:pPr>
            <a:r>
              <a:rPr lang="en-US" sz="1300" dirty="0">
                <a:solidFill>
                  <a:schemeClr val="tx1"/>
                </a:solidFill>
              </a:rPr>
              <a:t>204 filas estresadas salen marchita: la regla de frío aplicada al episodio 6 (16/09, 11–15 °C).</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IMPLEMENTACIÓN EN LA ESP32 · EXPORTACIÓN</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Del notebook a C++ en la flash</a:t>
            </a:r>
            <a:endParaRPr lang="en-US" sz="3600" dirty="0"/>
          </a:p>
        </p:txBody>
      </p:sp>
      <p:sp>
        <p:nvSpPr>
          <p:cNvPr id="4" name="Chip 03_modelos.ipynb"/>
          <p:cNvSpPr/>
          <p:nvPr/>
        </p:nvSpPr>
        <p:spPr>
          <a:xfrm>
            <a:off x="548640" y="1645920"/>
            <a:ext cx="2514600" cy="868680"/>
          </a:xfrm>
          <a:prstGeom prst="roundRect">
            <a:avLst>
              <a:gd name="adj" fmla="val 8421"/>
            </a:avLst>
          </a:prstGeom>
          <a:solidFill>
            <a:schemeClr val="bg2"/>
          </a:solidFill>
          <a:ln/>
        </p:spPr>
      </p:sp>
      <p:sp>
        <p:nvSpPr>
          <p:cNvPr id="5" name="Text 3"/>
          <p:cNvSpPr txBox="1"/>
          <p:nvPr/>
        </p:nvSpPr>
        <p:spPr>
          <a:xfrm>
            <a:off x="640080" y="1700784"/>
            <a:ext cx="2331720" cy="384048"/>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03_modelos.ipynb</a:t>
            </a:r>
            <a:endParaRPr lang="en-US" sz="1400" dirty="0"/>
          </a:p>
        </p:txBody>
      </p:sp>
      <p:sp>
        <p:nvSpPr>
          <p:cNvPr id="6" name="Text 4"/>
          <p:cNvSpPr txBox="1"/>
          <p:nvPr/>
        </p:nvSpPr>
        <p:spPr>
          <a:xfrm>
            <a:off x="640080" y="2084832"/>
            <a:ext cx="2331720" cy="329184"/>
          </a:xfrm>
          <a:prstGeom prst="rect">
            <a:avLst/>
          </a:prstGeom>
          <a:noFill/>
          <a:ln/>
        </p:spPr>
        <p:txBody>
          <a:bodyPr wrap="square" lIns="0" tIns="0" rIns="0" bIns="0" rtlCol="0" anchor="ctr"/>
          <a:lstStyle/>
          <a:p>
            <a:pPr algn="ctr" indent="0" marL="0">
              <a:buNone/>
            </a:pPr>
            <a:r>
              <a:rPr lang="en-US" sz="1300" dirty="0">
                <a:solidFill>
                  <a:schemeClr val="tx1"/>
                </a:solidFill>
              </a:rPr>
              <a:t>evaluación y elección</a:t>
            </a:r>
            <a:endParaRPr lang="en-US" sz="1300" dirty="0"/>
          </a:p>
        </p:txBody>
      </p:sp>
      <p:sp>
        <p:nvSpPr>
          <p:cNvPr id="7" name="Shape 5"/>
          <p:cNvSpPr/>
          <p:nvPr/>
        </p:nvSpPr>
        <p:spPr>
          <a:xfrm>
            <a:off x="3136392" y="1965960"/>
            <a:ext cx="201168" cy="237744"/>
          </a:xfrm>
          <a:prstGeom prst="rightArrow">
            <a:avLst/>
          </a:prstGeom>
          <a:solidFill>
            <a:schemeClr val="accent5"/>
          </a:solidFill>
          <a:ln/>
        </p:spPr>
      </p:sp>
      <p:sp>
        <p:nvSpPr>
          <p:cNvPr id="8" name="Chip exportar_c.py"/>
          <p:cNvSpPr/>
          <p:nvPr/>
        </p:nvSpPr>
        <p:spPr>
          <a:xfrm>
            <a:off x="3410712" y="1645920"/>
            <a:ext cx="2514600" cy="868680"/>
          </a:xfrm>
          <a:prstGeom prst="roundRect">
            <a:avLst>
              <a:gd name="adj" fmla="val 8421"/>
            </a:avLst>
          </a:prstGeom>
          <a:solidFill>
            <a:schemeClr val="bg2"/>
          </a:solidFill>
          <a:ln/>
        </p:spPr>
      </p:sp>
      <p:sp>
        <p:nvSpPr>
          <p:cNvPr id="9" name="Text 7"/>
          <p:cNvSpPr txBox="1"/>
          <p:nvPr/>
        </p:nvSpPr>
        <p:spPr>
          <a:xfrm>
            <a:off x="3502152" y="1700784"/>
            <a:ext cx="2331720" cy="384048"/>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exportar_c.py</a:t>
            </a:r>
            <a:endParaRPr lang="en-US" sz="1400" dirty="0"/>
          </a:p>
        </p:txBody>
      </p:sp>
      <p:sp>
        <p:nvSpPr>
          <p:cNvPr id="10" name="Text 8"/>
          <p:cNvSpPr txBox="1"/>
          <p:nvPr/>
        </p:nvSpPr>
        <p:spPr>
          <a:xfrm>
            <a:off x="3502152" y="2084832"/>
            <a:ext cx="2331720" cy="329184"/>
          </a:xfrm>
          <a:prstGeom prst="rect">
            <a:avLst/>
          </a:prstGeom>
          <a:noFill/>
          <a:ln/>
        </p:spPr>
        <p:txBody>
          <a:bodyPr wrap="square" lIns="0" tIns="0" rIns="0" bIns="0" rtlCol="0" anchor="ctr"/>
          <a:lstStyle/>
          <a:p>
            <a:pPr algn="ctr" indent="0" marL="0">
              <a:buNone/>
            </a:pPr>
            <a:r>
              <a:rPr lang="en-US" sz="1300" dirty="0">
                <a:solidFill>
                  <a:schemeClr val="tx1"/>
                </a:solidFill>
              </a:rPr>
              <a:t>reentrena y exporta</a:t>
            </a:r>
            <a:endParaRPr lang="en-US" sz="1300" dirty="0"/>
          </a:p>
        </p:txBody>
      </p:sp>
      <p:sp>
        <p:nvSpPr>
          <p:cNvPr id="11" name="Shape 9"/>
          <p:cNvSpPr/>
          <p:nvPr/>
        </p:nvSpPr>
        <p:spPr>
          <a:xfrm>
            <a:off x="5998464" y="1965960"/>
            <a:ext cx="201168" cy="237744"/>
          </a:xfrm>
          <a:prstGeom prst="rightArrow">
            <a:avLst/>
          </a:prstGeom>
          <a:solidFill>
            <a:schemeClr val="accent5"/>
          </a:solidFill>
          <a:ln/>
        </p:spPr>
      </p:sp>
      <p:sp>
        <p:nvSpPr>
          <p:cNvPr id="12" name="Chip modelo_plantaia.h"/>
          <p:cNvSpPr/>
          <p:nvPr/>
        </p:nvSpPr>
        <p:spPr>
          <a:xfrm>
            <a:off x="6272784" y="1645920"/>
            <a:ext cx="2514600" cy="868680"/>
          </a:xfrm>
          <a:prstGeom prst="roundRect">
            <a:avLst>
              <a:gd name="adj" fmla="val 8421"/>
            </a:avLst>
          </a:prstGeom>
          <a:solidFill>
            <a:schemeClr val="tx2"/>
          </a:solidFill>
          <a:ln/>
        </p:spPr>
      </p:sp>
      <p:sp>
        <p:nvSpPr>
          <p:cNvPr id="13" name="Text 11"/>
          <p:cNvSpPr txBox="1"/>
          <p:nvPr/>
        </p:nvSpPr>
        <p:spPr>
          <a:xfrm>
            <a:off x="6364224" y="1700784"/>
            <a:ext cx="233172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modelo_plantaia.h</a:t>
            </a:r>
            <a:endParaRPr lang="en-US" sz="1400" dirty="0"/>
          </a:p>
        </p:txBody>
      </p:sp>
      <p:sp>
        <p:nvSpPr>
          <p:cNvPr id="14" name="Text 12"/>
          <p:cNvSpPr txBox="1"/>
          <p:nvPr/>
        </p:nvSpPr>
        <p:spPr>
          <a:xfrm>
            <a:off x="6364224" y="2084832"/>
            <a:ext cx="2331720" cy="329184"/>
          </a:xfrm>
          <a:prstGeom prst="rect">
            <a:avLst/>
          </a:prstGeom>
          <a:noFill/>
          <a:ln/>
        </p:spPr>
        <p:txBody>
          <a:bodyPr wrap="square" lIns="0" tIns="0" rIns="0" bIns="0" rtlCol="0" anchor="ctr"/>
          <a:lstStyle/>
          <a:p>
            <a:pPr algn="ctr" indent="0" marL="0">
              <a:buNone/>
            </a:pPr>
            <a:r>
              <a:rPr lang="en-US" sz="1300" dirty="0">
                <a:solidFill>
                  <a:schemeClr val="bg2"/>
                </a:solidFill>
              </a:rPr>
              <a:t>tablas static const</a:t>
            </a:r>
            <a:endParaRPr lang="en-US" sz="1300" dirty="0"/>
          </a:p>
        </p:txBody>
      </p:sp>
      <p:sp>
        <p:nvSpPr>
          <p:cNvPr id="15" name="Shape 13"/>
          <p:cNvSpPr/>
          <p:nvPr/>
        </p:nvSpPr>
        <p:spPr>
          <a:xfrm>
            <a:off x="8860536" y="1965960"/>
            <a:ext cx="201168" cy="237744"/>
          </a:xfrm>
          <a:prstGeom prst="rightArrow">
            <a:avLst/>
          </a:prstGeom>
          <a:solidFill>
            <a:schemeClr val="accent5"/>
          </a:solidFill>
          <a:ln/>
        </p:spPr>
      </p:sp>
      <p:sp>
        <p:nvSpPr>
          <p:cNvPr id="16" name="Chip firmware 2.0.0"/>
          <p:cNvSpPr/>
          <p:nvPr/>
        </p:nvSpPr>
        <p:spPr>
          <a:xfrm>
            <a:off x="9134856" y="1645920"/>
            <a:ext cx="2514600" cy="868680"/>
          </a:xfrm>
          <a:prstGeom prst="roundRect">
            <a:avLst>
              <a:gd name="adj" fmla="val 8421"/>
            </a:avLst>
          </a:prstGeom>
          <a:solidFill>
            <a:schemeClr val="bg2"/>
          </a:solidFill>
          <a:ln/>
        </p:spPr>
      </p:sp>
      <p:sp>
        <p:nvSpPr>
          <p:cNvPr id="17" name="Text 15"/>
          <p:cNvSpPr txBox="1"/>
          <p:nvPr/>
        </p:nvSpPr>
        <p:spPr>
          <a:xfrm>
            <a:off x="9226296" y="1700784"/>
            <a:ext cx="2331720" cy="384048"/>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firmware 2.0.0</a:t>
            </a:r>
            <a:endParaRPr lang="en-US" sz="1400" dirty="0"/>
          </a:p>
        </p:txBody>
      </p:sp>
      <p:sp>
        <p:nvSpPr>
          <p:cNvPr id="18" name="Text 16"/>
          <p:cNvSpPr txBox="1"/>
          <p:nvPr/>
        </p:nvSpPr>
        <p:spPr>
          <a:xfrm>
            <a:off x="9226296" y="2084832"/>
            <a:ext cx="2331720" cy="329184"/>
          </a:xfrm>
          <a:prstGeom prst="rect">
            <a:avLst/>
          </a:prstGeom>
          <a:noFill/>
          <a:ln/>
        </p:spPr>
        <p:txBody>
          <a:bodyPr wrap="square" lIns="0" tIns="0" rIns="0" bIns="0" rtlCol="0" anchor="ctr"/>
          <a:lstStyle/>
          <a:p>
            <a:pPr algn="ctr" indent="0" marL="0">
              <a:buNone/>
            </a:pPr>
            <a:r>
              <a:rPr lang="en-US" sz="1300" dirty="0">
                <a:solidFill>
                  <a:schemeClr val="tx1"/>
                </a:solidFill>
              </a:rPr>
              <a:t>lib/plantaia_ml</a:t>
            </a:r>
            <a:endParaRPr lang="en-US" sz="1300" dirty="0"/>
          </a:p>
        </p:txBody>
      </p:sp>
      <p:sp>
        <p:nvSpPr>
          <p:cNvPr id="19" name="Código árbol"/>
          <p:cNvSpPr/>
          <p:nvPr/>
        </p:nvSpPr>
        <p:spPr>
          <a:xfrm>
            <a:off x="548640" y="2743200"/>
            <a:ext cx="7315200" cy="3429000"/>
          </a:xfrm>
          <a:prstGeom prst="roundRect">
            <a:avLst>
              <a:gd name="adj" fmla="val 2133"/>
            </a:avLst>
          </a:prstGeom>
          <a:solidFill>
            <a:schemeClr val="tx1"/>
          </a:solidFill>
          <a:ln/>
        </p:spPr>
      </p:sp>
      <p:sp>
        <p:nvSpPr>
          <p:cNvPr id="20" name="Código árbol texto"/>
          <p:cNvSpPr txBox="1"/>
          <p:nvPr/>
        </p:nvSpPr>
        <p:spPr>
          <a:xfrm>
            <a:off x="777240" y="2907792"/>
            <a:ext cx="6858000" cy="3099816"/>
          </a:xfrm>
          <a:prstGeom prst="rect">
            <a:avLst/>
          </a:prstGeom>
          <a:noFill/>
          <a:ln/>
        </p:spPr>
        <p:txBody>
          <a:bodyPr wrap="square" lIns="0" tIns="0" rIns="0" bIns="0" rtlCol="0" anchor="t"/>
          <a:lstStyle/>
          <a:p>
            <a:pPr indent="0" marL="0">
              <a:buNone/>
            </a:pPr>
            <a:r>
              <a:rPr lang="en-US" sz="1400" dirty="0">
                <a:solidFill>
                  <a:srgbClr val="C9D6CF"/>
                </a:solidFill>
                <a:latin typeface="Courier New" pitchFamily="34" charset="0"/>
                <a:ea typeface="Courier New" pitchFamily="34" charset="-122"/>
                <a:cs typeface="Courier New" pitchFamily="34" charset="-120"/>
              </a:rPr>
              <a:t>// modelo_plantaia.h (generado; nombres abreviados)</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static const int8_t  FEAT[5]   = {2, -1, 0, -1, -1};</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static const float   UMBRAL[5] = {10.25f, 0, 1821.5f, 0, 0};</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static const int16_t IZQ[5]    = {1, 0, 3, 1, 2};</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static const int16_t DER[5]    = {2, -1, 4, -1, -1};</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static const float   HOJA[3][3]; // proba de cada hoja</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int plantaia_predecir(const float x[7], float *proba) {</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int16_t i = 0;                        // raíz</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while (FEAT[i] &gt;= 0)                  // nodo interno</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i = (x[FEAT[i]] &lt;= UMBRAL[i]) ? IZQ[i] : DER[i];</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const float *p = HOJA[IZQ[i]];        // hoja</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  return argmax(p) + 1;  // 1 sal. · 2 est. · 3 mar.</a:t>
            </a:r>
            <a:endParaRPr lang="en-US" sz="1400" dirty="0"/>
          </a:p>
          <a:p>
            <a:pPr indent="0" marL="0">
              <a:buNone/>
            </a:pPr>
            <a:r>
              <a:rPr lang="en-US" sz="1400" dirty="0">
                <a:solidFill>
                  <a:srgbClr val="E8F1EC"/>
                </a:solidFill>
                <a:latin typeface="Courier New" pitchFamily="34" charset="0"/>
                <a:ea typeface="Courier New" pitchFamily="34" charset="-122"/>
                <a:cs typeface="Courier New" pitchFamily="34" charset="-120"/>
              </a:rPr>
              <a:t>}</a:t>
            </a:r>
            <a:endParaRPr lang="en-US" sz="1400" dirty="0"/>
          </a:p>
        </p:txBody>
      </p:sp>
      <p:sp>
        <p:nvSpPr>
          <p:cNvPr id="21" name="Dato 81 B"/>
          <p:cNvSpPr/>
          <p:nvPr/>
        </p:nvSpPr>
        <p:spPr>
          <a:xfrm>
            <a:off x="8138160" y="2743200"/>
            <a:ext cx="3502152" cy="1014984"/>
          </a:xfrm>
          <a:prstGeom prst="roundRect">
            <a:avLst>
              <a:gd name="adj" fmla="val 7207"/>
            </a:avLst>
          </a:prstGeom>
          <a:solidFill>
            <a:schemeClr val="bg2"/>
          </a:solidFill>
          <a:ln/>
        </p:spPr>
      </p:sp>
      <p:sp>
        <p:nvSpPr>
          <p:cNvPr id="22" name="Text 20"/>
          <p:cNvSpPr txBox="1"/>
          <p:nvPr/>
        </p:nvSpPr>
        <p:spPr>
          <a:xfrm>
            <a:off x="8321040" y="2743200"/>
            <a:ext cx="1143000" cy="1014984"/>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81 B</a:t>
            </a:r>
            <a:endParaRPr lang="en-US" sz="3200" dirty="0"/>
          </a:p>
        </p:txBody>
      </p:sp>
      <p:sp>
        <p:nvSpPr>
          <p:cNvPr id="23" name="Text 21"/>
          <p:cNvSpPr txBox="1"/>
          <p:nvPr/>
        </p:nvSpPr>
        <p:spPr>
          <a:xfrm>
            <a:off x="9464040" y="2743200"/>
            <a:ext cx="2057400" cy="1014984"/>
          </a:xfrm>
          <a:prstGeom prst="rect">
            <a:avLst/>
          </a:prstGeom>
          <a:noFill/>
          <a:ln/>
        </p:spPr>
        <p:txBody>
          <a:bodyPr wrap="square" lIns="0" tIns="0" rIns="0" bIns="0" rtlCol="0" anchor="ctr"/>
          <a:lstStyle/>
          <a:p>
            <a:pPr indent="0" marL="0">
              <a:buNone/>
            </a:pPr>
            <a:r>
              <a:rPr lang="en-US" sz="1400" dirty="0">
                <a:solidFill>
                  <a:schemeClr val="tx1"/>
                </a:solidFill>
              </a:rPr>
              <a:t>5 nodos y 3 hojas en tablas static const (flash)</a:t>
            </a:r>
            <a:endParaRPr lang="en-US" sz="1400" dirty="0"/>
          </a:p>
        </p:txBody>
      </p:sp>
      <p:sp>
        <p:nvSpPr>
          <p:cNvPr id="24" name="Dato ≤ 2"/>
          <p:cNvSpPr/>
          <p:nvPr/>
        </p:nvSpPr>
        <p:spPr>
          <a:xfrm>
            <a:off x="8138160" y="3913632"/>
            <a:ext cx="3502152" cy="1014984"/>
          </a:xfrm>
          <a:prstGeom prst="roundRect">
            <a:avLst>
              <a:gd name="adj" fmla="val 7207"/>
            </a:avLst>
          </a:prstGeom>
          <a:solidFill>
            <a:schemeClr val="bg2"/>
          </a:solidFill>
          <a:ln/>
        </p:spPr>
      </p:sp>
      <p:sp>
        <p:nvSpPr>
          <p:cNvPr id="25" name="Text 23"/>
          <p:cNvSpPr txBox="1"/>
          <p:nvPr/>
        </p:nvSpPr>
        <p:spPr>
          <a:xfrm>
            <a:off x="8321040" y="3913632"/>
            <a:ext cx="1143000" cy="1014984"/>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 2</a:t>
            </a:r>
            <a:endParaRPr lang="en-US" sz="3200" dirty="0"/>
          </a:p>
        </p:txBody>
      </p:sp>
      <p:sp>
        <p:nvSpPr>
          <p:cNvPr id="26" name="Text 24"/>
          <p:cNvSpPr txBox="1"/>
          <p:nvPr/>
        </p:nvSpPr>
        <p:spPr>
          <a:xfrm>
            <a:off x="9464040" y="3913632"/>
            <a:ext cx="2057400" cy="1014984"/>
          </a:xfrm>
          <a:prstGeom prst="rect">
            <a:avLst/>
          </a:prstGeom>
          <a:noFill/>
          <a:ln/>
        </p:spPr>
        <p:txBody>
          <a:bodyPr wrap="square" lIns="0" tIns="0" rIns="0" bIns="0" rtlCol="0" anchor="ctr"/>
          <a:lstStyle/>
          <a:p>
            <a:pPr indent="0" marL="0">
              <a:buNone/>
            </a:pPr>
            <a:r>
              <a:rPr lang="en-US" sz="1400" dirty="0">
                <a:solidFill>
                  <a:schemeClr val="tx1"/>
                </a:solidFill>
              </a:rPr>
              <a:t>comparaciones por predicción</a:t>
            </a:r>
            <a:endParaRPr lang="en-US" sz="1400" dirty="0"/>
          </a:p>
        </p:txBody>
      </p:sp>
      <p:sp>
        <p:nvSpPr>
          <p:cNvPr id="27" name="Dato 0"/>
          <p:cNvSpPr/>
          <p:nvPr/>
        </p:nvSpPr>
        <p:spPr>
          <a:xfrm>
            <a:off x="8138160" y="5084064"/>
            <a:ext cx="3502152" cy="1014984"/>
          </a:xfrm>
          <a:prstGeom prst="roundRect">
            <a:avLst>
              <a:gd name="adj" fmla="val 7207"/>
            </a:avLst>
          </a:prstGeom>
          <a:solidFill>
            <a:schemeClr val="bg2"/>
          </a:solidFill>
          <a:ln/>
        </p:spPr>
      </p:sp>
      <p:sp>
        <p:nvSpPr>
          <p:cNvPr id="28" name="Text 26"/>
          <p:cNvSpPr txBox="1"/>
          <p:nvPr/>
        </p:nvSpPr>
        <p:spPr>
          <a:xfrm>
            <a:off x="8321040" y="5084064"/>
            <a:ext cx="1143000" cy="1014984"/>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0</a:t>
            </a:r>
            <a:endParaRPr lang="en-US" sz="3200" dirty="0"/>
          </a:p>
        </p:txBody>
      </p:sp>
      <p:sp>
        <p:nvSpPr>
          <p:cNvPr id="29" name="Text 27"/>
          <p:cNvSpPr txBox="1"/>
          <p:nvPr/>
        </p:nvSpPr>
        <p:spPr>
          <a:xfrm>
            <a:off x="9464040" y="5084064"/>
            <a:ext cx="2057400" cy="1014984"/>
          </a:xfrm>
          <a:prstGeom prst="rect">
            <a:avLst/>
          </a:prstGeom>
          <a:noFill/>
          <a:ln/>
        </p:spPr>
        <p:txBody>
          <a:bodyPr wrap="square" lIns="0" tIns="0" rIns="0" bIns="0" rtlCol="0" anchor="ctr"/>
          <a:lstStyle/>
          <a:p>
            <a:pPr indent="0" marL="0">
              <a:buNone/>
            </a:pPr>
            <a:r>
              <a:rPr lang="en-US" sz="1400" dirty="0">
                <a:solidFill>
                  <a:schemeClr val="tx1"/>
                </a:solidFill>
              </a:rPr>
              <a:t>malloc, recursión o dependencias de Arduino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IMPLEMENTACIÓN EN LA ESP32 · TIEMPO REAL</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El ciclo de inferencia en la placa</a:t>
            </a:r>
            <a:endParaRPr lang="en-US" sz="3600" dirty="0"/>
          </a:p>
        </p:txBody>
      </p:sp>
      <p:sp>
        <p:nvSpPr>
          <p:cNvPr id="4" name="Shape 2"/>
          <p:cNvSpPr/>
          <p:nvPr/>
        </p:nvSpPr>
        <p:spPr>
          <a:xfrm>
            <a:off x="1394460" y="1938528"/>
            <a:ext cx="9400032" cy="0"/>
          </a:xfrm>
          <a:prstGeom prst="line">
            <a:avLst/>
          </a:prstGeom>
          <a:noFill/>
          <a:ln w="31750">
            <a:solidFill>
              <a:srgbClr val="C9D6CF"/>
            </a:solidFill>
            <a:prstDash val="solid"/>
          </a:ln>
        </p:spPr>
      </p:sp>
      <p:sp>
        <p:nvSpPr>
          <p:cNvPr id="5" name="Text 3"/>
          <p:cNvSpPr txBox="1"/>
          <p:nvPr/>
        </p:nvSpPr>
        <p:spPr>
          <a:xfrm>
            <a:off x="1101852" y="1645920"/>
            <a:ext cx="585216" cy="585216"/>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48640"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Leer sensores</a:t>
            </a:r>
            <a:endParaRPr lang="en-US" sz="1400" dirty="0"/>
          </a:p>
        </p:txBody>
      </p:sp>
      <p:sp>
        <p:nvSpPr>
          <p:cNvPr id="7" name="Text 5"/>
          <p:cNvSpPr txBox="1"/>
          <p:nvPr/>
        </p:nvSpPr>
        <p:spPr>
          <a:xfrm>
            <a:off x="2981858" y="1645920"/>
            <a:ext cx="585216" cy="585216"/>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2428646"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Actualizar buffer (13)</a:t>
            </a:r>
            <a:endParaRPr lang="en-US" sz="1400" dirty="0"/>
          </a:p>
        </p:txBody>
      </p:sp>
      <p:sp>
        <p:nvSpPr>
          <p:cNvPr id="9" name="Text 7"/>
          <p:cNvSpPr txBox="1"/>
          <p:nvPr/>
        </p:nvSpPr>
        <p:spPr>
          <a:xfrm>
            <a:off x="4861865" y="1645920"/>
            <a:ext cx="585216" cy="585216"/>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8"/>
          <p:cNvSpPr txBox="1"/>
          <p:nvPr/>
        </p:nvSpPr>
        <p:spPr>
          <a:xfrm>
            <a:off x="4308653"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Calcular 7 features</a:t>
            </a:r>
            <a:endParaRPr lang="en-US" sz="1400" dirty="0"/>
          </a:p>
        </p:txBody>
      </p:sp>
      <p:sp>
        <p:nvSpPr>
          <p:cNvPr id="11" name="Text 9"/>
          <p:cNvSpPr txBox="1"/>
          <p:nvPr/>
        </p:nvSpPr>
        <p:spPr>
          <a:xfrm>
            <a:off x="6741871" y="1645920"/>
            <a:ext cx="585216" cy="585216"/>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2" name="Text 10"/>
          <p:cNvSpPr txBox="1"/>
          <p:nvPr/>
        </p:nvSpPr>
        <p:spPr>
          <a:xfrm>
            <a:off x="6188659"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Predecir con el árbol</a:t>
            </a:r>
            <a:endParaRPr lang="en-US" sz="1400" dirty="0"/>
          </a:p>
        </p:txBody>
      </p:sp>
      <p:sp>
        <p:nvSpPr>
          <p:cNvPr id="13" name="Text 11"/>
          <p:cNvSpPr txBox="1"/>
          <p:nvPr/>
        </p:nvSpPr>
        <p:spPr>
          <a:xfrm>
            <a:off x="8621878" y="1645920"/>
            <a:ext cx="585216" cy="58521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4" name="Text 12"/>
          <p:cNvSpPr txBox="1"/>
          <p:nvPr/>
        </p:nvSpPr>
        <p:spPr>
          <a:xfrm>
            <a:off x="8068666"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Encender el LED</a:t>
            </a:r>
            <a:endParaRPr lang="en-US" sz="1400" dirty="0"/>
          </a:p>
        </p:txBody>
      </p:sp>
      <p:sp>
        <p:nvSpPr>
          <p:cNvPr id="15" name="Text 13"/>
          <p:cNvSpPr txBox="1"/>
          <p:nvPr/>
        </p:nvSpPr>
        <p:spPr>
          <a:xfrm>
            <a:off x="10501884" y="1645920"/>
            <a:ext cx="585216" cy="585216"/>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6" name="Text 14"/>
          <p:cNvSpPr txBox="1"/>
          <p:nvPr/>
        </p:nvSpPr>
        <p:spPr>
          <a:xfrm>
            <a:off x="9948672" y="2331720"/>
            <a:ext cx="1691640" cy="548640"/>
          </a:xfrm>
          <a:prstGeom prst="rect">
            <a:avLst/>
          </a:prstGeom>
          <a:noFill/>
          <a:ln/>
        </p:spPr>
        <p:txBody>
          <a:bodyPr wrap="square" lIns="0" tIns="0" rIns="0" bIns="0" rtlCol="0" anchor="t"/>
          <a:lstStyle/>
          <a:p>
            <a:pPr algn="ctr" indent="0" marL="0">
              <a:buNone/>
            </a:pPr>
            <a:r>
              <a:rPr lang="en-US" sz="1400" b="1" dirty="0">
                <a:solidFill>
                  <a:schemeClr val="tx2"/>
                </a:solidFill>
              </a:rPr>
              <a:t>Enviar al backend</a:t>
            </a:r>
            <a:endParaRPr lang="en-US" sz="1400" dirty="0"/>
          </a:p>
        </p:txBody>
      </p:sp>
      <p:sp>
        <p:nvSpPr>
          <p:cNvPr id="17" name="Pseudocódigo loop"/>
          <p:cNvSpPr/>
          <p:nvPr/>
        </p:nvSpPr>
        <p:spPr>
          <a:xfrm>
            <a:off x="548640" y="3154680"/>
            <a:ext cx="6766560" cy="3017520"/>
          </a:xfrm>
          <a:prstGeom prst="roundRect">
            <a:avLst>
              <a:gd name="adj" fmla="val 2424"/>
            </a:avLst>
          </a:prstGeom>
          <a:solidFill>
            <a:schemeClr val="tx1"/>
          </a:solidFill>
          <a:ln/>
        </p:spPr>
      </p:sp>
      <p:sp>
        <p:nvSpPr>
          <p:cNvPr id="18" name="Pseudocódigo loop texto"/>
          <p:cNvSpPr txBox="1"/>
          <p:nvPr/>
        </p:nvSpPr>
        <p:spPr>
          <a:xfrm>
            <a:off x="777240" y="3319272"/>
            <a:ext cx="6309360" cy="2688336"/>
          </a:xfrm>
          <a:prstGeom prst="rect">
            <a:avLst/>
          </a:prstGeom>
          <a:noFill/>
          <a:ln/>
        </p:spPr>
        <p:txBody>
          <a:bodyPr wrap="square" lIns="0" tIns="0" rIns="0" bIns="0" rtlCol="0" anchor="t"/>
          <a:lstStyle/>
          <a:p>
            <a:pPr indent="0" marL="0">
              <a:buNone/>
            </a:pPr>
            <a:r>
              <a:rPr lang="en-US" sz="1300" dirty="0">
                <a:solidFill>
                  <a:srgbClr val="C9D6CF"/>
                </a:solidFill>
                <a:latin typeface="Courier New" pitchFamily="34" charset="0"/>
                <a:ea typeface="Courier New" pitchFamily="34" charset="-122"/>
                <a:cs typeface="Courier New" pitchFamily="34" charset="-120"/>
              </a:rPr>
              <a:t># pseudocódigo del loop (firmware/src/main.cpp)</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cada 5 minutos:</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m = leer_sensores()            # suelo, DHT11, LDR</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ok, x = buffer.empujar(m)      # 7 features, ventana 1 h</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si no ok:                      # p. ej. el DHT11 no responde</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apagar_los_3_leds(); log("[FAL] ..."); seguir</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clase, p = plantaia_predecir(x)</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led(clase)                     # verde / amarillo / rojo</a:t>
            </a:r>
            <a:endParaRPr lang="en-US" sz="1300" dirty="0"/>
          </a:p>
          <a:p>
            <a:pPr indent="0" marL="0">
              <a:buNone/>
            </a:pPr>
            <a:r>
              <a:rPr lang="en-US" sz="1300" dirty="0">
                <a:solidFill>
                  <a:srgbClr val="E8F1EC"/>
                </a:solidFill>
                <a:latin typeface="Courier New" pitchFamily="34" charset="0"/>
                <a:ea typeface="Courier New" pitchFamily="34" charset="-122"/>
                <a:cs typeface="Courier New" pitchFamily="34" charset="-120"/>
              </a:rPr>
              <a:t>  log("[INF] ...");  post(clase, p, version_modelo)</a:t>
            </a:r>
            <a:endParaRPr lang="en-US" sz="1300" dirty="0"/>
          </a:p>
        </p:txBody>
      </p:sp>
      <p:sp>
        <p:nvSpPr>
          <p:cNvPr id="19" name="Actuador: semáforo LED"/>
          <p:cNvSpPr/>
          <p:nvPr/>
        </p:nvSpPr>
        <p:spPr>
          <a:xfrm>
            <a:off x="7589520" y="3154680"/>
            <a:ext cx="4050792" cy="914400"/>
          </a:xfrm>
          <a:prstGeom prst="roundRect">
            <a:avLst>
              <a:gd name="adj" fmla="val 8000"/>
            </a:avLst>
          </a:prstGeom>
          <a:solidFill>
            <a:schemeClr val="bg2"/>
          </a:solidFill>
          <a:ln/>
        </p:spPr>
      </p:sp>
      <p:sp>
        <p:nvSpPr>
          <p:cNvPr id="20" name="Actuador: semáforo LED círculo"/>
          <p:cNvSpPr/>
          <p:nvPr/>
        </p:nvSpPr>
        <p:spPr>
          <a:xfrm>
            <a:off x="7726680" y="3355848"/>
            <a:ext cx="512064" cy="512064"/>
          </a:xfrm>
          <a:prstGeom prst="ellipse">
            <a:avLst/>
          </a:prstGeom>
          <a:solidFill>
            <a:schemeClr val="tx2"/>
          </a:solidFill>
          <a:ln/>
        </p:spPr>
      </p:sp>
      <p:pic>
        <p:nvPicPr>
          <p:cNvPr id="21" name="Actuador: semáforo LED icono" descr="preencoded.png">    </p:cNvPr>
          <p:cNvPicPr>
            <a:picLocks noChangeAspect="1"/>
          </p:cNvPicPr>
          <p:nvPr/>
        </p:nvPicPr>
        <p:blipFill>
          <a:blip r:embed="rId1"/>
          <a:stretch>
            <a:fillRect/>
          </a:stretch>
        </p:blipFill>
        <p:spPr>
          <a:xfrm>
            <a:off x="7849575" y="3478743"/>
            <a:ext cx="266273" cy="266273"/>
          </a:xfrm>
          <a:prstGeom prst="rect">
            <a:avLst/>
          </a:prstGeom>
        </p:spPr>
      </p:pic>
      <p:sp>
        <p:nvSpPr>
          <p:cNvPr id="22" name="Text 19"/>
          <p:cNvSpPr txBox="1"/>
          <p:nvPr/>
        </p:nvSpPr>
        <p:spPr>
          <a:xfrm>
            <a:off x="8366760" y="3218688"/>
            <a:ext cx="3154680" cy="310896"/>
          </a:xfrm>
          <a:prstGeom prst="rect">
            <a:avLst/>
          </a:prstGeom>
          <a:noFill/>
          <a:ln/>
        </p:spPr>
        <p:txBody>
          <a:bodyPr wrap="square" lIns="0" tIns="0" rIns="0" bIns="0" rtlCol="0" anchor="ctr"/>
          <a:lstStyle/>
          <a:p>
            <a:pPr indent="0" marL="0">
              <a:buNone/>
            </a:pPr>
            <a:r>
              <a:rPr lang="en-US" sz="1500" b="1" dirty="0">
                <a:solidFill>
                  <a:schemeClr val="tx2"/>
                </a:solidFill>
              </a:rPr>
              <a:t>Actuador: semáforo LED</a:t>
            </a:r>
            <a:endParaRPr lang="en-US" sz="1500" dirty="0"/>
          </a:p>
        </p:txBody>
      </p:sp>
      <p:sp>
        <p:nvSpPr>
          <p:cNvPr id="23" name="Text 20"/>
          <p:cNvSpPr txBox="1"/>
          <p:nvPr/>
        </p:nvSpPr>
        <p:spPr>
          <a:xfrm>
            <a:off x="8366760" y="3529584"/>
            <a:ext cx="3154680" cy="502920"/>
          </a:xfrm>
          <a:prstGeom prst="rect">
            <a:avLst/>
          </a:prstGeom>
          <a:noFill/>
          <a:ln/>
        </p:spPr>
        <p:txBody>
          <a:bodyPr wrap="square" lIns="0" tIns="0" rIns="0" bIns="0" rtlCol="0" anchor="t"/>
          <a:lstStyle/>
          <a:p>
            <a:pPr indent="0" marL="0">
              <a:buNone/>
            </a:pPr>
            <a:r>
              <a:rPr lang="en-US" sz="1300" dirty="0">
                <a:solidFill>
                  <a:schemeClr val="tx1"/>
                </a:solidFill>
              </a:rPr>
              <a:t>GPIO 27 verde · 26 amarillo · 25 rojo, uno por clase.</a:t>
            </a:r>
            <a:endParaRPr lang="en-US" sz="1300" dirty="0"/>
          </a:p>
        </p:txBody>
      </p:sp>
      <p:sp>
        <p:nvSpPr>
          <p:cNvPr id="24" name="Falla segura"/>
          <p:cNvSpPr/>
          <p:nvPr/>
        </p:nvSpPr>
        <p:spPr>
          <a:xfrm>
            <a:off x="7589520" y="4187952"/>
            <a:ext cx="4050792" cy="914400"/>
          </a:xfrm>
          <a:prstGeom prst="roundRect">
            <a:avLst>
              <a:gd name="adj" fmla="val 8000"/>
            </a:avLst>
          </a:prstGeom>
          <a:solidFill>
            <a:schemeClr val="bg2"/>
          </a:solidFill>
          <a:ln/>
        </p:spPr>
      </p:sp>
      <p:sp>
        <p:nvSpPr>
          <p:cNvPr id="25" name="Falla segura círculo"/>
          <p:cNvSpPr/>
          <p:nvPr/>
        </p:nvSpPr>
        <p:spPr>
          <a:xfrm>
            <a:off x="7726680" y="4389120"/>
            <a:ext cx="512064" cy="512064"/>
          </a:xfrm>
          <a:prstGeom prst="ellipse">
            <a:avLst/>
          </a:prstGeom>
          <a:solidFill>
            <a:schemeClr val="accent3"/>
          </a:solidFill>
          <a:ln/>
        </p:spPr>
      </p:sp>
      <p:pic>
        <p:nvPicPr>
          <p:cNvPr id="26" name="Falla segura icono" descr="preencoded.png">    </p:cNvPr>
          <p:cNvPicPr>
            <a:picLocks noChangeAspect="1"/>
          </p:cNvPicPr>
          <p:nvPr/>
        </p:nvPicPr>
        <p:blipFill>
          <a:blip r:embed="rId2"/>
          <a:stretch>
            <a:fillRect/>
          </a:stretch>
        </p:blipFill>
        <p:spPr>
          <a:xfrm>
            <a:off x="7849575" y="4512015"/>
            <a:ext cx="266273" cy="266273"/>
          </a:xfrm>
          <a:prstGeom prst="rect">
            <a:avLst/>
          </a:prstGeom>
        </p:spPr>
      </p:pic>
      <p:sp>
        <p:nvSpPr>
          <p:cNvPr id="27" name="Text 23"/>
          <p:cNvSpPr txBox="1"/>
          <p:nvPr/>
        </p:nvSpPr>
        <p:spPr>
          <a:xfrm>
            <a:off x="8366760" y="4251960"/>
            <a:ext cx="3154680" cy="310896"/>
          </a:xfrm>
          <a:prstGeom prst="rect">
            <a:avLst/>
          </a:prstGeom>
          <a:noFill/>
          <a:ln/>
        </p:spPr>
        <p:txBody>
          <a:bodyPr wrap="square" lIns="0" tIns="0" rIns="0" bIns="0" rtlCol="0" anchor="ctr"/>
          <a:lstStyle/>
          <a:p>
            <a:pPr indent="0" marL="0">
              <a:buNone/>
            </a:pPr>
            <a:r>
              <a:rPr lang="en-US" sz="1500" b="1" dirty="0">
                <a:solidFill>
                  <a:schemeClr val="tx2"/>
                </a:solidFill>
              </a:rPr>
              <a:t>Falla segura</a:t>
            </a:r>
            <a:endParaRPr lang="en-US" sz="1500" dirty="0"/>
          </a:p>
        </p:txBody>
      </p:sp>
      <p:sp>
        <p:nvSpPr>
          <p:cNvPr id="28" name="Text 24"/>
          <p:cNvSpPr txBox="1"/>
          <p:nvPr/>
        </p:nvSpPr>
        <p:spPr>
          <a:xfrm>
            <a:off x="8366760" y="4562856"/>
            <a:ext cx="3154680" cy="502920"/>
          </a:xfrm>
          <a:prstGeom prst="rect">
            <a:avLst/>
          </a:prstGeom>
          <a:noFill/>
          <a:ln/>
        </p:spPr>
        <p:txBody>
          <a:bodyPr wrap="square" lIns="0" tIns="0" rIns="0" bIns="0" rtlCol="0" anchor="t"/>
          <a:lstStyle/>
          <a:p>
            <a:pPr indent="0" marL="0">
              <a:buNone/>
            </a:pPr>
            <a:r>
              <a:rPr lang="en-US" sz="1300" dirty="0">
                <a:solidFill>
                  <a:schemeClr val="tx1"/>
                </a:solidFill>
              </a:rPr>
              <a:t>Si falta una feature no predice y apaga los tres LEDs: nunca indica por error que hay que regar.</a:t>
            </a:r>
            <a:endParaRPr lang="en-US" sz="1300" dirty="0"/>
          </a:p>
        </p:txBody>
      </p:sp>
      <p:sp>
        <p:nvSpPr>
          <p:cNvPr id="29" name="Independiente del WiFi"/>
          <p:cNvSpPr/>
          <p:nvPr/>
        </p:nvSpPr>
        <p:spPr>
          <a:xfrm>
            <a:off x="7589520" y="5221224"/>
            <a:ext cx="4050792" cy="914400"/>
          </a:xfrm>
          <a:prstGeom prst="roundRect">
            <a:avLst>
              <a:gd name="adj" fmla="val 8000"/>
            </a:avLst>
          </a:prstGeom>
          <a:solidFill>
            <a:schemeClr val="bg2"/>
          </a:solidFill>
          <a:ln/>
        </p:spPr>
      </p:sp>
      <p:sp>
        <p:nvSpPr>
          <p:cNvPr id="30" name="Independiente del WiFi círculo"/>
          <p:cNvSpPr/>
          <p:nvPr/>
        </p:nvSpPr>
        <p:spPr>
          <a:xfrm>
            <a:off x="7726680" y="5422392"/>
            <a:ext cx="512064" cy="512064"/>
          </a:xfrm>
          <a:prstGeom prst="ellipse">
            <a:avLst/>
          </a:prstGeom>
          <a:solidFill>
            <a:schemeClr val="tx2"/>
          </a:solidFill>
          <a:ln/>
        </p:spPr>
      </p:sp>
      <p:pic>
        <p:nvPicPr>
          <p:cNvPr id="31" name="Independiente del WiFi icono" descr="preencoded.png">    </p:cNvPr>
          <p:cNvPicPr>
            <a:picLocks noChangeAspect="1"/>
          </p:cNvPicPr>
          <p:nvPr/>
        </p:nvPicPr>
        <p:blipFill>
          <a:blip r:embed="rId3"/>
          <a:stretch>
            <a:fillRect/>
          </a:stretch>
        </p:blipFill>
        <p:spPr>
          <a:xfrm>
            <a:off x="7849575" y="5545287"/>
            <a:ext cx="266273" cy="266273"/>
          </a:xfrm>
          <a:prstGeom prst="rect">
            <a:avLst/>
          </a:prstGeom>
        </p:spPr>
      </p:pic>
      <p:sp>
        <p:nvSpPr>
          <p:cNvPr id="32" name="Text 27"/>
          <p:cNvSpPr txBox="1"/>
          <p:nvPr/>
        </p:nvSpPr>
        <p:spPr>
          <a:xfrm>
            <a:off x="8366760" y="5285232"/>
            <a:ext cx="3154680" cy="310896"/>
          </a:xfrm>
          <a:prstGeom prst="rect">
            <a:avLst/>
          </a:prstGeom>
          <a:noFill/>
          <a:ln/>
        </p:spPr>
        <p:txBody>
          <a:bodyPr wrap="square" lIns="0" tIns="0" rIns="0" bIns="0" rtlCol="0" anchor="ctr"/>
          <a:lstStyle/>
          <a:p>
            <a:pPr indent="0" marL="0">
              <a:buNone/>
            </a:pPr>
            <a:r>
              <a:rPr lang="en-US" sz="1500" b="1" dirty="0">
                <a:solidFill>
                  <a:schemeClr val="tx2"/>
                </a:solidFill>
              </a:rPr>
              <a:t>Independiente del WiFi</a:t>
            </a:r>
            <a:endParaRPr lang="en-US" sz="1500" dirty="0"/>
          </a:p>
        </p:txBody>
      </p:sp>
      <p:sp>
        <p:nvSpPr>
          <p:cNvPr id="33" name="Text 28"/>
          <p:cNvSpPr txBox="1"/>
          <p:nvPr/>
        </p:nvSpPr>
        <p:spPr>
          <a:xfrm>
            <a:off x="8366760" y="5596128"/>
            <a:ext cx="3154680" cy="502920"/>
          </a:xfrm>
          <a:prstGeom prst="rect">
            <a:avLst/>
          </a:prstGeom>
          <a:noFill/>
          <a:ln/>
        </p:spPr>
        <p:txBody>
          <a:bodyPr wrap="square" lIns="0" tIns="0" rIns="0" bIns="0" rtlCol="0" anchor="t"/>
          <a:lstStyle/>
          <a:p>
            <a:pPr indent="0" marL="0">
              <a:buNone/>
            </a:pPr>
            <a:r>
              <a:rPr lang="en-US" sz="1300" dirty="0">
                <a:solidFill>
                  <a:schemeClr val="tx1"/>
                </a:solidFill>
              </a:rPr>
              <a:t>Se predice antes del POST; el backend recibe clase, probabilidad y versión.</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PRUEBAS DE INFERENCIA · LOGS</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Tests, replay y datos nuevos</a:t>
            </a:r>
            <a:endParaRPr lang="en-US" sz="3600" dirty="0"/>
          </a:p>
        </p:txBody>
      </p:sp>
      <p:sp>
        <p:nvSpPr>
          <p:cNvPr id="4" name="Log replay"/>
          <p:cNvSpPr/>
          <p:nvPr/>
        </p:nvSpPr>
        <p:spPr>
          <a:xfrm>
            <a:off x="548640" y="1600200"/>
            <a:ext cx="11091672" cy="1481328"/>
          </a:xfrm>
          <a:prstGeom prst="roundRect">
            <a:avLst>
              <a:gd name="adj" fmla="val 4938"/>
            </a:avLst>
          </a:prstGeom>
          <a:solidFill>
            <a:schemeClr val="tx1"/>
          </a:solidFill>
          <a:ln/>
        </p:spPr>
      </p:sp>
      <p:sp>
        <p:nvSpPr>
          <p:cNvPr id="5" name="Log replay texto"/>
          <p:cNvSpPr txBox="1"/>
          <p:nvPr/>
        </p:nvSpPr>
        <p:spPr>
          <a:xfrm>
            <a:off x="777240" y="1764792"/>
            <a:ext cx="10634472" cy="1152144"/>
          </a:xfrm>
          <a:prstGeom prst="rect">
            <a:avLst/>
          </a:prstGeom>
          <a:noFill/>
          <a:ln/>
        </p:spPr>
        <p:txBody>
          <a:bodyPr wrap="square" lIns="0" tIns="0" rIns="0" bIns="0" rtlCol="0" anchor="t"/>
          <a:lstStyle/>
          <a:p>
            <a:pPr indent="0" marL="0">
              <a:buNone/>
            </a:pPr>
            <a:r>
              <a:rPr lang="en-US" sz="1200" dirty="0">
                <a:solidFill>
                  <a:srgbClr val="C9D6CF"/>
                </a:solidFill>
                <a:latin typeface="Courier New" pitchFamily="34" charset="0"/>
                <a:ea typeface="Courier New" pitchFamily="34" charset="-122"/>
                <a:cs typeface="Courier New" pitchFamily="34" charset="-120"/>
              </a:rPr>
              <a:t># replay en host: 150 muestras reales alrededor de un riego, mismo código que la placa</a:t>
            </a:r>
            <a:endParaRPr lang="en-US" sz="1200" dirty="0"/>
          </a:p>
          <a:p>
            <a:pPr indent="0" marL="0">
              <a:buNone/>
            </a:pPr>
            <a:r>
              <a:rPr lang="en-US" sz="1200" dirty="0">
                <a:solidFill>
                  <a:srgbClr val="E8F1EC"/>
                </a:solidFill>
                <a:latin typeface="Courier New" pitchFamily="34" charset="0"/>
                <a:ea typeface="Courier New" pitchFamily="34" charset="-122"/>
                <a:cs typeface="Courier New" pitchFamily="34" charset="-120"/>
              </a:rPr>
              <a:t>[INF] n=13 warmup=0 x=[1897,20,19.4,42,1.31,2121,2026] -&gt; estresada p=[0.03,0.97,0.00] t_us=0</a:t>
            </a:r>
            <a:endParaRPr lang="en-US" sz="1200" dirty="0"/>
          </a:p>
          <a:p>
            <a:pPr indent="0" marL="0">
              <a:buNone/>
            </a:pPr>
            <a:r>
              <a:rPr lang="en-US" sz="1200" dirty="0">
                <a:solidFill>
                  <a:srgbClr val="E8F1EC"/>
                </a:solidFill>
                <a:latin typeface="Courier New" pitchFamily="34" charset="0"/>
                <a:ea typeface="Courier New" pitchFamily="34" charset="-122"/>
                <a:cs typeface="Courier New" pitchFamily="34" charset="-120"/>
              </a:rPr>
              <a:t>[INF] n=100 warmup=0 x=[1936,0,20.2,45,1.30,1787,1071] -&gt; estresada p=[0.03,0.97,0.00] t_us=0</a:t>
            </a:r>
            <a:endParaRPr lang="en-US" sz="1200" dirty="0"/>
          </a:p>
          <a:p>
            <a:pPr indent="0" marL="0">
              <a:buNone/>
            </a:pPr>
            <a:r>
              <a:rPr lang="en-US" sz="1200" dirty="0">
                <a:solidFill>
                  <a:srgbClr val="C9D6CF"/>
                </a:solidFill>
                <a:latin typeface="Courier New" pitchFamily="34" charset="0"/>
                <a:ea typeface="Courier New" pitchFamily="34" charset="-122"/>
                <a:cs typeface="Courier New" pitchFamily="34" charset="-120"/>
              </a:rPr>
              <a:t># ... riego ...</a:t>
            </a:r>
            <a:endParaRPr lang="en-US" sz="1200" dirty="0"/>
          </a:p>
          <a:p>
            <a:pPr indent="0" marL="0">
              <a:buNone/>
            </a:pPr>
            <a:r>
              <a:rPr lang="en-US" sz="1200" dirty="0">
                <a:solidFill>
                  <a:srgbClr val="E8F1EC"/>
                </a:solidFill>
                <a:latin typeface="Courier New" pitchFamily="34" charset="0"/>
                <a:ea typeface="Courier New" pitchFamily="34" charset="-122"/>
                <a:cs typeface="Courier New" pitchFamily="34" charset="-120"/>
              </a:rPr>
              <a:t>[INF] n=105 warmup=0 x=[1516,-420,20.6,53,1.14,1792,1522] -&gt; saludable p=[0.45,0.28,0.27] t_us=1</a:t>
            </a:r>
            <a:endParaRPr lang="en-US" sz="1200" dirty="0"/>
          </a:p>
          <a:p>
            <a:pPr indent="0" marL="0">
              <a:buNone/>
            </a:pPr>
            <a:r>
              <a:rPr lang="en-US" sz="1200" dirty="0">
                <a:solidFill>
                  <a:srgbClr val="E8F1EC"/>
                </a:solidFill>
                <a:latin typeface="Courier New" pitchFamily="34" charset="0"/>
                <a:ea typeface="Courier New" pitchFamily="34" charset="-122"/>
                <a:cs typeface="Courier New" pitchFamily="34" charset="-120"/>
              </a:rPr>
              <a:t>[INF] n=140 warmup=0 x=[1465,-13,20.2,49,1.21,142,142] -&gt; saludable p=[0.45,0.28,0.27] t_us=0</a:t>
            </a:r>
            <a:endParaRPr lang="en-US" sz="1200" dirty="0"/>
          </a:p>
        </p:txBody>
      </p:sp>
      <p:sp>
        <p:nvSpPr>
          <p:cNvPr id="6" name="Prueba 100 %"/>
          <p:cNvSpPr/>
          <p:nvPr/>
        </p:nvSpPr>
        <p:spPr>
          <a:xfrm>
            <a:off x="548640" y="3383280"/>
            <a:ext cx="3931920" cy="822960"/>
          </a:xfrm>
          <a:prstGeom prst="roundRect">
            <a:avLst>
              <a:gd name="adj" fmla="val 8889"/>
            </a:avLst>
          </a:prstGeom>
          <a:solidFill>
            <a:schemeClr val="bg2"/>
          </a:solidFill>
          <a:ln/>
        </p:spPr>
      </p:sp>
      <p:sp>
        <p:nvSpPr>
          <p:cNvPr id="7" name="Text 5"/>
          <p:cNvSpPr txBox="1"/>
          <p:nvPr/>
        </p:nvSpPr>
        <p:spPr>
          <a:xfrm>
            <a:off x="713232" y="3383280"/>
            <a:ext cx="1417320" cy="82296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100 %</a:t>
            </a:r>
            <a:endParaRPr lang="en-US" sz="2200" dirty="0"/>
          </a:p>
        </p:txBody>
      </p:sp>
      <p:sp>
        <p:nvSpPr>
          <p:cNvPr id="8" name="Text 6"/>
          <p:cNvSpPr txBox="1"/>
          <p:nvPr/>
        </p:nvSpPr>
        <p:spPr>
          <a:xfrm>
            <a:off x="2148840" y="3383280"/>
            <a:ext cx="2240280" cy="822960"/>
          </a:xfrm>
          <a:prstGeom prst="rect">
            <a:avLst/>
          </a:prstGeom>
          <a:noFill/>
          <a:ln/>
        </p:spPr>
        <p:txBody>
          <a:bodyPr wrap="square" lIns="0" tIns="0" rIns="0" bIns="0" rtlCol="0" anchor="ctr"/>
          <a:lstStyle/>
          <a:p>
            <a:pPr indent="0" marL="0">
              <a:buNone/>
            </a:pPr>
            <a:r>
              <a:rPr lang="en-US" sz="1300" dirty="0">
                <a:solidFill>
                  <a:schemeClr val="tx1"/>
                </a:solidFill>
              </a:rPr>
              <a:t>coincidencia C vs. scikit-learn en 324 vectores (21 tests de host)</a:t>
            </a:r>
            <a:endParaRPr lang="en-US" sz="1300" dirty="0"/>
          </a:p>
        </p:txBody>
      </p:sp>
      <p:sp>
        <p:nvSpPr>
          <p:cNvPr id="9" name="Prueba 0–1 µs"/>
          <p:cNvSpPr/>
          <p:nvPr/>
        </p:nvSpPr>
        <p:spPr>
          <a:xfrm>
            <a:off x="548640" y="4297680"/>
            <a:ext cx="3931920" cy="822960"/>
          </a:xfrm>
          <a:prstGeom prst="roundRect">
            <a:avLst>
              <a:gd name="adj" fmla="val 8889"/>
            </a:avLst>
          </a:prstGeom>
          <a:solidFill>
            <a:schemeClr val="bg2"/>
          </a:solidFill>
          <a:ln/>
        </p:spPr>
      </p:sp>
      <p:sp>
        <p:nvSpPr>
          <p:cNvPr id="10" name="Text 8"/>
          <p:cNvSpPr txBox="1"/>
          <p:nvPr/>
        </p:nvSpPr>
        <p:spPr>
          <a:xfrm>
            <a:off x="713232" y="4297680"/>
            <a:ext cx="1417320" cy="82296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0–1 µs</a:t>
            </a:r>
            <a:endParaRPr lang="en-US" sz="2200" dirty="0"/>
          </a:p>
        </p:txBody>
      </p:sp>
      <p:sp>
        <p:nvSpPr>
          <p:cNvPr id="11" name="Text 9"/>
          <p:cNvSpPr txBox="1"/>
          <p:nvPr/>
        </p:nvSpPr>
        <p:spPr>
          <a:xfrm>
            <a:off x="2148840" y="4297680"/>
            <a:ext cx="2240280" cy="822960"/>
          </a:xfrm>
          <a:prstGeom prst="rect">
            <a:avLst/>
          </a:prstGeom>
          <a:noFill/>
          <a:ln/>
        </p:spPr>
        <p:txBody>
          <a:bodyPr wrap="square" lIns="0" tIns="0" rIns="0" bIns="0" rtlCol="0" anchor="ctr"/>
          <a:lstStyle/>
          <a:p>
            <a:pPr indent="0" marL="0">
              <a:buNone/>
            </a:pPr>
            <a:r>
              <a:rPr lang="en-US" sz="1300" dirty="0">
                <a:solidFill>
                  <a:schemeClr val="tx1"/>
                </a:solidFill>
              </a:rPr>
              <a:t>por inferencia, medido en host durante el replay</a:t>
            </a:r>
            <a:endParaRPr lang="en-US" sz="1300" dirty="0"/>
          </a:p>
        </p:txBody>
      </p:sp>
      <p:sp>
        <p:nvSpPr>
          <p:cNvPr id="12" name="Prueba 184 / 184"/>
          <p:cNvSpPr/>
          <p:nvPr/>
        </p:nvSpPr>
        <p:spPr>
          <a:xfrm>
            <a:off x="548640" y="5212080"/>
            <a:ext cx="3931920" cy="822960"/>
          </a:xfrm>
          <a:prstGeom prst="roundRect">
            <a:avLst>
              <a:gd name="adj" fmla="val 8889"/>
            </a:avLst>
          </a:prstGeom>
          <a:solidFill>
            <a:schemeClr val="bg2"/>
          </a:solidFill>
          <a:ln/>
        </p:spPr>
      </p:sp>
      <p:sp>
        <p:nvSpPr>
          <p:cNvPr id="13" name="Text 11"/>
          <p:cNvSpPr txBox="1"/>
          <p:nvPr/>
        </p:nvSpPr>
        <p:spPr>
          <a:xfrm>
            <a:off x="713232" y="5212080"/>
            <a:ext cx="1417320" cy="82296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184 / 184</a:t>
            </a:r>
            <a:endParaRPr lang="en-US" sz="2200" dirty="0"/>
          </a:p>
        </p:txBody>
      </p:sp>
      <p:sp>
        <p:nvSpPr>
          <p:cNvPr id="14" name="Text 12"/>
          <p:cNvSpPr txBox="1"/>
          <p:nvPr/>
        </p:nvSpPr>
        <p:spPr>
          <a:xfrm>
            <a:off x="2148840" y="5212080"/>
            <a:ext cx="2240280" cy="822960"/>
          </a:xfrm>
          <a:prstGeom prst="rect">
            <a:avLst/>
          </a:prstGeom>
          <a:noFill/>
          <a:ln/>
        </p:spPr>
        <p:txBody>
          <a:bodyPr wrap="square" lIns="0" tIns="0" rIns="0" bIns="0" rtlCol="0" anchor="ctr"/>
          <a:lstStyle/>
          <a:p>
            <a:pPr indent="0" marL="0">
              <a:buNone/>
            </a:pPr>
            <a:r>
              <a:rPr lang="en-US" sz="1300" dirty="0">
                <a:solidFill>
                  <a:schemeClr val="tx1"/>
                </a:solidFill>
              </a:rPr>
              <a:t>muestras nuevas del 22/10 (planta sana) → saludable, de día y de noche</a:t>
            </a:r>
            <a:endParaRPr lang="en-US" sz="1300" dirty="0"/>
          </a:p>
        </p:txBody>
      </p:sp>
      <p:pic>
        <p:nvPicPr>
          <p:cNvPr id="15" name="Figura datos nuevos" descr="/home/claude/ppt/img/prueba_railway_nuevos.png">    </p:cNvPr>
          <p:cNvPicPr>
            <a:picLocks noChangeAspect="1"/>
          </p:cNvPicPr>
          <p:nvPr/>
        </p:nvPicPr>
        <p:blipFill>
          <a:blip r:embed="rId1"/>
          <a:stretch>
            <a:fillRect/>
          </a:stretch>
        </p:blipFill>
        <p:spPr>
          <a:xfrm>
            <a:off x="4754880" y="3383280"/>
            <a:ext cx="6885432" cy="1645920"/>
          </a:xfrm>
          <a:prstGeom prst="rect">
            <a:avLst/>
          </a:prstGeom>
        </p:spPr>
      </p:pic>
      <p:sp>
        <p:nvSpPr>
          <p:cNvPr id="16" name="Text 13"/>
          <p:cNvSpPr txBox="1"/>
          <p:nvPr/>
        </p:nvSpPr>
        <p:spPr>
          <a:xfrm>
            <a:off x="4754880" y="5074920"/>
            <a:ext cx="6885432" cy="274320"/>
          </a:xfrm>
          <a:prstGeom prst="rect">
            <a:avLst/>
          </a:prstGeom>
          <a:noFill/>
          <a:ln/>
        </p:spPr>
        <p:txBody>
          <a:bodyPr wrap="square" lIns="0" tIns="0" rIns="0" bIns="0" rtlCol="0" anchor="t"/>
          <a:lstStyle/>
          <a:p>
            <a:pPr indent="0" marL="0">
              <a:buNone/>
            </a:pPr>
            <a:r>
              <a:rPr lang="en-US" sz="1100" i="1" dirty="0">
                <a:solidFill>
                  <a:schemeClr val="accent5"/>
                </a:solidFill>
              </a:rPr>
              <a:t>Predicciones sobre las mediciones nuevas de Railway del 22/10: todas saludable (puntos verdes de abajo).</a:t>
            </a:r>
            <a:endParaRPr lang="en-US" sz="1100" dirty="0"/>
          </a:p>
        </p:txBody>
      </p:sp>
      <p:sp>
        <p:nvSpPr>
          <p:cNvPr id="17" name="Nota tests"/>
          <p:cNvSpPr/>
          <p:nvPr/>
        </p:nvSpPr>
        <p:spPr>
          <a:xfrm>
            <a:off x="4754880" y="5532120"/>
            <a:ext cx="6885432" cy="502920"/>
          </a:xfrm>
          <a:prstGeom prst="roundRect">
            <a:avLst>
              <a:gd name="adj" fmla="val 14545"/>
            </a:avLst>
          </a:prstGeom>
          <a:solidFill>
            <a:schemeClr val="bg2"/>
          </a:solidFill>
          <a:ln/>
        </p:spPr>
      </p:sp>
      <p:sp>
        <p:nvSpPr>
          <p:cNvPr id="18" name="Text 15"/>
          <p:cNvSpPr txBox="1"/>
          <p:nvPr/>
        </p:nvSpPr>
        <p:spPr>
          <a:xfrm>
            <a:off x="4937760" y="5532120"/>
            <a:ext cx="2011680" cy="50292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pio test -e native</a:t>
            </a:r>
            <a:endParaRPr lang="en-US" sz="1400" dirty="0"/>
          </a:p>
        </p:txBody>
      </p:sp>
      <p:sp>
        <p:nvSpPr>
          <p:cNvPr id="19" name="Text 16"/>
          <p:cNvSpPr txBox="1"/>
          <p:nvPr/>
        </p:nvSpPr>
        <p:spPr>
          <a:xfrm>
            <a:off x="6995160" y="5532120"/>
            <a:ext cx="4526280" cy="502920"/>
          </a:xfrm>
          <a:prstGeom prst="rect">
            <a:avLst/>
          </a:prstGeom>
          <a:noFill/>
          <a:ln/>
        </p:spPr>
        <p:txBody>
          <a:bodyPr wrap="square" lIns="0" tIns="0" rIns="0" bIns="0" rtlCol="0" anchor="ctr"/>
          <a:lstStyle/>
          <a:p>
            <a:pPr indent="0" marL="0">
              <a:buNone/>
            </a:pPr>
            <a:r>
              <a:rPr lang="en-US" sz="1400" dirty="0">
                <a:solidFill>
                  <a:schemeClr val="tx1"/>
                </a:solidFill>
              </a:rPr>
              <a:t>verifica features y modelo, incluidos los casos en el umbral</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DISCUSIÓN · RESTRICCIONES DE EJECUCIÓN</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Memoria y CPU: el límite son los datos</a:t>
            </a:r>
            <a:endParaRPr lang="en-US" sz="3600" dirty="0"/>
          </a:p>
        </p:txBody>
      </p:sp>
      <p:sp>
        <p:nvSpPr>
          <p:cNvPr id="4" name="Dato 81 B"/>
          <p:cNvSpPr/>
          <p:nvPr/>
        </p:nvSpPr>
        <p:spPr>
          <a:xfrm>
            <a:off x="548640" y="1691640"/>
            <a:ext cx="3511296" cy="2011680"/>
          </a:xfrm>
          <a:prstGeom prst="roundRect">
            <a:avLst>
              <a:gd name="adj" fmla="val 3636"/>
            </a:avLst>
          </a:prstGeom>
          <a:solidFill>
            <a:schemeClr val="bg2"/>
          </a:solidFill>
          <a:ln/>
        </p:spPr>
      </p:sp>
      <p:sp>
        <p:nvSpPr>
          <p:cNvPr id="5" name="81 B círculo"/>
          <p:cNvSpPr/>
          <p:nvPr/>
        </p:nvSpPr>
        <p:spPr>
          <a:xfrm>
            <a:off x="3346704" y="1892808"/>
            <a:ext cx="512064" cy="512064"/>
          </a:xfrm>
          <a:prstGeom prst="ellipse">
            <a:avLst/>
          </a:prstGeom>
          <a:solidFill>
            <a:schemeClr val="accent4"/>
          </a:solidFill>
          <a:ln/>
        </p:spPr>
      </p:sp>
      <p:pic>
        <p:nvPicPr>
          <p:cNvPr id="6" name="81 B icono" descr="preencoded.png">    </p:cNvPr>
          <p:cNvPicPr>
            <a:picLocks noChangeAspect="1"/>
          </p:cNvPicPr>
          <p:nvPr/>
        </p:nvPicPr>
        <p:blipFill>
          <a:blip r:embed="rId1"/>
          <a:stretch>
            <a:fillRect/>
          </a:stretch>
        </p:blipFill>
        <p:spPr>
          <a:xfrm>
            <a:off x="3469599" y="2015703"/>
            <a:ext cx="266273" cy="266273"/>
          </a:xfrm>
          <a:prstGeom prst="rect">
            <a:avLst/>
          </a:prstGeom>
        </p:spPr>
      </p:pic>
      <p:sp>
        <p:nvSpPr>
          <p:cNvPr id="7" name="Text 4"/>
          <p:cNvSpPr txBox="1"/>
          <p:nvPr/>
        </p:nvSpPr>
        <p:spPr>
          <a:xfrm>
            <a:off x="804672" y="196596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81 B</a:t>
            </a:r>
            <a:endParaRPr lang="en-US" sz="4000" dirty="0"/>
          </a:p>
        </p:txBody>
      </p:sp>
      <p:sp>
        <p:nvSpPr>
          <p:cNvPr id="8" name="Text 5"/>
          <p:cNvSpPr txBox="1"/>
          <p:nvPr/>
        </p:nvSpPr>
        <p:spPr>
          <a:xfrm>
            <a:off x="804672" y="2788920"/>
            <a:ext cx="3017520" cy="731520"/>
          </a:xfrm>
          <a:prstGeom prst="rect">
            <a:avLst/>
          </a:prstGeom>
          <a:noFill/>
          <a:ln/>
        </p:spPr>
        <p:txBody>
          <a:bodyPr wrap="square" lIns="0" tIns="0" rIns="0" bIns="0" rtlCol="0" anchor="t"/>
          <a:lstStyle/>
          <a:p>
            <a:pPr indent="0" marL="0">
              <a:buNone/>
            </a:pPr>
            <a:r>
              <a:rPr lang="en-US" sz="1500" dirty="0">
                <a:solidFill>
                  <a:schemeClr val="tx1"/>
                </a:solidFill>
              </a:rPr>
              <a:t>ocupa el árbol, de un presupuesto de 32 KB</a:t>
            </a:r>
            <a:endParaRPr lang="en-US" sz="1500" dirty="0"/>
          </a:p>
        </p:txBody>
      </p:sp>
      <p:sp>
        <p:nvSpPr>
          <p:cNvPr id="9" name="Dato 4,3 KB"/>
          <p:cNvSpPr/>
          <p:nvPr/>
        </p:nvSpPr>
        <p:spPr>
          <a:xfrm>
            <a:off x="4338828" y="1691640"/>
            <a:ext cx="3511296" cy="2011680"/>
          </a:xfrm>
          <a:prstGeom prst="roundRect">
            <a:avLst>
              <a:gd name="adj" fmla="val 3636"/>
            </a:avLst>
          </a:prstGeom>
          <a:solidFill>
            <a:schemeClr val="bg2"/>
          </a:solidFill>
          <a:ln/>
        </p:spPr>
      </p:sp>
      <p:sp>
        <p:nvSpPr>
          <p:cNvPr id="10" name="4,3 KB círculo"/>
          <p:cNvSpPr/>
          <p:nvPr/>
        </p:nvSpPr>
        <p:spPr>
          <a:xfrm>
            <a:off x="7136892" y="1892808"/>
            <a:ext cx="512064" cy="512064"/>
          </a:xfrm>
          <a:prstGeom prst="ellipse">
            <a:avLst/>
          </a:prstGeom>
          <a:solidFill>
            <a:schemeClr val="accent4"/>
          </a:solidFill>
          <a:ln/>
        </p:spPr>
      </p:sp>
      <p:pic>
        <p:nvPicPr>
          <p:cNvPr id="11" name="4,3 KB icono" descr="preencoded.png">    </p:cNvPr>
          <p:cNvPicPr>
            <a:picLocks noChangeAspect="1"/>
          </p:cNvPicPr>
          <p:nvPr/>
        </p:nvPicPr>
        <p:blipFill>
          <a:blip r:embed="rId2"/>
          <a:stretch>
            <a:fillRect/>
          </a:stretch>
        </p:blipFill>
        <p:spPr>
          <a:xfrm>
            <a:off x="7259787" y="2015703"/>
            <a:ext cx="266273" cy="266273"/>
          </a:xfrm>
          <a:prstGeom prst="rect">
            <a:avLst/>
          </a:prstGeom>
        </p:spPr>
      </p:pic>
      <p:sp>
        <p:nvSpPr>
          <p:cNvPr id="12" name="Text 8"/>
          <p:cNvSpPr txBox="1"/>
          <p:nvPr/>
        </p:nvSpPr>
        <p:spPr>
          <a:xfrm>
            <a:off x="4594860" y="196596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4,3 KB</a:t>
            </a:r>
            <a:endParaRPr lang="en-US" sz="4000" dirty="0"/>
          </a:p>
        </p:txBody>
      </p:sp>
      <p:sp>
        <p:nvSpPr>
          <p:cNvPr id="13" name="Text 9"/>
          <p:cNvSpPr txBox="1"/>
          <p:nvPr/>
        </p:nvSpPr>
        <p:spPr>
          <a:xfrm>
            <a:off x="4594860" y="2788920"/>
            <a:ext cx="3017520" cy="731520"/>
          </a:xfrm>
          <a:prstGeom prst="rect">
            <a:avLst/>
          </a:prstGeom>
          <a:noFill/>
          <a:ln/>
        </p:spPr>
        <p:txBody>
          <a:bodyPr wrap="square" lIns="0" tIns="0" rIns="0" bIns="0" rtlCol="0" anchor="t"/>
          <a:lstStyle/>
          <a:p>
            <a:pPr indent="0" marL="0">
              <a:buNone/>
            </a:pPr>
            <a:r>
              <a:rPr lang="en-US" sz="1500" dirty="0">
                <a:solidFill>
                  <a:schemeClr val="tx1"/>
                </a:solidFill>
              </a:rPr>
              <a:t>de flash y 192 B de RAM agrega la inferencia al firmware</a:t>
            </a:r>
            <a:endParaRPr lang="en-US" sz="1500" dirty="0"/>
          </a:p>
        </p:txBody>
      </p:sp>
      <p:sp>
        <p:nvSpPr>
          <p:cNvPr id="14" name="Dato 0–1 µs"/>
          <p:cNvSpPr/>
          <p:nvPr/>
        </p:nvSpPr>
        <p:spPr>
          <a:xfrm>
            <a:off x="8129016" y="1691640"/>
            <a:ext cx="3511296" cy="2011680"/>
          </a:xfrm>
          <a:prstGeom prst="roundRect">
            <a:avLst>
              <a:gd name="adj" fmla="val 3636"/>
            </a:avLst>
          </a:prstGeom>
          <a:solidFill>
            <a:schemeClr val="bg2"/>
          </a:solidFill>
          <a:ln/>
        </p:spPr>
      </p:sp>
      <p:sp>
        <p:nvSpPr>
          <p:cNvPr id="15" name="0–1 µs círculo"/>
          <p:cNvSpPr/>
          <p:nvPr/>
        </p:nvSpPr>
        <p:spPr>
          <a:xfrm>
            <a:off x="10927080" y="1892808"/>
            <a:ext cx="512064" cy="512064"/>
          </a:xfrm>
          <a:prstGeom prst="ellipse">
            <a:avLst/>
          </a:prstGeom>
          <a:solidFill>
            <a:schemeClr val="accent4"/>
          </a:solidFill>
          <a:ln/>
        </p:spPr>
      </p:sp>
      <p:pic>
        <p:nvPicPr>
          <p:cNvPr id="16" name="0–1 µs icono" descr="preencoded.png">    </p:cNvPr>
          <p:cNvPicPr>
            <a:picLocks noChangeAspect="1"/>
          </p:cNvPicPr>
          <p:nvPr/>
        </p:nvPicPr>
        <p:blipFill>
          <a:blip r:embed="rId3"/>
          <a:stretch>
            <a:fillRect/>
          </a:stretch>
        </p:blipFill>
        <p:spPr>
          <a:xfrm>
            <a:off x="11049975" y="2015703"/>
            <a:ext cx="266273" cy="266273"/>
          </a:xfrm>
          <a:prstGeom prst="rect">
            <a:avLst/>
          </a:prstGeom>
        </p:spPr>
      </p:pic>
      <p:sp>
        <p:nvSpPr>
          <p:cNvPr id="17" name="Text 12"/>
          <p:cNvSpPr txBox="1"/>
          <p:nvPr/>
        </p:nvSpPr>
        <p:spPr>
          <a:xfrm>
            <a:off x="8385048" y="196596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0–1 µs</a:t>
            </a:r>
            <a:endParaRPr lang="en-US" sz="4000" dirty="0"/>
          </a:p>
        </p:txBody>
      </p:sp>
      <p:sp>
        <p:nvSpPr>
          <p:cNvPr id="18" name="Text 13"/>
          <p:cNvSpPr txBox="1"/>
          <p:nvPr/>
        </p:nvSpPr>
        <p:spPr>
          <a:xfrm>
            <a:off x="8385048" y="2788920"/>
            <a:ext cx="3017520" cy="731520"/>
          </a:xfrm>
          <a:prstGeom prst="rect">
            <a:avLst/>
          </a:prstGeom>
          <a:noFill/>
          <a:ln/>
        </p:spPr>
        <p:txBody>
          <a:bodyPr wrap="square" lIns="0" tIns="0" rIns="0" bIns="0" rtlCol="0" anchor="t"/>
          <a:lstStyle/>
          <a:p>
            <a:pPr indent="0" marL="0">
              <a:buNone/>
            </a:pPr>
            <a:r>
              <a:rPr lang="en-US" sz="1500" dirty="0">
                <a:solidFill>
                  <a:schemeClr val="tx1"/>
                </a:solidFill>
              </a:rPr>
              <a:t>por predicción (medido en host); presupuesto &lt; 1 ms</a:t>
            </a:r>
            <a:endParaRPr lang="en-US" sz="1500" dirty="0"/>
          </a:p>
        </p:txBody>
      </p:sp>
      <p:sp>
        <p:nvSpPr>
          <p:cNvPr id="19" name="Dato 73,4 %"/>
          <p:cNvSpPr/>
          <p:nvPr/>
        </p:nvSpPr>
        <p:spPr>
          <a:xfrm>
            <a:off x="548640" y="3931920"/>
            <a:ext cx="3511296" cy="2011680"/>
          </a:xfrm>
          <a:prstGeom prst="roundRect">
            <a:avLst>
              <a:gd name="adj" fmla="val 3636"/>
            </a:avLst>
          </a:prstGeom>
          <a:solidFill>
            <a:schemeClr val="bg2"/>
          </a:solidFill>
          <a:ln/>
        </p:spPr>
      </p:sp>
      <p:sp>
        <p:nvSpPr>
          <p:cNvPr id="20" name="73,4 % círculo"/>
          <p:cNvSpPr/>
          <p:nvPr/>
        </p:nvSpPr>
        <p:spPr>
          <a:xfrm>
            <a:off x="3346704" y="4133088"/>
            <a:ext cx="512064" cy="512064"/>
          </a:xfrm>
          <a:prstGeom prst="ellipse">
            <a:avLst/>
          </a:prstGeom>
          <a:solidFill>
            <a:schemeClr val="accent4"/>
          </a:solidFill>
          <a:ln/>
        </p:spPr>
      </p:sp>
      <p:pic>
        <p:nvPicPr>
          <p:cNvPr id="21" name="73,4 % icono" descr="preencoded.png">    </p:cNvPr>
          <p:cNvPicPr>
            <a:picLocks noChangeAspect="1"/>
          </p:cNvPicPr>
          <p:nvPr/>
        </p:nvPicPr>
        <p:blipFill>
          <a:blip r:embed="rId4"/>
          <a:stretch>
            <a:fillRect/>
          </a:stretch>
        </p:blipFill>
        <p:spPr>
          <a:xfrm>
            <a:off x="3469599" y="4255983"/>
            <a:ext cx="266273" cy="266273"/>
          </a:xfrm>
          <a:prstGeom prst="rect">
            <a:avLst/>
          </a:prstGeom>
        </p:spPr>
      </p:pic>
      <p:sp>
        <p:nvSpPr>
          <p:cNvPr id="22" name="Text 16"/>
          <p:cNvSpPr txBox="1"/>
          <p:nvPr/>
        </p:nvSpPr>
        <p:spPr>
          <a:xfrm>
            <a:off x="804672" y="420624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73,4 %</a:t>
            </a:r>
            <a:endParaRPr lang="en-US" sz="4000" dirty="0"/>
          </a:p>
        </p:txBody>
      </p:sp>
      <p:sp>
        <p:nvSpPr>
          <p:cNvPr id="23" name="Text 17"/>
          <p:cNvSpPr txBox="1"/>
          <p:nvPr/>
        </p:nvSpPr>
        <p:spPr>
          <a:xfrm>
            <a:off x="804672" y="5029200"/>
            <a:ext cx="3017520" cy="731520"/>
          </a:xfrm>
          <a:prstGeom prst="rect">
            <a:avLst/>
          </a:prstGeom>
          <a:noFill/>
          <a:ln/>
        </p:spPr>
        <p:txBody>
          <a:bodyPr wrap="square" lIns="0" tIns="0" rIns="0" bIns="0" rtlCol="0" anchor="t"/>
          <a:lstStyle/>
          <a:p>
            <a:pPr indent="0" marL="0">
              <a:buNone/>
            </a:pPr>
            <a:r>
              <a:rPr lang="en-US" sz="1500" dirty="0">
                <a:solidFill>
                  <a:schemeClr val="tx1"/>
                </a:solidFill>
              </a:rPr>
              <a:t>de la flash usa el firmware 2.0.0 (962 KB de 1,31 MB)</a:t>
            </a:r>
            <a:endParaRPr lang="en-US" sz="1500" dirty="0"/>
          </a:p>
        </p:txBody>
      </p:sp>
      <p:sp>
        <p:nvSpPr>
          <p:cNvPr id="24" name="Dato 14,6 %"/>
          <p:cNvSpPr/>
          <p:nvPr/>
        </p:nvSpPr>
        <p:spPr>
          <a:xfrm>
            <a:off x="4338828" y="3931920"/>
            <a:ext cx="3511296" cy="2011680"/>
          </a:xfrm>
          <a:prstGeom prst="roundRect">
            <a:avLst>
              <a:gd name="adj" fmla="val 3636"/>
            </a:avLst>
          </a:prstGeom>
          <a:solidFill>
            <a:schemeClr val="bg2"/>
          </a:solidFill>
          <a:ln/>
        </p:spPr>
      </p:sp>
      <p:sp>
        <p:nvSpPr>
          <p:cNvPr id="25" name="14,6 % círculo"/>
          <p:cNvSpPr/>
          <p:nvPr/>
        </p:nvSpPr>
        <p:spPr>
          <a:xfrm>
            <a:off x="7136892" y="4133088"/>
            <a:ext cx="512064" cy="512064"/>
          </a:xfrm>
          <a:prstGeom prst="ellipse">
            <a:avLst/>
          </a:prstGeom>
          <a:solidFill>
            <a:schemeClr val="accent4"/>
          </a:solidFill>
          <a:ln/>
        </p:spPr>
      </p:sp>
      <p:pic>
        <p:nvPicPr>
          <p:cNvPr id="26" name="14,6 % icono" descr="preencoded.png">    </p:cNvPr>
          <p:cNvPicPr>
            <a:picLocks noChangeAspect="1"/>
          </p:cNvPicPr>
          <p:nvPr/>
        </p:nvPicPr>
        <p:blipFill>
          <a:blip r:embed="rId5"/>
          <a:stretch>
            <a:fillRect/>
          </a:stretch>
        </p:blipFill>
        <p:spPr>
          <a:xfrm>
            <a:off x="7259787" y="4255983"/>
            <a:ext cx="266273" cy="266273"/>
          </a:xfrm>
          <a:prstGeom prst="rect">
            <a:avLst/>
          </a:prstGeom>
        </p:spPr>
      </p:pic>
      <p:sp>
        <p:nvSpPr>
          <p:cNvPr id="27" name="Text 20"/>
          <p:cNvSpPr txBox="1"/>
          <p:nvPr/>
        </p:nvSpPr>
        <p:spPr>
          <a:xfrm>
            <a:off x="4594860" y="420624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14,6 %</a:t>
            </a:r>
            <a:endParaRPr lang="en-US" sz="4000" dirty="0"/>
          </a:p>
        </p:txBody>
      </p:sp>
      <p:sp>
        <p:nvSpPr>
          <p:cNvPr id="28" name="Text 21"/>
          <p:cNvSpPr txBox="1"/>
          <p:nvPr/>
        </p:nvSpPr>
        <p:spPr>
          <a:xfrm>
            <a:off x="4594860" y="5029200"/>
            <a:ext cx="3017520" cy="731520"/>
          </a:xfrm>
          <a:prstGeom prst="rect">
            <a:avLst/>
          </a:prstGeom>
          <a:noFill/>
          <a:ln/>
        </p:spPr>
        <p:txBody>
          <a:bodyPr wrap="square" lIns="0" tIns="0" rIns="0" bIns="0" rtlCol="0" anchor="t"/>
          <a:lstStyle/>
          <a:p>
            <a:pPr indent="0" marL="0">
              <a:buNone/>
            </a:pPr>
            <a:r>
              <a:rPr lang="en-US" sz="1500" dirty="0">
                <a:solidFill>
                  <a:schemeClr val="tx1"/>
                </a:solidFill>
              </a:rPr>
              <a:t>de la RAM usa el firmware completo</a:t>
            </a:r>
            <a:endParaRPr lang="en-US" sz="1500" dirty="0"/>
          </a:p>
        </p:txBody>
      </p:sp>
      <p:sp>
        <p:nvSpPr>
          <p:cNvPr id="29" name="Dato 11,6 KB"/>
          <p:cNvSpPr/>
          <p:nvPr/>
        </p:nvSpPr>
        <p:spPr>
          <a:xfrm>
            <a:off x="8129016" y="3931920"/>
            <a:ext cx="3511296" cy="2011680"/>
          </a:xfrm>
          <a:prstGeom prst="roundRect">
            <a:avLst>
              <a:gd name="adj" fmla="val 3636"/>
            </a:avLst>
          </a:prstGeom>
          <a:solidFill>
            <a:schemeClr val="bg2"/>
          </a:solidFill>
          <a:ln/>
        </p:spPr>
      </p:sp>
      <p:sp>
        <p:nvSpPr>
          <p:cNvPr id="30" name="11,6 KB círculo"/>
          <p:cNvSpPr/>
          <p:nvPr/>
        </p:nvSpPr>
        <p:spPr>
          <a:xfrm>
            <a:off x="10927080" y="4133088"/>
            <a:ext cx="512064" cy="512064"/>
          </a:xfrm>
          <a:prstGeom prst="ellipse">
            <a:avLst/>
          </a:prstGeom>
          <a:solidFill>
            <a:schemeClr val="accent4"/>
          </a:solidFill>
          <a:ln/>
        </p:spPr>
      </p:sp>
      <p:pic>
        <p:nvPicPr>
          <p:cNvPr id="31" name="11,6 KB icono" descr="preencoded.png">    </p:cNvPr>
          <p:cNvPicPr>
            <a:picLocks noChangeAspect="1"/>
          </p:cNvPicPr>
          <p:nvPr/>
        </p:nvPicPr>
        <p:blipFill>
          <a:blip r:embed="rId6"/>
          <a:stretch>
            <a:fillRect/>
          </a:stretch>
        </p:blipFill>
        <p:spPr>
          <a:xfrm>
            <a:off x="11049975" y="4255983"/>
            <a:ext cx="266273" cy="266273"/>
          </a:xfrm>
          <a:prstGeom prst="rect">
            <a:avLst/>
          </a:prstGeom>
        </p:spPr>
      </p:pic>
      <p:sp>
        <p:nvSpPr>
          <p:cNvPr id="32" name="Text 24"/>
          <p:cNvSpPr txBox="1"/>
          <p:nvPr/>
        </p:nvSpPr>
        <p:spPr>
          <a:xfrm>
            <a:off x="8385048" y="4206240"/>
            <a:ext cx="246888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11,6 KB</a:t>
            </a:r>
            <a:endParaRPr lang="en-US" sz="4000" dirty="0"/>
          </a:p>
        </p:txBody>
      </p:sp>
      <p:sp>
        <p:nvSpPr>
          <p:cNvPr id="33" name="Text 25"/>
          <p:cNvSpPr txBox="1"/>
          <p:nvPr/>
        </p:nvSpPr>
        <p:spPr>
          <a:xfrm>
            <a:off x="8385048" y="5029200"/>
            <a:ext cx="3017520" cy="731520"/>
          </a:xfrm>
          <a:prstGeom prst="rect">
            <a:avLst/>
          </a:prstGeom>
          <a:noFill/>
          <a:ln/>
        </p:spPr>
        <p:txBody>
          <a:bodyPr wrap="square" lIns="0" tIns="0" rIns="0" bIns="0" rtlCol="0" anchor="t"/>
          <a:lstStyle/>
          <a:p>
            <a:pPr indent="0" marL="0">
              <a:buNone/>
            </a:pPr>
            <a:r>
              <a:rPr lang="en-US" sz="1500" dirty="0">
                <a:solidFill>
                  <a:schemeClr val="tx1"/>
                </a:solidFill>
              </a:rPr>
              <a:t>ocupaba el Random Forest (≈ 16 µs): también cabía</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DISCUSIÓN</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Ventajas y limitaciones</a:t>
            </a:r>
            <a:endParaRPr lang="en-US" sz="3600" dirty="0"/>
          </a:p>
        </p:txBody>
      </p:sp>
      <p:sp>
        <p:nvSpPr>
          <p:cNvPr id="4" name="Ventajas"/>
          <p:cNvSpPr/>
          <p:nvPr/>
        </p:nvSpPr>
        <p:spPr>
          <a:xfrm>
            <a:off x="548640" y="1645920"/>
            <a:ext cx="5394960" cy="3703320"/>
          </a:xfrm>
          <a:prstGeom prst="roundRect">
            <a:avLst>
              <a:gd name="adj" fmla="val 1975"/>
            </a:avLst>
          </a:prstGeom>
          <a:solidFill>
            <a:schemeClr val="accent1">
              <a:alpha val="10000"/>
            </a:schemeClr>
          </a:solidFill>
          <a:ln/>
        </p:spPr>
      </p:sp>
      <p:sp>
        <p:nvSpPr>
          <p:cNvPr id="5" name="Ventajas círculo"/>
          <p:cNvSpPr/>
          <p:nvPr/>
        </p:nvSpPr>
        <p:spPr>
          <a:xfrm>
            <a:off x="822960" y="1874520"/>
            <a:ext cx="566928" cy="566928"/>
          </a:xfrm>
          <a:prstGeom prst="ellipse">
            <a:avLst/>
          </a:prstGeom>
          <a:solidFill>
            <a:schemeClr val="accent1"/>
          </a:solidFill>
          <a:ln/>
        </p:spPr>
      </p:sp>
      <p:pic>
        <p:nvPicPr>
          <p:cNvPr id="6" name="Ventajas icono" descr="preencoded.png">    </p:cNvPr>
          <p:cNvPicPr>
            <a:picLocks noChangeAspect="1"/>
          </p:cNvPicPr>
          <p:nvPr/>
        </p:nvPicPr>
        <p:blipFill>
          <a:blip r:embed="rId1"/>
          <a:stretch>
            <a:fillRect/>
          </a:stretch>
        </p:blipFill>
        <p:spPr>
          <a:xfrm>
            <a:off x="959023" y="2010583"/>
            <a:ext cx="294803" cy="294803"/>
          </a:xfrm>
          <a:prstGeom prst="rect">
            <a:avLst/>
          </a:prstGeom>
        </p:spPr>
      </p:pic>
      <p:sp>
        <p:nvSpPr>
          <p:cNvPr id="7" name="Text 4"/>
          <p:cNvSpPr txBox="1"/>
          <p:nvPr/>
        </p:nvSpPr>
        <p:spPr>
          <a:xfrm>
            <a:off x="1554480" y="1874520"/>
            <a:ext cx="4114800" cy="56692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Ventajas</a:t>
            </a:r>
            <a:endParaRPr lang="en-US" sz="2200" dirty="0"/>
          </a:p>
        </p:txBody>
      </p:sp>
      <p:sp>
        <p:nvSpPr>
          <p:cNvPr id="8" name="Text 5"/>
          <p:cNvSpPr txBox="1"/>
          <p:nvPr/>
        </p:nvSpPr>
        <p:spPr>
          <a:xfrm>
            <a:off x="822960" y="2651760"/>
            <a:ext cx="4892040" cy="26060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Interpretable: tres reglas que se pueden leer y explicar</a:t>
            </a:r>
            <a:endParaRPr lang="en-US" sz="1500" dirty="0"/>
          </a:p>
          <a:p>
            <a:pPr marL="203200" indent="-203200">
              <a:spcAft>
                <a:spcPts val="900"/>
              </a:spcAft>
              <a:buSzPct val="100000"/>
              <a:buChar char="•"/>
            </a:pPr>
            <a:r>
              <a:rPr lang="en-US" sz="1500" dirty="0">
                <a:solidFill>
                  <a:schemeClr val="tx1"/>
                </a:solidFill>
              </a:rPr>
              <a:t>81 B, ≤ 2 comparaciones y sin memoria dinámica</a:t>
            </a:r>
            <a:endParaRPr lang="en-US" sz="1500" dirty="0"/>
          </a:p>
          <a:p>
            <a:pPr marL="203200" indent="-203200">
              <a:spcAft>
                <a:spcPts val="900"/>
              </a:spcAft>
              <a:buSzPct val="100000"/>
              <a:buChar char="•"/>
            </a:pPr>
            <a:r>
              <a:rPr lang="en-US" sz="1500" dirty="0">
                <a:solidFill>
                  <a:schemeClr val="tx1"/>
                </a:solidFill>
              </a:rPr>
              <a:t>No usa la luz: no confunde oscuridad con marchitez</a:t>
            </a:r>
            <a:endParaRPr lang="en-US" sz="1500" dirty="0"/>
          </a:p>
          <a:p>
            <a:pPr marL="203200" indent="-203200">
              <a:spcAft>
                <a:spcPts val="900"/>
              </a:spcAft>
              <a:buSzPct val="100000"/>
              <a:buChar char="•"/>
            </a:pPr>
            <a:r>
              <a:rPr lang="en-US" sz="1500" dirty="0">
                <a:solidFill>
                  <a:schemeClr val="tx1"/>
                </a:solidFill>
              </a:rPr>
              <a:t>Incorpora la temperatura, como pedía el diseño</a:t>
            </a:r>
            <a:endParaRPr lang="en-US" sz="1500" dirty="0"/>
          </a:p>
          <a:p>
            <a:pPr marL="203200" indent="-203200">
              <a:spcAft>
                <a:spcPts val="900"/>
              </a:spcAft>
              <a:buSzPct val="100000"/>
              <a:buChar char="•"/>
            </a:pPr>
            <a:r>
              <a:rPr lang="en-US" sz="1500" dirty="0">
                <a:solidFill>
                  <a:schemeClr val="tx1"/>
                </a:solidFill>
              </a:rPr>
              <a:t>Funciona sin WiFi y se regenera con un script al reentrenar</a:t>
            </a:r>
            <a:endParaRPr lang="en-US" sz="1500" dirty="0"/>
          </a:p>
        </p:txBody>
      </p:sp>
      <p:sp>
        <p:nvSpPr>
          <p:cNvPr id="9" name="Limitaciones"/>
          <p:cNvSpPr/>
          <p:nvPr/>
        </p:nvSpPr>
        <p:spPr>
          <a:xfrm>
            <a:off x="6245352" y="1645920"/>
            <a:ext cx="5394960" cy="3703320"/>
          </a:xfrm>
          <a:prstGeom prst="roundRect">
            <a:avLst>
              <a:gd name="adj" fmla="val 1975"/>
            </a:avLst>
          </a:prstGeom>
          <a:solidFill>
            <a:schemeClr val="accent3">
              <a:alpha val="10000"/>
            </a:schemeClr>
          </a:solidFill>
          <a:ln/>
        </p:spPr>
      </p:sp>
      <p:sp>
        <p:nvSpPr>
          <p:cNvPr id="10" name="Limitaciones círculo"/>
          <p:cNvSpPr/>
          <p:nvPr/>
        </p:nvSpPr>
        <p:spPr>
          <a:xfrm>
            <a:off x="6519672" y="1874520"/>
            <a:ext cx="566928" cy="566928"/>
          </a:xfrm>
          <a:prstGeom prst="ellipse">
            <a:avLst/>
          </a:prstGeom>
          <a:solidFill>
            <a:schemeClr val="accent3"/>
          </a:solidFill>
          <a:ln/>
        </p:spPr>
      </p:sp>
      <p:pic>
        <p:nvPicPr>
          <p:cNvPr id="11" name="Limitaciones icono" descr="preencoded.png">    </p:cNvPr>
          <p:cNvPicPr>
            <a:picLocks noChangeAspect="1"/>
          </p:cNvPicPr>
          <p:nvPr/>
        </p:nvPicPr>
        <p:blipFill>
          <a:blip r:embed="rId2"/>
          <a:stretch>
            <a:fillRect/>
          </a:stretch>
        </p:blipFill>
        <p:spPr>
          <a:xfrm>
            <a:off x="6655735" y="2010583"/>
            <a:ext cx="294803" cy="294803"/>
          </a:xfrm>
          <a:prstGeom prst="rect">
            <a:avLst/>
          </a:prstGeom>
        </p:spPr>
      </p:pic>
      <p:sp>
        <p:nvSpPr>
          <p:cNvPr id="12" name="Text 8"/>
          <p:cNvSpPr txBox="1"/>
          <p:nvPr/>
        </p:nvSpPr>
        <p:spPr>
          <a:xfrm>
            <a:off x="7251192" y="1874520"/>
            <a:ext cx="4114800" cy="566928"/>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Limitaciones</a:t>
            </a:r>
            <a:endParaRPr lang="en-US" sz="2200" dirty="0"/>
          </a:p>
        </p:txBody>
      </p:sp>
      <p:sp>
        <p:nvSpPr>
          <p:cNvPr id="13" name="Text 9"/>
          <p:cNvSpPr txBox="1"/>
          <p:nvPr/>
        </p:nvSpPr>
        <p:spPr>
          <a:xfrm>
            <a:off x="6519672" y="2651760"/>
            <a:ext cx="4892040" cy="26060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Rendimiento bajo e incierto: F1 0,282 ± 0,136 con 11 episodios</a:t>
            </a:r>
            <a:endParaRPr lang="en-US" sz="1500" dirty="0"/>
          </a:p>
          <a:p>
            <a:pPr marL="203200" indent="-203200">
              <a:spcAft>
                <a:spcPts val="900"/>
              </a:spcAft>
              <a:buSzPct val="100000"/>
              <a:buChar char="•"/>
            </a:pPr>
            <a:r>
              <a:rPr lang="en-US" sz="1500" dirty="0">
                <a:solidFill>
                  <a:schemeClr val="tx1"/>
                </a:solidFill>
              </a:rPr>
              <a:t>No identifica la marchitez de octubre</a:t>
            </a:r>
            <a:endParaRPr lang="en-US" sz="1500" dirty="0"/>
          </a:p>
          <a:p>
            <a:pPr marL="203200" indent="-203200">
              <a:spcAft>
                <a:spcPts val="900"/>
              </a:spcAft>
              <a:buSzPct val="100000"/>
              <a:buChar char="•"/>
            </a:pPr>
            <a:r>
              <a:rPr lang="en-US" sz="1500" dirty="0">
                <a:solidFill>
                  <a:schemeClr val="tx1"/>
                </a:solidFill>
              </a:rPr>
              <a:t>“Frío → marchita” se apoya en un solo episodio</a:t>
            </a:r>
            <a:endParaRPr lang="en-US" sz="1500" dirty="0"/>
          </a:p>
          <a:p>
            <a:pPr marL="203200" indent="-203200">
              <a:spcAft>
                <a:spcPts val="900"/>
              </a:spcAft>
              <a:buSzPct val="100000"/>
              <a:buChar char="•"/>
            </a:pPr>
            <a:r>
              <a:rPr lang="en-US" sz="1500" dirty="0">
                <a:solidFill>
                  <a:schemeClr val="tx1"/>
                </a:solidFill>
              </a:rPr>
              <a:t>El umbral de 1821 mV depende de la escala actual de la sonda, que sigue cambiando por corrosión</a:t>
            </a:r>
            <a:endParaRPr lang="en-US" sz="1500" dirty="0"/>
          </a:p>
          <a:p>
            <a:pPr marL="203200" indent="-203200">
              <a:spcAft>
                <a:spcPts val="900"/>
              </a:spcAft>
              <a:buSzPct val="100000"/>
              <a:buChar char="•"/>
            </a:pPr>
            <a:r>
              <a:rPr lang="en-US" sz="1500" dirty="0">
                <a:solidFill>
                  <a:schemeClr val="tx1"/>
                </a:solidFill>
              </a:rPr>
              <a:t>Luz y seguridad se decidieron post-hoc: las métricas pueden ser optimistas</a:t>
            </a:r>
            <a:endParaRPr lang="en-US" sz="1500" dirty="0"/>
          </a:p>
        </p:txBody>
      </p:sp>
      <p:sp>
        <p:nvSpPr>
          <p:cNvPr id="14" name="Síntesis"/>
          <p:cNvSpPr/>
          <p:nvPr/>
        </p:nvSpPr>
        <p:spPr>
          <a:xfrm>
            <a:off x="548640" y="5532120"/>
            <a:ext cx="11091672" cy="640080"/>
          </a:xfrm>
          <a:prstGeom prst="roundRect">
            <a:avLst>
              <a:gd name="adj" fmla="val 11429"/>
            </a:avLst>
          </a:prstGeom>
          <a:solidFill>
            <a:schemeClr val="tx2"/>
          </a:solidFill>
          <a:ln/>
        </p:spPr>
      </p:sp>
      <p:sp>
        <p:nvSpPr>
          <p:cNvPr id="15" name="Text 11"/>
          <p:cNvSpPr txBox="1"/>
          <p:nvPr/>
        </p:nvSpPr>
        <p:spPr>
          <a:xfrm>
            <a:off x="822960" y="5532120"/>
            <a:ext cx="10607040" cy="640080"/>
          </a:xfrm>
          <a:prstGeom prst="rect">
            <a:avLst/>
          </a:prstGeom>
          <a:noFill/>
          <a:ln/>
        </p:spPr>
        <p:txBody>
          <a:bodyPr wrap="square" lIns="0" tIns="0" rIns="0" bIns="0" rtlCol="0" anchor="ctr"/>
          <a:lstStyle/>
          <a:p>
            <a:pPr indent="0" marL="0">
              <a:buNone/>
            </a:pPr>
            <a:r>
              <a:rPr lang="en-US" sz="1700" b="1" dirty="0">
                <a:solidFill>
                  <a:schemeClr val="bg1"/>
                </a:solidFill>
              </a:rPr>
              <a:t>En síntesis: la ESP32 no es el límite; para mejorar hacen falta más episodios independientes.</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686800" cy="292608"/>
          </a:xfrm>
          <a:prstGeom prst="rect">
            <a:avLst/>
          </a:prstGeom>
          <a:noFill/>
          <a:ln/>
        </p:spPr>
        <p:txBody>
          <a:bodyPr wrap="square" lIns="0" tIns="0" rIns="0" bIns="0" rtlCol="0" anchor="ctr"/>
          <a:lstStyle/>
          <a:p>
            <a:pPr indent="0" marL="0">
              <a:buNone/>
            </a:pPr>
            <a:r>
              <a:rPr lang="en-US" sz="1200" b="1" spc="150" kern="0" dirty="0">
                <a:solidFill>
                  <a:schemeClr val="accent4"/>
                </a:solidFill>
              </a:rPr>
              <a:t>DISCUSIÓN · PRÓXIMA VERSIÓN</a:t>
            </a:r>
            <a:endParaRPr lang="en-US" sz="1200" dirty="0"/>
          </a:p>
        </p:txBody>
      </p:sp>
      <p:sp>
        <p:nvSpPr>
          <p:cNvPr id="3" name="Text 0"/>
          <p:cNvSpPr/>
          <p:nvPr>
            <p:ph idx="101" type="title" hasCustomPrompt="1"/>
          </p:nvPr>
        </p:nvSpPr>
        <p:spPr>
          <a:xfrm>
            <a:off x="548640" y="621792"/>
            <a:ext cx="10241280" cy="731520"/>
          </a:xfrm>
          <a:prstGeom prst="rect">
            <a:avLst/>
          </a:prstGeom>
          <a:noFill/>
          <a:ln/>
        </p:spPr>
        <p:txBody>
          <a:bodyPr wrap="square" lIns="0" tIns="0" rIns="0" bIns="0" rtlCol="0" anchor="ctr"/>
          <a:lstStyle/>
          <a:p>
            <a:pPr algn="l" indent="0" marL="0">
              <a:buNone/>
            </a:pPr>
            <a:r>
              <a:rPr lang="en-US" sz="3600" b="1" dirty="0">
                <a:solidFill>
                  <a:schemeClr val="tx2"/>
                </a:solidFill>
              </a:rPr>
              <a:t>Mejoras para la próxima versión</a:t>
            </a:r>
            <a:endParaRPr lang="en-US" sz="3600" dirty="0"/>
          </a:p>
        </p:txBody>
      </p:sp>
      <p:sp>
        <p:nvSpPr>
          <p:cNvPr id="4" name="Más episodios, mejor etiquetados"/>
          <p:cNvSpPr/>
          <p:nvPr/>
        </p:nvSpPr>
        <p:spPr>
          <a:xfrm>
            <a:off x="548640" y="1691640"/>
            <a:ext cx="5394960" cy="2011680"/>
          </a:xfrm>
          <a:prstGeom prst="roundRect">
            <a:avLst>
              <a:gd name="adj" fmla="val 3636"/>
            </a:avLst>
          </a:prstGeom>
          <a:solidFill>
            <a:schemeClr val="bg2"/>
          </a:solidFill>
          <a:ln/>
        </p:spPr>
      </p:sp>
      <p:sp>
        <p:nvSpPr>
          <p:cNvPr id="5" name="Más episodios, mejor etiquetados círculo"/>
          <p:cNvSpPr/>
          <p:nvPr/>
        </p:nvSpPr>
        <p:spPr>
          <a:xfrm>
            <a:off x="868680" y="2011680"/>
            <a:ext cx="731520" cy="731520"/>
          </a:xfrm>
          <a:prstGeom prst="ellipse">
            <a:avLst/>
          </a:prstGeom>
          <a:solidFill>
            <a:schemeClr val="tx2"/>
          </a:solidFill>
          <a:ln/>
        </p:spPr>
      </p:sp>
      <p:pic>
        <p:nvPicPr>
          <p:cNvPr id="6" name="Más episodios, mejor etiquetados icono"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7" name="Text 4"/>
          <p:cNvSpPr txBox="1"/>
          <p:nvPr/>
        </p:nvSpPr>
        <p:spPr>
          <a:xfrm>
            <a:off x="1874520" y="2011680"/>
            <a:ext cx="3840480" cy="457200"/>
          </a:xfrm>
          <a:prstGeom prst="rect">
            <a:avLst/>
          </a:prstGeom>
          <a:noFill/>
          <a:ln/>
        </p:spPr>
        <p:txBody>
          <a:bodyPr wrap="square" lIns="0" tIns="0" rIns="0" bIns="0" rtlCol="0" anchor="ctr"/>
          <a:lstStyle/>
          <a:p>
            <a:pPr indent="0" marL="0">
              <a:buNone/>
            </a:pPr>
            <a:r>
              <a:rPr lang="en-US" sz="2000" b="1" dirty="0">
                <a:solidFill>
                  <a:schemeClr val="tx2"/>
                </a:solidFill>
              </a:rPr>
              <a:t>Más episodios, mejor etiquetados</a:t>
            </a:r>
            <a:endParaRPr lang="en-US" sz="2000" dirty="0"/>
          </a:p>
        </p:txBody>
      </p:sp>
      <p:sp>
        <p:nvSpPr>
          <p:cNvPr id="8" name="Text 5"/>
          <p:cNvSpPr txBox="1"/>
          <p:nvPr/>
        </p:nvSpPr>
        <p:spPr>
          <a:xfrm>
            <a:off x="1874520" y="2532888"/>
            <a:ext cx="3840480" cy="1005840"/>
          </a:xfrm>
          <a:prstGeom prst="rect">
            <a:avLst/>
          </a:prstGeom>
          <a:noFill/>
          <a:ln/>
        </p:spPr>
        <p:txBody>
          <a:bodyPr wrap="square" lIns="0" tIns="0" rIns="0" bIns="0" rtlCol="0" anchor="t"/>
          <a:lstStyle/>
          <a:p>
            <a:pPr indent="0" marL="0">
              <a:buNone/>
            </a:pPr>
            <a:r>
              <a:rPr lang="en-US" sz="1600" dirty="0">
                <a:solidFill>
                  <a:schemeClr val="tx1"/>
                </a:solidFill>
              </a:rPr>
              <a:t>Más observaciones manuales de día y en distintos estados, apoyadas por fotos de la ESP32-CAM.</a:t>
            </a:r>
            <a:endParaRPr lang="en-US" sz="1600" dirty="0"/>
          </a:p>
        </p:txBody>
      </p:sp>
      <p:sp>
        <p:nvSpPr>
          <p:cNvPr id="9" name="Una sonda más estable"/>
          <p:cNvSpPr/>
          <p:nvPr/>
        </p:nvSpPr>
        <p:spPr>
          <a:xfrm>
            <a:off x="6245352" y="1691640"/>
            <a:ext cx="5394960" cy="2011680"/>
          </a:xfrm>
          <a:prstGeom prst="roundRect">
            <a:avLst>
              <a:gd name="adj" fmla="val 3636"/>
            </a:avLst>
          </a:prstGeom>
          <a:solidFill>
            <a:schemeClr val="bg2"/>
          </a:solidFill>
          <a:ln/>
        </p:spPr>
      </p:sp>
      <p:sp>
        <p:nvSpPr>
          <p:cNvPr id="10" name="Una sonda más estable círculo"/>
          <p:cNvSpPr/>
          <p:nvPr/>
        </p:nvSpPr>
        <p:spPr>
          <a:xfrm>
            <a:off x="6565392" y="2011680"/>
            <a:ext cx="731520" cy="731520"/>
          </a:xfrm>
          <a:prstGeom prst="ellipse">
            <a:avLst/>
          </a:prstGeom>
          <a:solidFill>
            <a:schemeClr val="tx2"/>
          </a:solidFill>
          <a:ln/>
        </p:spPr>
      </p:sp>
      <p:pic>
        <p:nvPicPr>
          <p:cNvPr id="11" name="Una sonda más estable icono" descr="preencoded.png">    </p:cNvPr>
          <p:cNvPicPr>
            <a:picLocks noChangeAspect="1"/>
          </p:cNvPicPr>
          <p:nvPr/>
        </p:nvPicPr>
        <p:blipFill>
          <a:blip r:embed="rId2"/>
          <a:stretch>
            <a:fillRect/>
          </a:stretch>
        </p:blipFill>
        <p:spPr>
          <a:xfrm>
            <a:off x="6740957" y="2187245"/>
            <a:ext cx="380390" cy="380390"/>
          </a:xfrm>
          <a:prstGeom prst="rect">
            <a:avLst/>
          </a:prstGeom>
        </p:spPr>
      </p:pic>
      <p:sp>
        <p:nvSpPr>
          <p:cNvPr id="12" name="Text 8"/>
          <p:cNvSpPr txBox="1"/>
          <p:nvPr/>
        </p:nvSpPr>
        <p:spPr>
          <a:xfrm>
            <a:off x="7571232" y="2011680"/>
            <a:ext cx="3840480" cy="457200"/>
          </a:xfrm>
          <a:prstGeom prst="rect">
            <a:avLst/>
          </a:prstGeom>
          <a:noFill/>
          <a:ln/>
        </p:spPr>
        <p:txBody>
          <a:bodyPr wrap="square" lIns="0" tIns="0" rIns="0" bIns="0" rtlCol="0" anchor="ctr"/>
          <a:lstStyle/>
          <a:p>
            <a:pPr indent="0" marL="0">
              <a:buNone/>
            </a:pPr>
            <a:r>
              <a:rPr lang="en-US" sz="2000" b="1" dirty="0">
                <a:solidFill>
                  <a:schemeClr val="tx2"/>
                </a:solidFill>
              </a:rPr>
              <a:t>Una sonda más estable</a:t>
            </a:r>
            <a:endParaRPr lang="en-US" sz="2000" dirty="0"/>
          </a:p>
        </p:txBody>
      </p:sp>
      <p:sp>
        <p:nvSpPr>
          <p:cNvPr id="13" name="Text 9"/>
          <p:cNvSpPr txBox="1"/>
          <p:nvPr/>
        </p:nvSpPr>
        <p:spPr>
          <a:xfrm>
            <a:off x="7571232" y="2532888"/>
            <a:ext cx="3840480" cy="1005840"/>
          </a:xfrm>
          <a:prstGeom prst="rect">
            <a:avLst/>
          </a:prstGeom>
          <a:noFill/>
          <a:ln/>
        </p:spPr>
        <p:txBody>
          <a:bodyPr wrap="square" lIns="0" tIns="0" rIns="0" bIns="0" rtlCol="0" anchor="t"/>
          <a:lstStyle/>
          <a:p>
            <a:pPr indent="0" marL="0">
              <a:buNone/>
            </a:pPr>
            <a:r>
              <a:rPr lang="en-US" sz="1600" dirty="0">
                <a:solidFill>
                  <a:schemeClr val="tx1"/>
                </a:solidFill>
              </a:rPr>
              <a:t>Calibración semanal o sonda capacitiva, para frenar la deriva por corrosión.</a:t>
            </a:r>
            <a:endParaRPr lang="en-US" sz="1600" dirty="0"/>
          </a:p>
        </p:txBody>
      </p:sp>
      <p:sp>
        <p:nvSpPr>
          <p:cNvPr id="14" name="Evaluación en línea"/>
          <p:cNvSpPr/>
          <p:nvPr/>
        </p:nvSpPr>
        <p:spPr>
          <a:xfrm>
            <a:off x="548640" y="3977640"/>
            <a:ext cx="5394960" cy="2011680"/>
          </a:xfrm>
          <a:prstGeom prst="roundRect">
            <a:avLst>
              <a:gd name="adj" fmla="val 3636"/>
            </a:avLst>
          </a:prstGeom>
          <a:solidFill>
            <a:schemeClr val="bg2"/>
          </a:solidFill>
          <a:ln/>
        </p:spPr>
      </p:sp>
      <p:sp>
        <p:nvSpPr>
          <p:cNvPr id="15" name="Evaluación en línea círculo"/>
          <p:cNvSpPr/>
          <p:nvPr/>
        </p:nvSpPr>
        <p:spPr>
          <a:xfrm>
            <a:off x="868680" y="4297680"/>
            <a:ext cx="731520" cy="731520"/>
          </a:xfrm>
          <a:prstGeom prst="ellipse">
            <a:avLst/>
          </a:prstGeom>
          <a:solidFill>
            <a:schemeClr val="tx2"/>
          </a:solidFill>
          <a:ln/>
        </p:spPr>
      </p:sp>
      <p:pic>
        <p:nvPicPr>
          <p:cNvPr id="16" name="Evaluación en línea icono" descr="preencoded.png">    </p:cNvPr>
          <p:cNvPicPr>
            <a:picLocks noChangeAspect="1"/>
          </p:cNvPicPr>
          <p:nvPr/>
        </p:nvPicPr>
        <p:blipFill>
          <a:blip r:embed="rId3"/>
          <a:stretch>
            <a:fillRect/>
          </a:stretch>
        </p:blipFill>
        <p:spPr>
          <a:xfrm>
            <a:off x="1044245" y="4473245"/>
            <a:ext cx="380390" cy="380390"/>
          </a:xfrm>
          <a:prstGeom prst="rect">
            <a:avLst/>
          </a:prstGeom>
        </p:spPr>
      </p:pic>
      <p:sp>
        <p:nvSpPr>
          <p:cNvPr id="17" name="Text 12"/>
          <p:cNvSpPr txBox="1"/>
          <p:nvPr/>
        </p:nvSpPr>
        <p:spPr>
          <a:xfrm>
            <a:off x="1874520" y="4297680"/>
            <a:ext cx="3840480" cy="457200"/>
          </a:xfrm>
          <a:prstGeom prst="rect">
            <a:avLst/>
          </a:prstGeom>
          <a:noFill/>
          <a:ln/>
        </p:spPr>
        <p:txBody>
          <a:bodyPr wrap="square" lIns="0" tIns="0" rIns="0" bIns="0" rtlCol="0" anchor="ctr"/>
          <a:lstStyle/>
          <a:p>
            <a:pPr indent="0" marL="0">
              <a:buNone/>
            </a:pPr>
            <a:r>
              <a:rPr lang="en-US" sz="2000" b="1" dirty="0">
                <a:solidFill>
                  <a:schemeClr val="tx2"/>
                </a:solidFill>
              </a:rPr>
              <a:t>Evaluación en línea</a:t>
            </a:r>
            <a:endParaRPr lang="en-US" sz="2000" dirty="0"/>
          </a:p>
        </p:txBody>
      </p:sp>
      <p:sp>
        <p:nvSpPr>
          <p:cNvPr id="18" name="Text 13"/>
          <p:cNvSpPr txBox="1"/>
          <p:nvPr/>
        </p:nvSpPr>
        <p:spPr>
          <a:xfrm>
            <a:off x="1874520" y="4818888"/>
            <a:ext cx="3840480" cy="1005840"/>
          </a:xfrm>
          <a:prstGeom prst="rect">
            <a:avLst/>
          </a:prstGeom>
          <a:noFill/>
          <a:ln/>
        </p:spPr>
        <p:txBody>
          <a:bodyPr wrap="square" lIns="0" tIns="0" rIns="0" bIns="0" rtlCol="0" anchor="t"/>
          <a:lstStyle/>
          <a:p>
            <a:pPr indent="0" marL="0">
              <a:buNone/>
            </a:pPr>
            <a:r>
              <a:rPr lang="en-US" sz="1600" dirty="0">
                <a:solidFill>
                  <a:schemeClr val="tx1"/>
                </a:solidFill>
              </a:rPr>
              <a:t>Guardar las predicciones en el backend para medir el modelo con datos nuevos.</a:t>
            </a:r>
            <a:endParaRPr lang="en-US" sz="1600" dirty="0"/>
          </a:p>
        </p:txBody>
      </p:sp>
      <p:sp>
        <p:nvSpPr>
          <p:cNvPr id="19" name="Medir en la propia placa"/>
          <p:cNvSpPr/>
          <p:nvPr/>
        </p:nvSpPr>
        <p:spPr>
          <a:xfrm>
            <a:off x="6245352" y="3977640"/>
            <a:ext cx="5394960" cy="2011680"/>
          </a:xfrm>
          <a:prstGeom prst="roundRect">
            <a:avLst>
              <a:gd name="adj" fmla="val 3636"/>
            </a:avLst>
          </a:prstGeom>
          <a:solidFill>
            <a:schemeClr val="bg2"/>
          </a:solidFill>
          <a:ln/>
        </p:spPr>
      </p:sp>
      <p:sp>
        <p:nvSpPr>
          <p:cNvPr id="20" name="Medir en la propia placa círculo"/>
          <p:cNvSpPr/>
          <p:nvPr/>
        </p:nvSpPr>
        <p:spPr>
          <a:xfrm>
            <a:off x="6565392" y="4297680"/>
            <a:ext cx="731520" cy="731520"/>
          </a:xfrm>
          <a:prstGeom prst="ellipse">
            <a:avLst/>
          </a:prstGeom>
          <a:solidFill>
            <a:schemeClr val="tx2"/>
          </a:solidFill>
          <a:ln/>
        </p:spPr>
      </p:sp>
      <p:pic>
        <p:nvPicPr>
          <p:cNvPr id="21" name="Medir en la propia placa icono" descr="preencoded.png">    </p:cNvPr>
          <p:cNvPicPr>
            <a:picLocks noChangeAspect="1"/>
          </p:cNvPicPr>
          <p:nvPr/>
        </p:nvPicPr>
        <p:blipFill>
          <a:blip r:embed="rId4"/>
          <a:stretch>
            <a:fillRect/>
          </a:stretch>
        </p:blipFill>
        <p:spPr>
          <a:xfrm>
            <a:off x="6740957" y="4473245"/>
            <a:ext cx="380390" cy="380390"/>
          </a:xfrm>
          <a:prstGeom prst="rect">
            <a:avLst/>
          </a:prstGeom>
        </p:spPr>
      </p:pic>
      <p:sp>
        <p:nvSpPr>
          <p:cNvPr id="22" name="Text 16"/>
          <p:cNvSpPr txBox="1"/>
          <p:nvPr/>
        </p:nvSpPr>
        <p:spPr>
          <a:xfrm>
            <a:off x="7571232" y="4297680"/>
            <a:ext cx="3840480" cy="457200"/>
          </a:xfrm>
          <a:prstGeom prst="rect">
            <a:avLst/>
          </a:prstGeom>
          <a:noFill/>
          <a:ln/>
        </p:spPr>
        <p:txBody>
          <a:bodyPr wrap="square" lIns="0" tIns="0" rIns="0" bIns="0" rtlCol="0" anchor="ctr"/>
          <a:lstStyle/>
          <a:p>
            <a:pPr indent="0" marL="0">
              <a:buNone/>
            </a:pPr>
            <a:r>
              <a:rPr lang="en-US" sz="2000" b="1" dirty="0">
                <a:solidFill>
                  <a:schemeClr val="tx2"/>
                </a:solidFill>
              </a:rPr>
              <a:t>Medir en la propia placa</a:t>
            </a:r>
            <a:endParaRPr lang="en-US" sz="2000" dirty="0"/>
          </a:p>
        </p:txBody>
      </p:sp>
      <p:sp>
        <p:nvSpPr>
          <p:cNvPr id="23" name="Text 17"/>
          <p:cNvSpPr txBox="1"/>
          <p:nvPr/>
        </p:nvSpPr>
        <p:spPr>
          <a:xfrm>
            <a:off x="7571232" y="4818888"/>
            <a:ext cx="3840480" cy="1005840"/>
          </a:xfrm>
          <a:prstGeom prst="rect">
            <a:avLst/>
          </a:prstGeom>
          <a:noFill/>
          <a:ln/>
        </p:spPr>
        <p:txBody>
          <a:bodyPr wrap="square" lIns="0" tIns="0" rIns="0" bIns="0" rtlCol="0" anchor="t"/>
          <a:lstStyle/>
          <a:p>
            <a:pPr indent="0" marL="0">
              <a:buNone/>
            </a:pPr>
            <a:r>
              <a:rPr lang="en-US" sz="1600" dirty="0">
                <a:solidFill>
                  <a:schemeClr val="tx1"/>
                </a:solidFill>
              </a:rPr>
              <a:t>Latencia de inferencia medida en la ESP32, no sólo en el host.</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7A6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058400" cy="868680"/>
          </a:xfrm>
          <a:prstGeom prst="rect">
            <a:avLst/>
          </a:prstGeom>
          <a:noFill/>
          <a:ln/>
        </p:spPr>
        <p:txBody>
          <a:bodyPr wrap="square" lIns="0" tIns="0" rIns="0" bIns="0" rtlCol="0" anchor="ctr"/>
          <a:lstStyle/>
          <a:p>
            <a:pPr algn="l" indent="0" marL="0">
              <a:buNone/>
            </a:pPr>
            <a:r>
              <a:rPr lang="en-US" sz="4000" b="1" dirty="0">
                <a:solidFill>
                  <a:schemeClr val="bg1"/>
                </a:solidFill>
              </a:rPr>
              <a:t>Conclusiones</a:t>
            </a:r>
            <a:endParaRPr lang="en-US" sz="4000" dirty="0"/>
          </a:p>
        </p:txBody>
      </p:sp>
      <p:sp>
        <p:nvSpPr>
          <p:cNvPr id="3" name="Conclusión 1 halo"/>
          <p:cNvSpPr/>
          <p:nvPr/>
        </p:nvSpPr>
        <p:spPr>
          <a:xfrm>
            <a:off x="743590" y="1813438"/>
            <a:ext cx="725668" cy="725668"/>
          </a:xfrm>
          <a:prstGeom prst="ellipse">
            <a:avLst/>
          </a:prstGeom>
          <a:solidFill>
            <a:schemeClr val="accent1">
              <a:alpha val="28000"/>
            </a:schemeClr>
          </a:solidFill>
          <a:ln/>
        </p:spPr>
      </p:sp>
      <p:sp>
        <p:nvSpPr>
          <p:cNvPr id="4" name="Conclusión 1"/>
          <p:cNvSpPr txBox="1"/>
          <p:nvPr/>
        </p:nvSpPr>
        <p:spPr>
          <a:xfrm>
            <a:off x="822960" y="1892808"/>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737360" y="1783080"/>
            <a:ext cx="9509760" cy="786384"/>
          </a:xfrm>
          <a:prstGeom prst="rect">
            <a:avLst/>
          </a:prstGeom>
          <a:noFill/>
          <a:ln/>
        </p:spPr>
        <p:txBody>
          <a:bodyPr wrap="square" lIns="0" tIns="0" rIns="0" bIns="0" rtlCol="0" anchor="ctr"/>
          <a:lstStyle/>
          <a:p>
            <a:pPr indent="0" marL="0">
              <a:buNone/>
            </a:pPr>
            <a:r>
              <a:rPr lang="en-US" sz="2200" dirty="0">
                <a:solidFill>
                  <a:schemeClr val="bg1"/>
                </a:solidFill>
              </a:rPr>
              <a:t>Sistema completo de sensores a LED: la ESP32 predice localmente cada 5 minutos, sin depender del WiFi.</a:t>
            </a:r>
            <a:endParaRPr lang="en-US" sz="2200" dirty="0"/>
          </a:p>
        </p:txBody>
      </p:sp>
      <p:sp>
        <p:nvSpPr>
          <p:cNvPr id="6" name="Conclusión 2 halo"/>
          <p:cNvSpPr/>
          <p:nvPr/>
        </p:nvSpPr>
        <p:spPr>
          <a:xfrm>
            <a:off x="743590" y="3002158"/>
            <a:ext cx="725668" cy="725668"/>
          </a:xfrm>
          <a:prstGeom prst="ellipse">
            <a:avLst/>
          </a:prstGeom>
          <a:solidFill>
            <a:schemeClr val="accent2">
              <a:alpha val="28000"/>
            </a:schemeClr>
          </a:solidFill>
          <a:ln/>
        </p:spPr>
      </p:sp>
      <p:sp>
        <p:nvSpPr>
          <p:cNvPr id="7" name="Conclusión 2"/>
          <p:cNvSpPr txBox="1"/>
          <p:nvPr/>
        </p:nvSpPr>
        <p:spPr>
          <a:xfrm>
            <a:off x="822960" y="3081528"/>
            <a:ext cx="566928" cy="566928"/>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737360" y="2971800"/>
            <a:ext cx="9509760" cy="786384"/>
          </a:xfrm>
          <a:prstGeom prst="rect">
            <a:avLst/>
          </a:prstGeom>
          <a:noFill/>
          <a:ln/>
        </p:spPr>
        <p:txBody>
          <a:bodyPr wrap="square" lIns="0" tIns="0" rIns="0" bIns="0" rtlCol="0" anchor="ctr"/>
          <a:lstStyle/>
          <a:p>
            <a:pPr indent="0" marL="0">
              <a:buNone/>
            </a:pPr>
            <a:r>
              <a:rPr lang="en-US" sz="2200" dirty="0">
                <a:solidFill>
                  <a:schemeClr val="bg1"/>
                </a:solidFill>
              </a:rPr>
              <a:t>1.357 filas no son 1.357 ejemplos: separar por episodio bajó el Random Forest de 0,943 a 0,135.</a:t>
            </a:r>
            <a:endParaRPr lang="en-US" sz="2200" dirty="0"/>
          </a:p>
        </p:txBody>
      </p:sp>
      <p:sp>
        <p:nvSpPr>
          <p:cNvPr id="9" name="Conclusión 3 halo"/>
          <p:cNvSpPr/>
          <p:nvPr/>
        </p:nvSpPr>
        <p:spPr>
          <a:xfrm>
            <a:off x="743590" y="4190878"/>
            <a:ext cx="725668" cy="725668"/>
          </a:xfrm>
          <a:prstGeom prst="ellipse">
            <a:avLst/>
          </a:prstGeom>
          <a:solidFill>
            <a:schemeClr val="accent3">
              <a:alpha val="28000"/>
            </a:schemeClr>
          </a:solidFill>
          <a:ln/>
        </p:spPr>
      </p:sp>
      <p:sp>
        <p:nvSpPr>
          <p:cNvPr id="10" name="Conclusión 3"/>
          <p:cNvSpPr txBox="1"/>
          <p:nvPr/>
        </p:nvSpPr>
        <p:spPr>
          <a:xfrm>
            <a:off x="822960" y="4270248"/>
            <a:ext cx="566928" cy="566928"/>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737360" y="4160520"/>
            <a:ext cx="9509760" cy="786384"/>
          </a:xfrm>
          <a:prstGeom prst="rect">
            <a:avLst/>
          </a:prstGeom>
          <a:noFill/>
          <a:ln/>
        </p:spPr>
        <p:txBody>
          <a:bodyPr wrap="square" lIns="0" tIns="0" rIns="0" bIns="0" rtlCol="0" anchor="ctr"/>
          <a:lstStyle/>
          <a:p>
            <a:pPr indent="0" marL="0">
              <a:buNone/>
            </a:pPr>
            <a:r>
              <a:rPr lang="en-US" sz="2200" dirty="0">
                <a:solidFill>
                  <a:schemeClr val="bg1"/>
                </a:solidFill>
              </a:rPr>
              <a:t>Árbol de 81 B, interpretable y sin luz: hoy el límite son los datos, no el hardware.</a:t>
            </a:r>
            <a:endParaRPr lang="en-US" sz="2200" dirty="0"/>
          </a:p>
        </p:txBody>
      </p:sp>
      <p:sp>
        <p:nvSpPr>
          <p:cNvPr id="12" name="Text 10"/>
          <p:cNvSpPr txBox="1"/>
          <p:nvPr/>
        </p:nvSpPr>
        <p:spPr>
          <a:xfrm>
            <a:off x="731520" y="5486400"/>
            <a:ext cx="10698480" cy="640080"/>
          </a:xfrm>
          <a:prstGeom prst="rect">
            <a:avLst/>
          </a:prstGeom>
          <a:noFill/>
          <a:ln/>
        </p:spPr>
        <p:txBody>
          <a:bodyPr wrap="square" lIns="0" tIns="0" rIns="0" bIns="0" rtlCol="0" anchor="ctr"/>
          <a:lstStyle/>
          <a:p>
            <a:pPr indent="0" marL="0">
              <a:buNone/>
            </a:pPr>
            <a:r>
              <a:rPr lang="en-US" sz="3000" b="1" dirty="0">
                <a:solidFill>
                  <a:schemeClr val="bg2"/>
                </a:solidFill>
                <a:latin typeface="Cambria" pitchFamily="34" charset="0"/>
                <a:ea typeface="Cambria" pitchFamily="34" charset="-122"/>
                <a:cs typeface="Cambria" pitchFamily="34" charset="-120"/>
              </a:rPr>
              <a:t>¡Gracias! ¿Preguntas?</a:t>
            </a:r>
            <a:endParaRPr lang="en-US" sz="3000" dirty="0"/>
          </a:p>
        </p:txBody>
      </p:sp>
    </p:spTree>
  </p:cSld>
  <p:clrMapOvr>
    <a:masterClrMapping/>
  </p:clrMapOvr>
</p:sld>
</file>

<file path=ppt/theme/theme1.xml><?xml version="1.0" encoding="utf-8"?>
<a:theme xmlns:a="http://schemas.openxmlformats.org/drawingml/2006/main" name="PlantaIa">
  <a:themeElements>
    <a:clrScheme name="PlantaIa">
      <a:dk1>
        <a:srgbClr val="1A2620"/>
      </a:dk1>
      <a:lt1>
        <a:srgbClr val="FFFFFF"/>
      </a:lt1>
      <a:dk2>
        <a:srgbClr val="17402E"/>
      </a:dk2>
      <a:lt2>
        <a:srgbClr val="EEF4F0"/>
      </a:lt2>
      <a:accent1>
        <a:srgbClr val="2E8B57"/>
      </a:accent1>
      <a:accent2>
        <a:srgbClr val="D99A12"/>
      </a:accent2>
      <a:accent3>
        <a:srgbClr val="C0392B"/>
      </a:accent3>
      <a:accent4>
        <a:srgbClr val="0E6B5C"/>
      </a:accent4>
      <a:accent5>
        <a:srgbClr val="5F7A6D"/>
      </a:accent5>
      <a:accent6>
        <a:srgbClr val="C9D6CF"/>
      </a:accent6>
      <a:hlink>
        <a:srgbClr val="0E6B5C"/>
      </a:hlink>
      <a:folHlink>
        <a:srgbClr val="5F7A6D"/>
      </a:folHlink>
    </a:clrScheme>
    <a:fontScheme name="Planta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Universidad de Montevideo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PlantaIa — Tarea 2: clasificador del estado de la planta en la ESP32</dc:title>
  <dc:subject>Curso de Inteligencia Artificial — Defensa Tarea 2</dc:subject>
  <dc:creator>Manuel Pérez, Guillermo Storace, Phillip Bowles</dc:creator>
  <cp:lastModifiedBy>Manuel Pérez, Guillermo Storace, Phillip Bowles</cp:lastModifiedBy>
  <cp:revision>1</cp:revision>
  <dcterms:created xsi:type="dcterms:W3CDTF">2026-10-22T20:21:36Z</dcterms:created>
  <dcterms:modified xsi:type="dcterms:W3CDTF">2026-10-22T20:21:36Z</dcterms:modified>
</cp:coreProperties>
</file>